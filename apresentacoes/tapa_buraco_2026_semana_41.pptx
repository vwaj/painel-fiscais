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</c:v>
                </c:pt>
              </c:strCache>
            </c:strRef>
          </c:tx>
          <c:spPr>
            <a:solidFill>
              <a:srgbClr val="0A7BEA"/>
            </a:solidFill>
          </c:spPr>
          <c:dPt>
            <c:idx val="11"/>
            <c:spPr>
              <a:solidFill>
                <a:srgbClr val="0F2F86"/>
              </a:solidFill>
            </c:spPr>
          </c:dPt>
          <c:cat>
            <c:strRef>
              <c:f>Sheet1!$A$2:$A$13</c:f>
              <c:strCache>
                <c:ptCount val="12"/>
                <c:pt idx="0">
                  <c:v>S30
22/07</c:v>
                </c:pt>
                <c:pt idx="1">
                  <c:v>S31
29/07</c:v>
                </c:pt>
                <c:pt idx="2">
                  <c:v>S32
05/08</c:v>
                </c:pt>
                <c:pt idx="3">
                  <c:v>S33
12/08</c:v>
                </c:pt>
                <c:pt idx="4">
                  <c:v>S34
19/08</c:v>
                </c:pt>
                <c:pt idx="5">
                  <c:v>S35
26/08</c:v>
                </c:pt>
                <c:pt idx="6">
                  <c:v>S36
02/09</c:v>
                </c:pt>
                <c:pt idx="7">
                  <c:v>S37
09/09</c:v>
                </c:pt>
                <c:pt idx="8">
                  <c:v>S38
16/09</c:v>
                </c:pt>
                <c:pt idx="9">
                  <c:v>S39
23/09</c:v>
                </c:pt>
                <c:pt idx="10">
                  <c:v>S40
30/09</c:v>
                </c:pt>
                <c:pt idx="11">
                  <c:v>S41
07/10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469</c:v>
                </c:pt>
                <c:pt idx="1">
                  <c:v>423</c:v>
                </c:pt>
                <c:pt idx="2">
                  <c:v>513</c:v>
                </c:pt>
                <c:pt idx="3">
                  <c:v>368</c:v>
                </c:pt>
                <c:pt idx="4">
                  <c:v>534</c:v>
                </c:pt>
                <c:pt idx="5">
                  <c:v>522</c:v>
                </c:pt>
                <c:pt idx="6">
                  <c:v>338</c:v>
                </c:pt>
                <c:pt idx="7">
                  <c:v>492</c:v>
                </c:pt>
                <c:pt idx="8">
                  <c:v>390</c:v>
                </c:pt>
                <c:pt idx="9">
                  <c:v>320</c:v>
                </c:pt>
                <c:pt idx="10">
                  <c:v>426</c:v>
                </c:pt>
                <c:pt idx="11">
                  <c:v>359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Não tapados (saldo)</c:v>
                </c:pt>
              </c:strCache>
            </c:strRef>
          </c:tx>
          <c:spPr>
            <a:solidFill>
              <a:srgbClr val="FFC20E"/>
            </a:solidFill>
          </c:spPr>
          <c:dLbls>
            <c:numFmt formatCode="#,##0;;&quot;&quot;" sourceLinked="0"/>
            <c:txPr>
              <a:bodyPr/>
              <a:lstStyle/>
              <a:p>
                <a:pPr>
                  <a:defRPr sz="1200" b="1">
                    <a:solidFill>
                      <a:srgbClr val="16233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S30
22/07</c:v>
                </c:pt>
                <c:pt idx="1">
                  <c:v>S31
29/07</c:v>
                </c:pt>
                <c:pt idx="2">
                  <c:v>S32
05/08</c:v>
                </c:pt>
                <c:pt idx="3">
                  <c:v>S33
12/08</c:v>
                </c:pt>
                <c:pt idx="4">
                  <c:v>S34
19/08</c:v>
                </c:pt>
                <c:pt idx="5">
                  <c:v>S35
26/08</c:v>
                </c:pt>
                <c:pt idx="6">
                  <c:v>S36
02/09</c:v>
                </c:pt>
                <c:pt idx="7">
                  <c:v>S37
09/09</c:v>
                </c:pt>
                <c:pt idx="8">
                  <c:v>S38
16/09</c:v>
                </c:pt>
                <c:pt idx="9">
                  <c:v>S39
23/09</c:v>
                </c:pt>
                <c:pt idx="10">
                  <c:v>S40
30/09</c:v>
                </c:pt>
                <c:pt idx="11">
                  <c:v>S41
07/10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191</c:v>
                </c:pt>
                <c:pt idx="1">
                  <c:v>175</c:v>
                </c:pt>
                <c:pt idx="2">
                  <c:v>140</c:v>
                </c:pt>
                <c:pt idx="3">
                  <c:v>166</c:v>
                </c:pt>
                <c:pt idx="4">
                  <c:v>102</c:v>
                </c:pt>
                <c:pt idx="5">
                  <c:v>98</c:v>
                </c:pt>
                <c:pt idx="6">
                  <c:v>170</c:v>
                </c:pt>
                <c:pt idx="7">
                  <c:v>111</c:v>
                </c:pt>
                <c:pt idx="8">
                  <c:v>162</c:v>
                </c:pt>
                <c:pt idx="9">
                  <c:v>160</c:v>
                </c:pt>
                <c:pt idx="10">
                  <c:v>171</c:v>
                </c:pt>
                <c:pt idx="11">
                  <c:v>158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6233F"/>
                </a:solidFill>
              </a:rPr>
              <a:t>Chuva por semana (mm)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Chuva (mm)</c:v>
                </c:pt>
              </c:strCache>
            </c:strRef>
          </c:tx>
          <c:spPr>
            <a:solidFill>
              <a:srgbClr val="5FA3F0"/>
            </a:solidFill>
          </c:spPr>
          <c:cat>
            <c:strRef>
              <c:f>Sheet1!$A$2:$A$13</c:f>
              <c:strCache>
                <c:ptCount val="12"/>
                <c:pt idx="0">
                  <c:v>S30</c:v>
                </c:pt>
                <c:pt idx="1">
                  <c:v>S31</c:v>
                </c:pt>
                <c:pt idx="2">
                  <c:v>S32</c:v>
                </c:pt>
                <c:pt idx="3">
                  <c:v>S33</c:v>
                </c:pt>
                <c:pt idx="4">
                  <c:v>S34</c:v>
                </c:pt>
                <c:pt idx="5">
                  <c:v>S35</c:v>
                </c:pt>
                <c:pt idx="6">
                  <c:v>S36</c:v>
                </c:pt>
                <c:pt idx="7">
                  <c:v>S37</c:v>
                </c:pt>
                <c:pt idx="8">
                  <c:v>S38</c:v>
                </c:pt>
                <c:pt idx="9">
                  <c:v>S39</c:v>
                </c:pt>
                <c:pt idx="10">
                  <c:v>S40</c:v>
                </c:pt>
                <c:pt idx="11">
                  <c:v>S41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82.12</c:v>
                </c:pt>
                <c:pt idx="1">
                  <c:v>85.28</c:v>
                </c:pt>
                <c:pt idx="2">
                  <c:v>23.11</c:v>
                </c:pt>
                <c:pt idx="3">
                  <c:v>56.72</c:v>
                </c:pt>
                <c:pt idx="4">
                  <c:v>15.59</c:v>
                </c:pt>
                <c:pt idx="5">
                  <c:v>32.74</c:v>
                </c:pt>
                <c:pt idx="6">
                  <c:v>37.84</c:v>
                </c:pt>
                <c:pt idx="7">
                  <c:v>18.55</c:v>
                </c:pt>
                <c:pt idx="8">
                  <c:v>12.46</c:v>
                </c:pt>
                <c:pt idx="9">
                  <c:v>18.36</c:v>
                </c:pt>
                <c:pt idx="10">
                  <c:v>21.91</c:v>
                </c:pt>
                <c:pt idx="11">
                  <c:v>2.38</c:v>
                </c:pt>
              </c:numCache>
            </c:numRef>
          </c:val>
        </c:ser>
        <c:dLbls>
          <c:numFmt formatCode="0;;&quot;&quot;" sourceLinked="0"/>
          <c:txPr>
            <a:bodyPr/>
            <a:lstStyle/>
            <a:p>
              <a:pPr>
                <a:defRPr sz="1000" b="1">
                  <a:solidFill>
                    <a:srgbClr val="0F2F8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1">
                <a:solidFill>
                  <a:srgbClr val="16233F"/>
                </a:solidFill>
              </a:rPr>
              <a:t>Tapados até a semana 41, ano a ano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Tapados até a semana</c:v>
                </c:pt>
              </c:strCache>
            </c:strRef>
          </c:tx>
          <c:spPr>
            <a:solidFill>
              <a:srgbClr val="9CC6F7"/>
            </a:solidFill>
          </c:spPr>
          <c:dPt>
            <c:idx val="5"/>
            <c:spPr>
              <a:solidFill>
                <a:srgbClr val="0A7BEA"/>
              </a:solidFill>
            </c:spPr>
          </c:dPt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20190</c:v>
                </c:pt>
                <c:pt idx="1">
                  <c:v>16501</c:v>
                </c:pt>
                <c:pt idx="2">
                  <c:v>17122</c:v>
                </c:pt>
                <c:pt idx="3">
                  <c:v>17576</c:v>
                </c:pt>
                <c:pt idx="4">
                  <c:v>16446</c:v>
                </c:pt>
                <c:pt idx="5">
                  <c:v>16162</c:v>
                </c:pt>
              </c:numCache>
            </c:numRef>
          </c:val>
        </c:ser>
        <c:dLbls>
          <c:numFmt formatCode="#,##0;;&quot;&quot;" sourceLinked="0"/>
          <c:txPr>
            <a:bodyPr/>
            <a:lstStyle/>
            <a:p>
              <a:pPr>
                <a:defRPr sz="1100" b="1">
                  <a:solidFill>
                    <a:srgbClr val="16233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34925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Sheet1!$A$2:$A$42</c:f>
              <c:strCache>
                <c:ptCount val="41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184</c:v>
                </c:pt>
                <c:pt idx="1">
                  <c:v>347</c:v>
                </c:pt>
                <c:pt idx="2">
                  <c:v>385</c:v>
                </c:pt>
                <c:pt idx="3">
                  <c:v>389</c:v>
                </c:pt>
                <c:pt idx="4">
                  <c:v>382</c:v>
                </c:pt>
                <c:pt idx="5">
                  <c:v>308</c:v>
                </c:pt>
                <c:pt idx="6">
                  <c:v>139</c:v>
                </c:pt>
                <c:pt idx="7">
                  <c:v>347</c:v>
                </c:pt>
                <c:pt idx="8">
                  <c:v>402</c:v>
                </c:pt>
                <c:pt idx="9">
                  <c:v>269</c:v>
                </c:pt>
                <c:pt idx="10">
                  <c:v>398</c:v>
                </c:pt>
                <c:pt idx="11">
                  <c:v>347</c:v>
                </c:pt>
                <c:pt idx="12">
                  <c:v>257</c:v>
                </c:pt>
                <c:pt idx="13">
                  <c:v>96</c:v>
                </c:pt>
                <c:pt idx="14">
                  <c:v>365</c:v>
                </c:pt>
                <c:pt idx="15">
                  <c:v>393</c:v>
                </c:pt>
                <c:pt idx="16">
                  <c:v>447</c:v>
                </c:pt>
                <c:pt idx="17">
                  <c:v>195</c:v>
                </c:pt>
                <c:pt idx="18">
                  <c:v>284</c:v>
                </c:pt>
                <c:pt idx="19">
                  <c:v>484</c:v>
                </c:pt>
                <c:pt idx="20">
                  <c:v>471</c:v>
                </c:pt>
                <c:pt idx="21">
                  <c:v>474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366</c:v>
                </c:pt>
                <c:pt idx="29">
                  <c:v>469</c:v>
                </c:pt>
                <c:pt idx="30">
                  <c:v>423</c:v>
                </c:pt>
                <c:pt idx="31">
                  <c:v>513</c:v>
                </c:pt>
                <c:pt idx="32">
                  <c:v>368</c:v>
                </c:pt>
                <c:pt idx="33">
                  <c:v>534</c:v>
                </c:pt>
                <c:pt idx="34">
                  <c:v>522</c:v>
                </c:pt>
                <c:pt idx="35">
                  <c:v>338</c:v>
                </c:pt>
                <c:pt idx="36">
                  <c:v>492</c:v>
                </c:pt>
                <c:pt idx="37">
                  <c:v>390</c:v>
                </c:pt>
                <c:pt idx="38">
                  <c:v>320</c:v>
                </c:pt>
                <c:pt idx="39">
                  <c:v>426</c:v>
                </c:pt>
                <c:pt idx="40">
                  <c:v>359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ln w="22225">
              <a:solidFill>
                <a:srgbClr val="A9B8CC"/>
              </a:solidFill>
            </a:ln>
          </c:spPr>
          <c:marker>
            <c:symbol val="none"/>
          </c:marker>
          <c:cat>
            <c:strRef>
              <c:f>Sheet1!$A$2:$A$42</c:f>
              <c:strCache>
                <c:ptCount val="41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232</c:v>
                </c:pt>
                <c:pt idx="1">
                  <c:v>180</c:v>
                </c:pt>
                <c:pt idx="2">
                  <c:v>267</c:v>
                </c:pt>
                <c:pt idx="3">
                  <c:v>236</c:v>
                </c:pt>
                <c:pt idx="4">
                  <c:v>202</c:v>
                </c:pt>
                <c:pt idx="5">
                  <c:v>285</c:v>
                </c:pt>
                <c:pt idx="6">
                  <c:v>339</c:v>
                </c:pt>
                <c:pt idx="7">
                  <c:v>382</c:v>
                </c:pt>
                <c:pt idx="8">
                  <c:v>564</c:v>
                </c:pt>
                <c:pt idx="10">
                  <c:v>326</c:v>
                </c:pt>
                <c:pt idx="11">
                  <c:v>325</c:v>
                </c:pt>
                <c:pt idx="12">
                  <c:v>284</c:v>
                </c:pt>
                <c:pt idx="13">
                  <c:v>321</c:v>
                </c:pt>
                <c:pt idx="14">
                  <c:v>285</c:v>
                </c:pt>
                <c:pt idx="15">
                  <c:v>393</c:v>
                </c:pt>
                <c:pt idx="16">
                  <c:v>243</c:v>
                </c:pt>
                <c:pt idx="17">
                  <c:v>301</c:v>
                </c:pt>
                <c:pt idx="18">
                  <c:v>284</c:v>
                </c:pt>
                <c:pt idx="19">
                  <c:v>115</c:v>
                </c:pt>
                <c:pt idx="20">
                  <c:v>471</c:v>
                </c:pt>
                <c:pt idx="21">
                  <c:v>487</c:v>
                </c:pt>
                <c:pt idx="22">
                  <c:v>414</c:v>
                </c:pt>
                <c:pt idx="23">
                  <c:v>663</c:v>
                </c:pt>
                <c:pt idx="24">
                  <c:v>411</c:v>
                </c:pt>
                <c:pt idx="25">
                  <c:v>303</c:v>
                </c:pt>
                <c:pt idx="26">
                  <c:v>757</c:v>
                </c:pt>
                <c:pt idx="27">
                  <c:v>731</c:v>
                </c:pt>
                <c:pt idx="28">
                  <c:v>527</c:v>
                </c:pt>
                <c:pt idx="29">
                  <c:v>469</c:v>
                </c:pt>
                <c:pt idx="30">
                  <c:v>423</c:v>
                </c:pt>
                <c:pt idx="31">
                  <c:v>522</c:v>
                </c:pt>
                <c:pt idx="32">
                  <c:v>397</c:v>
                </c:pt>
                <c:pt idx="33">
                  <c:v>534</c:v>
                </c:pt>
                <c:pt idx="34">
                  <c:v>552</c:v>
                </c:pt>
                <c:pt idx="35">
                  <c:v>456</c:v>
                </c:pt>
                <c:pt idx="36">
                  <c:v>670</c:v>
                </c:pt>
                <c:pt idx="37">
                  <c:v>528</c:v>
                </c:pt>
                <c:pt idx="38">
                  <c:v>548</c:v>
                </c:pt>
                <c:pt idx="39">
                  <c:v>452</c:v>
                </c:pt>
                <c:pt idx="40">
                  <c:v>567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16233F"/>
                </a:solidFill>
              </a:rPr>
              <a:t>Demandas em aberto por RPA</a:t>
            </a:r>
          </a:p>
        </c:rich>
      </c:tx>
      <c:layout/>
      <c:overlay val="0"/>
    </c:title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dPt>
            <c:idx val="0"/>
            <c:spPr>
              <a:solidFill>
                <a:srgbClr val="0A7BEA"/>
              </a:solidFill>
            </c:spPr>
          </c:dPt>
          <c:dPt>
            <c:idx val="1"/>
            <c:spPr>
              <a:solidFill>
                <a:srgbClr val="12A4B6"/>
              </a:solidFill>
            </c:spPr>
          </c:dPt>
          <c:dPt>
            <c:idx val="2"/>
            <c:spPr>
              <a:solidFill>
                <a:srgbClr val="17A35B"/>
              </a:solidFill>
            </c:spPr>
          </c:dPt>
          <c:dPt>
            <c:idx val="3"/>
            <c:spPr>
              <a:solidFill>
                <a:srgbClr val="F2A900"/>
              </a:solidFill>
            </c:spPr>
          </c:dPt>
          <c:dPt>
            <c:idx val="4"/>
            <c:spPr>
              <a:solidFill>
                <a:srgbClr val="E5383B"/>
              </a:solidFill>
            </c:spPr>
          </c:dPt>
          <c:dPt>
            <c:idx val="5"/>
            <c:spPr>
              <a:solidFill>
                <a:srgbClr val="7B4FD6"/>
              </a:solidFill>
            </c:spPr>
          </c:dPt>
          <c:cat>
            <c:strRef>
              <c:f>Sheet1!$A$2:$A$7</c:f>
              <c:strCache>
                <c:ptCount val="6"/>
                <c:pt idx="0">
                  <c:v>RPA 1 · Centro</c:v>
                </c:pt>
                <c:pt idx="1">
                  <c:v>RPA 2 · Norte</c:v>
                </c:pt>
                <c:pt idx="2">
                  <c:v>RPA 3 · Noroeste</c:v>
                </c:pt>
                <c:pt idx="3">
                  <c:v>RPA 4 · Oeste</c:v>
                </c:pt>
                <c:pt idx="4">
                  <c:v>RPA 5 · Sudoeste</c:v>
                </c:pt>
                <c:pt idx="5">
                  <c:v>RPA 6 · Sul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0.13675213675213677</c:v>
                </c:pt>
                <c:pt idx="1">
                  <c:v>0.07264957264957266</c:v>
                </c:pt>
                <c:pt idx="2">
                  <c:v>0.20085470085470086</c:v>
                </c:pt>
                <c:pt idx="3">
                  <c:v>0.19230769230769235</c:v>
                </c:pt>
                <c:pt idx="4">
                  <c:v>0.21367521367521367</c:v>
                </c:pt>
                <c:pt idx="5">
                  <c:v>0.18376068376068377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5B6B82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50" b="1">
                <a:solidFill>
                  <a:srgbClr val="16233F"/>
                </a:solidFill>
              </a:rPr>
              <a:t>Buracos por frente — últimas 8 semanas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AGC</c:v>
                </c:pt>
              </c:strCache>
            </c:strRef>
          </c:tx>
          <c:spPr>
            <a:ln w="31750">
              <a:solidFill>
                <a:srgbClr val="0A7BEA"/>
              </a:solidFill>
            </a:ln>
          </c:spPr>
          <c:marker>
            <c:symbol val="circle"/>
            <c:size val="6"/>
            <c:spPr>
              <a:solidFill>
                <a:srgbClr val="0A7BEA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S34</c:v>
                </c:pt>
                <c:pt idx="1">
                  <c:v>S35</c:v>
                </c:pt>
                <c:pt idx="2">
                  <c:v>S36</c:v>
                </c:pt>
                <c:pt idx="3">
                  <c:v>S37</c:v>
                </c:pt>
                <c:pt idx="4">
                  <c:v>S38</c:v>
                </c:pt>
                <c:pt idx="5">
                  <c:v>S39</c:v>
                </c:pt>
                <c:pt idx="6">
                  <c:v>S40</c:v>
                </c:pt>
                <c:pt idx="7">
                  <c:v>S41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8.9</c:v>
                </c:pt>
                <c:pt idx="1">
                  <c:v>9.0</c:v>
                </c:pt>
                <c:pt idx="2">
                  <c:v>8.03</c:v>
                </c:pt>
                <c:pt idx="3">
                  <c:v>9.56</c:v>
                </c:pt>
                <c:pt idx="4">
                  <c:v>8.43</c:v>
                </c:pt>
                <c:pt idx="5">
                  <c:v>6.43</c:v>
                </c:pt>
                <c:pt idx="6">
                  <c:v>8.6</c:v>
                </c:pt>
                <c:pt idx="7">
                  <c:v>10.84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LIDERMAC</c:v>
                </c:pt>
              </c:strCache>
            </c:strRef>
          </c:tx>
          <c:spPr>
            <a:ln w="31750">
              <a:solidFill>
                <a:srgbClr val="7B4FD6"/>
              </a:solidFill>
            </a:ln>
          </c:spPr>
          <c:marker>
            <c:symbol val="circle"/>
            <c:size val="6"/>
            <c:spPr>
              <a:solidFill>
                <a:srgbClr val="7B4FD6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S34</c:v>
                </c:pt>
                <c:pt idx="1">
                  <c:v>S35</c:v>
                </c:pt>
                <c:pt idx="2">
                  <c:v>S36</c:v>
                </c:pt>
                <c:pt idx="3">
                  <c:v>S37</c:v>
                </c:pt>
                <c:pt idx="4">
                  <c:v>S38</c:v>
                </c:pt>
                <c:pt idx="5">
                  <c:v>S39</c:v>
                </c:pt>
                <c:pt idx="6">
                  <c:v>S40</c:v>
                </c:pt>
                <c:pt idx="7">
                  <c:v>S41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7.0</c:v>
                </c:pt>
                <c:pt idx="1">
                  <c:v>7.71</c:v>
                </c:pt>
                <c:pt idx="2">
                  <c:v>9.89</c:v>
                </c:pt>
                <c:pt idx="3">
                  <c:v>7.36</c:v>
                </c:pt>
                <c:pt idx="4">
                  <c:v>8.67</c:v>
                </c:pt>
                <c:pt idx="5">
                  <c:v>8.2</c:v>
                </c:pt>
                <c:pt idx="6">
                  <c:v>7.22</c:v>
                </c:pt>
                <c:pt idx="7">
                  <c:v>8.8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4E4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.0"/>
          <c:min val="4.0"/>
        </c:scaling>
        <c:delete val="0"/>
        <c:axPos val="l"/>
        <c:majorGridlines>
          <c:spPr>
            <a:ln>
              <a:solidFill>
                <a:srgbClr val="E3E9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/>
      <c:layout/>
      <c:overlay val="0"/>
      <c:txPr>
        <a:bodyPr/>
        <a:lstStyle/>
        <a:p>
          <a:pPr>
            <a:defRPr sz="1050"/>
          </a:pPr>
        </a:p>
      </c:txPr>
    </c:legend>
    <c:plotVisOnly val="1"/>
    <c:dispBlanksAs val="gap"/>
    <c:showDLblsOverMax val="0"/>
  </c:chart>
  <c:txPr>
    <a:bodyPr/>
    <a:lstStyle/>
    <a:p>
      <a:pPr>
        <a:defRPr sz="1050">
          <a:solidFill>
            <a:srgbClr val="5B6B8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Operação Tapa-Buraco — semana Emlurb 41 (07/10 a 13/10/2026).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Semana 41: 359 buracos tapados e saldo de 158 a tapar.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Tapados (azul) e saldo a tapar (amarelo) por semana; abaixo, a chuva de cada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Acumulado de buracos tapados até esta semana, comparado com o mesmo período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Participação de cada RPA e bairro nas demandas de buraco em aberto ao fim da semana.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Frentes de serviço da semana por empresa e RPA. Quadradinhos = buracos tapados por dia (qua → ter)  ·  0 em laranja = dia útil sem frente  ·  S/D fim de semana  ·  F feriado  ·  12/10 N. Sra. Aparecida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Buracos tapados por RPA e dia (número pequeno = frentes no dia). Total da semana × semana anterior e média de buracos por frente.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1.xml"/><Relationship Id="rId6" Type="http://schemas.openxmlformats.org/officeDocument/2006/relationships/chart" Target="../charts/chart2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5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chart" Target="../charts/chart6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89520" y="-1463040"/>
            <a:ext cx="6583680" cy="658368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21040" y="-731520"/>
            <a:ext cx="5120640" cy="5120640"/>
          </a:xfrm>
          <a:prstGeom prst="ellipse">
            <a:avLst/>
          </a:prstGeom>
          <a:solidFill>
            <a:srgbClr val="1E6F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ie 11"/>
          <p:cNvSpPr/>
          <p:nvPr/>
        </p:nvSpPr>
        <p:spPr>
          <a:xfrm>
            <a:off x="8229600" y="1417320"/>
            <a:ext cx="3474720" cy="347472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10597" y="2998317"/>
            <a:ext cx="312724" cy="3127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23526" y="3154680"/>
            <a:ext cx="86868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ock Arc 14"/>
          <p:cNvSpPr/>
          <p:nvPr/>
        </p:nvSpPr>
        <p:spPr>
          <a:xfrm>
            <a:off x="9619488" y="4197096"/>
            <a:ext cx="390906" cy="694944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2398426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C20E"/>
                </a:solidFill>
                <a:latin typeface="Calibri"/>
              </a:rPr>
              <a:t>OPERAÇÃO TAPA-BURACO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7315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Semana 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D7E7FF"/>
                </a:solidFill>
                <a:latin typeface="Calibri"/>
              </a:rPr>
              <a:t>07/10 a 13/10/2026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BFD7FB"/>
                </a:solidFill>
                <a:latin typeface="Calibri"/>
              </a:rPr>
              <a:t>Buracos tapados e saldo a tapar  ·  Onde estão as demandas  ·  Frentes de serviço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1081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Relatório semanal  ·  </a:t>
            </a:r>
            <a:r>
              <a:rPr sz="1300" b="1" i="0">
                <a:solidFill>
                  <a:srgbClr val="5B6B82"/>
                </a:solidFill>
                <a:latin typeface="Calibri"/>
              </a:rPr>
              <a:t>24/10/2026</a:t>
            </a:r>
          </a:p>
        </p:txBody>
      </p:sp>
      <p:pic>
        <p:nvPicPr>
          <p:cNvPr id="27" name="Picture 26" descr="logo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533" y="6099048"/>
            <a:ext cx="569242" cy="566928"/>
          </a:xfrm>
          <a:prstGeom prst="rect">
            <a:avLst/>
          </a:prstGeom>
        </p:spPr>
      </p:pic>
      <p:pic>
        <p:nvPicPr>
          <p:cNvPr id="28" name="Picture 27" descr="logo_emlur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202" y="6099048"/>
            <a:ext cx="102729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A SEMANA EM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359 buracos tapados na semana 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572000" cy="324612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ie 17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Pie 18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Pie 19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Pie 21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3977639" y="1847088"/>
            <a:ext cx="1005840" cy="100584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5296" y="23047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17556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C20E"/>
                </a:solidFill>
                <a:latin typeface="Calibri"/>
              </a:rPr>
              <a:t>BURACOS TAPADOS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029968"/>
            <a:ext cx="40233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359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355847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35584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16%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semana 40 (426)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04488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BFD7FB"/>
                </a:solidFill>
                <a:latin typeface="Calibri"/>
              </a:rPr>
              <a:t>Média semanal do ano: </a:t>
            </a:r>
            <a:r>
              <a:rPr sz="1250" b="1" i="0">
                <a:solidFill>
                  <a:srgbClr val="FFFFFF"/>
                </a:solidFill>
                <a:latin typeface="Calibri"/>
              </a:rPr>
              <a:t>394</a:t>
            </a:r>
          </a:p>
          <a:p>
            <a:pPr algn="l">
              <a:spcBef>
                <a:spcPts val="400"/>
              </a:spcBef>
            </a:pPr>
            <a:r>
              <a:rPr sz="1250" b="0" i="0">
                <a:solidFill>
                  <a:srgbClr val="BFD7FB"/>
                </a:solidFill>
                <a:latin typeface="Calibri"/>
              </a:rPr>
              <a:t>esta semana ficou 9% abaixo da média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1481328"/>
            <a:ext cx="32461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09928"/>
            <a:ext cx="73152" cy="82296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28C28"/>
                </a:solidFill>
                <a:latin typeface="Calibri"/>
              </a:rPr>
              <a:t>NÃO TAPADOS (SALDO)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2029968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158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990088"/>
            <a:ext cx="2697480" cy="329184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990088"/>
            <a:ext cx="26974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7A35B"/>
                </a:solidFill>
                <a:latin typeface="Calibri"/>
              </a:rPr>
              <a:t>▼ 8%</a:t>
            </a:r>
            <a:r>
              <a:rPr sz="1050" b="0" i="0">
                <a:solidFill>
                  <a:srgbClr val="17A35B"/>
                </a:solidFill>
                <a:latin typeface="Calibri"/>
              </a:rPr>
              <a:t>  vs semana 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TAXA DE EXECUÇÃO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767328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1546C0"/>
                </a:solidFill>
                <a:latin typeface="Calibri"/>
              </a:rPr>
              <a:t>69%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1304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 ÷ (tapados + saldo)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4334256"/>
            <a:ext cx="2697480" cy="146304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7840" y="4334256"/>
            <a:ext cx="1873105" cy="146304"/>
          </a:xfrm>
          <a:prstGeom prst="roundRect">
            <a:avLst>
              <a:gd name="adj" fmla="val 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78240" y="1481328"/>
            <a:ext cx="2910535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1709928"/>
            <a:ext cx="73152" cy="82296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1755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7BEA"/>
                </a:solidFill>
                <a:latin typeface="Calibri"/>
              </a:rPr>
              <a:t>CHUVA NA SEMANA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02996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16233F"/>
                </a:solidFill>
                <a:latin typeface="Calibri"/>
              </a:rPr>
              <a:t>2</a:t>
            </a:r>
            <a:r>
              <a:rPr sz="2000" b="0" i="0">
                <a:solidFill>
                  <a:srgbClr val="5B6B82"/>
                </a:solidFill>
                <a:latin typeface="Calibri"/>
              </a:rPr>
              <a:t> mm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52560" y="2990088"/>
            <a:ext cx="2361895" cy="329184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2990088"/>
            <a:ext cx="2361895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546C0"/>
                </a:solidFill>
                <a:latin typeface="Calibri"/>
              </a:rPr>
              <a:t>▼ 84%</a:t>
            </a:r>
            <a:r>
              <a:rPr sz="1050" b="0" i="0">
                <a:solidFill>
                  <a:srgbClr val="1546C0"/>
                </a:solidFill>
                <a:latin typeface="Calibri"/>
              </a:rPr>
              <a:t>  vs média histórica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538728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6B82"/>
                </a:solidFill>
                <a:latin typeface="Calibri"/>
              </a:rPr>
              <a:t>ACUMULADO NO ANO</a:t>
            </a:r>
          </a:p>
          <a:p>
            <a:pPr algn="l">
              <a:spcBef>
                <a:spcPts val="200"/>
              </a:spcBef>
            </a:pPr>
            <a:r>
              <a:rPr sz="2600" b="1" i="0">
                <a:solidFill>
                  <a:srgbClr val="1546C0"/>
                </a:solidFill>
                <a:latin typeface="Calibri"/>
              </a:rPr>
              <a:t>2.102 mm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" y="4928616"/>
            <a:ext cx="91440" cy="1143000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TAPADOS EM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16.162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94760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41 semanas · média de 394 por semana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0147" y="4928616"/>
            <a:ext cx="5478627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0147" y="4928616"/>
            <a:ext cx="91440" cy="1143000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0187" y="50566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6B82"/>
                </a:solidFill>
                <a:latin typeface="Calibri"/>
              </a:rPr>
              <a:t>SALDO MÉDIO DO ANO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0187" y="5312664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6233F"/>
                </a:solidFill>
                <a:latin typeface="Calibri"/>
              </a:rPr>
              <a:t>121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1987" y="5111496"/>
            <a:ext cx="2003907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  <a:latin typeface="Calibri"/>
              </a:rPr>
              <a:t>não tapados por semana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EVOLUÇÃO · ÚLTIMAS 12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Média semanal do ano: 394 buracos tapados (semanas 01 a 41)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3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1118585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" y="1572768"/>
          <a:ext cx="10911535" cy="32461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40080" y="4773168"/>
          <a:ext cx="10911535" cy="12344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 ANO ATÉ AQUI · ATÉ A SEMANA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16.162 buracos tapados em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3566160" cy="23774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7099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TAPADOS EM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1984248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16.162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98648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986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B3B3"/>
                </a:solidFill>
                <a:latin typeface="Calibri"/>
              </a:rPr>
              <a:t>▼ 2%</a:t>
            </a:r>
            <a:r>
              <a:rPr sz="1100" b="0" i="0">
                <a:solidFill>
                  <a:srgbClr val="D7E7FF"/>
                </a:solidFill>
                <a:latin typeface="Calibri"/>
              </a:rPr>
              <a:t>  vs 2025 (16.446)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FD7FB"/>
                </a:solidFill>
                <a:latin typeface="Calibri"/>
              </a:rPr>
              <a:t>mesmo período: semanas 1 a 41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481328"/>
            <a:ext cx="7391095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434840" y="1527048"/>
          <a:ext cx="7116775" cy="2286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502920" y="4041648"/>
            <a:ext cx="11185855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40080" y="4087368"/>
          <a:ext cx="10911535" cy="2121408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ONDE ESTÃO AS DEMANDAS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RPA 5 (Sudoeste) concentra 21% das demandas em aberto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47548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4360" y="1618488"/>
          <a:ext cx="4572000" cy="43434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486400" y="1481328"/>
            <a:ext cx="6202375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664208"/>
            <a:ext cx="56537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6233F"/>
                </a:solidFill>
                <a:latin typeface="Calibri"/>
              </a:rPr>
              <a:t>Bairros com maior participação nas demandas em aberto</a:t>
            </a:r>
          </a:p>
        </p:txBody>
      </p:sp>
      <p:sp>
        <p:nvSpPr>
          <p:cNvPr id="20" name="Oval 19"/>
          <p:cNvSpPr/>
          <p:nvPr/>
        </p:nvSpPr>
        <p:spPr>
          <a:xfrm>
            <a:off x="5760720" y="2121408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21214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1214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Engenho do Meio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0" y="220370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28655" y="21214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6,0%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0" y="2468880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4688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4688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Tejipio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255117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0" y="2551176"/>
            <a:ext cx="2023371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28655" y="24688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5,6%</a:t>
            </a:r>
          </a:p>
        </p:txBody>
      </p:sp>
      <p:sp>
        <p:nvSpPr>
          <p:cNvPr id="32" name="Oval 31"/>
          <p:cNvSpPr/>
          <p:nvPr/>
        </p:nvSpPr>
        <p:spPr>
          <a:xfrm>
            <a:off x="5760720" y="2816352"/>
            <a:ext cx="274320" cy="274320"/>
          </a:xfrm>
          <a:prstGeom prst="ellipse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8163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6233F"/>
                </a:solidFill>
                <a:latin typeface="Calibri"/>
              </a:rPr>
              <a:t>Jardim Sao Paulo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289864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0" y="2898648"/>
            <a:ext cx="1867727" cy="128016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28655" y="281635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5,1%</a:t>
            </a:r>
          </a:p>
        </p:txBody>
      </p:sp>
      <p:sp>
        <p:nvSpPr>
          <p:cNvPr id="38" name="Oval 37"/>
          <p:cNvSpPr/>
          <p:nvPr/>
        </p:nvSpPr>
        <p:spPr>
          <a:xfrm>
            <a:off x="5760720" y="316382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16382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31638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Imbiribeira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324612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1712083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28655" y="3163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4,7%</a:t>
            </a:r>
          </a:p>
        </p:txBody>
      </p:sp>
      <p:sp>
        <p:nvSpPr>
          <p:cNvPr id="44" name="Oval 43"/>
          <p:cNvSpPr/>
          <p:nvPr/>
        </p:nvSpPr>
        <p:spPr>
          <a:xfrm>
            <a:off x="5760720" y="351129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1129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51129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Varzea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12480" y="359359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12480" y="3593592"/>
            <a:ext cx="1556439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8655" y="35112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4,3%</a:t>
            </a:r>
          </a:p>
        </p:txBody>
      </p:sp>
      <p:sp>
        <p:nvSpPr>
          <p:cNvPr id="50" name="Oval 49"/>
          <p:cNvSpPr/>
          <p:nvPr/>
        </p:nvSpPr>
        <p:spPr>
          <a:xfrm>
            <a:off x="5760720" y="3858768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0" y="385876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38587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Campo Grande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3941064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12480" y="3941064"/>
            <a:ext cx="14007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728655" y="38587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56" name="Oval 55"/>
          <p:cNvSpPr/>
          <p:nvPr/>
        </p:nvSpPr>
        <p:spPr>
          <a:xfrm>
            <a:off x="5760720" y="4206240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4206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Cordeiro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412480" y="4288536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0" y="4288536"/>
            <a:ext cx="14007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728655" y="4206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62" name="Oval 61"/>
          <p:cNvSpPr/>
          <p:nvPr/>
        </p:nvSpPr>
        <p:spPr>
          <a:xfrm>
            <a:off x="5760720" y="4553712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0" y="4553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72200" y="455371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Cohab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0" y="4636008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12480" y="4636008"/>
            <a:ext cx="14007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28655" y="45537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68" name="Oval 67"/>
          <p:cNvSpPr/>
          <p:nvPr/>
        </p:nvSpPr>
        <p:spPr>
          <a:xfrm>
            <a:off x="5760720" y="4901184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760720" y="49011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72200" y="490118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Iputinga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4983480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983480"/>
            <a:ext cx="14007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28655" y="4901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74" name="Oval 73"/>
          <p:cNvSpPr/>
          <p:nvPr/>
        </p:nvSpPr>
        <p:spPr>
          <a:xfrm>
            <a:off x="5760720" y="5248656"/>
            <a:ext cx="274320" cy="274320"/>
          </a:xfrm>
          <a:prstGeom prst="ellipse">
            <a:avLst/>
          </a:prstGeom>
          <a:solidFill>
            <a:srgbClr val="B9D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0" y="5248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546C0"/>
                </a:solidFill>
                <a:latin typeface="Calibri"/>
              </a:rPr>
              <a:t>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72200" y="524865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6233F"/>
                </a:solidFill>
                <a:latin typeface="Calibri"/>
              </a:rPr>
              <a:t>Boa Viagem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480" y="5330952"/>
            <a:ext cx="2179015" cy="128016"/>
          </a:xfrm>
          <a:prstGeom prst="roundRect">
            <a:avLst>
              <a:gd name="adj" fmla="val 50000"/>
            </a:avLst>
          </a:prstGeom>
          <a:solidFill>
            <a:srgbClr val="E6E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12480" y="5330952"/>
            <a:ext cx="1400795" cy="128016"/>
          </a:xfrm>
          <a:prstGeom prst="roundRect">
            <a:avLst>
              <a:gd name="adj" fmla="val 50000"/>
            </a:avLst>
          </a:prstGeom>
          <a:solidFill>
            <a:srgbClr val="7DB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728655" y="5248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546C0"/>
                </a:solidFill>
                <a:latin typeface="Calibri"/>
              </a:rPr>
              <a:t>3,8%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760720" y="5705856"/>
            <a:ext cx="56537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B6B82"/>
                </a:solidFill>
                <a:latin typeface="Calibri"/>
              </a:rPr>
              <a:t>Os 3 primeiros bairros somam 17% das demandas em aberto da cidade.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AGC E LIDERMAC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359 buracos tapados pelas frentes  ·  AGC 271  ·  LIDERMAC 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ag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124" y="1636776"/>
            <a:ext cx="57927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1, RPA 2, RPA 3, RPA 4, RPA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5 de 7 dias com frente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271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0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B3B3"/>
                </a:solidFill>
                <a:latin typeface="Calibri"/>
              </a:rPr>
              <a:t>▼ 25%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10,8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26%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7" y="1481328"/>
            <a:ext cx="5478627" cy="129844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7B4FD6"/>
              </a:gs>
              <a:gs pos="100000">
                <a:srgbClr val="4B2A9E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84467" y="1572768"/>
            <a:ext cx="14630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liderma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7921" y="1636776"/>
            <a:ext cx="10561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84467" y="19568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RPA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4467" y="22311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EFFF"/>
                </a:solidFill>
                <a:latin typeface="Calibri"/>
              </a:rPr>
              <a:t>4 de 7 dias com frente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186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TAPADOS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186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41867" y="237744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1867" y="23774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35%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347" y="159105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20E"/>
                </a:solidFill>
                <a:latin typeface="Calibri"/>
              </a:rPr>
              <a:t>BURACOS POR FRENTE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6347" y="1773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8,8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96347" y="23774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23F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96347" y="23774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7CF0B0"/>
                </a:solidFill>
                <a:latin typeface="Calibri"/>
              </a:rPr>
              <a:t>▲ 22%</a:t>
            </a:r>
            <a:r>
              <a:rPr sz="850" b="0" i="0">
                <a:solidFill>
                  <a:srgbClr val="D7E7FF"/>
                </a:solidFill>
                <a:latin typeface="Calibri"/>
              </a:rPr>
              <a:t>  vs sem. anterior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2944368"/>
            <a:ext cx="82296" cy="1604772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A7BEA"/>
                </a:solidFill>
                <a:latin typeface="Calibri"/>
              </a:rPr>
              <a:t>RPA 1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Centro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62986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986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74520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38%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(37)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74520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7,7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92769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92769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92769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540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540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540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152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152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152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765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765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765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377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377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377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4990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990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990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8594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8594" y="2944368"/>
            <a:ext cx="82296" cy="1604772"/>
          </a:xfrm>
          <a:prstGeom prst="rect">
            <a:avLst/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27194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E8C9C"/>
                </a:solidFill>
                <a:latin typeface="Calibri"/>
              </a:rPr>
              <a:t>RPA 2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658660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58660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7194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54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27194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70194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70194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(56)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70194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9,0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+45%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7194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7194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27194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98844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8844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8844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49693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0E8C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49693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49693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1094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1094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1094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72192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372192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72192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83344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83344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3344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294691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DE3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294691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C2410C"/>
                </a:solidFill>
                <a:latin typeface="Calibri"/>
              </a:rPr>
              <a:t>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91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94268" y="2944368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94268" y="2944368"/>
            <a:ext cx="82296" cy="1604772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22868" y="3035808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A35B"/>
                </a:solidFill>
                <a:latin typeface="Calibri"/>
              </a:rPr>
              <a:t>RPA 3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Noroeste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54335" y="3054096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454335" y="3054096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22868" y="332841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96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22868" y="379476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465868" y="3401568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465868" y="3401568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25%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(77)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65868" y="3749040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12,0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+56%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832286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32286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286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784118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784118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784118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24536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24536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24536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9706617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06617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06617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1016786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16786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6786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10629116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29116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29116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090365" y="3982212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090365" y="3982212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090365" y="4320540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02920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02920" y="4686300"/>
            <a:ext cx="82296" cy="1604772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1520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2A900"/>
                </a:solidFill>
                <a:latin typeface="Calibri"/>
              </a:rPr>
              <a:t>RPA 4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Oeste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862986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862986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31520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61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1520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874520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874520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31%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(89)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874520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15,2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+3%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1520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13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31520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192769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192769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192769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6540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6540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6540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1152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1152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1152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5765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5765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765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0377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77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0377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4990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2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4990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33F"/>
                </a:solidFill>
                <a:latin typeface="Calibri"/>
              </a:rPr>
              <a:t>18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4990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4298594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298594" y="4686300"/>
            <a:ext cx="82296" cy="1604772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527194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383B"/>
                </a:solidFill>
                <a:latin typeface="Calibri"/>
              </a:rPr>
              <a:t>RPA 5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Sudoeste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6658660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658660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AGC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527194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37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527194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5670194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FD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670194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E5383B"/>
                </a:solidFill>
                <a:latin typeface="Calibri"/>
              </a:rPr>
              <a:t>▼ 64%</a:t>
            </a:r>
            <a:r>
              <a:rPr sz="850" b="0" i="0">
                <a:solidFill>
                  <a:srgbClr val="E5383B"/>
                </a:solidFill>
                <a:latin typeface="Calibri"/>
              </a:rPr>
              <a:t>  vs sem. ant. (102)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70194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9,2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+9%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4527194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27194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27194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98844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8844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98844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5449693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449693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449693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91094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591094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91094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6372192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372192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72192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683344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3344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83344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7294691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294691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294691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094268" y="4686300"/>
            <a:ext cx="3594506" cy="1604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8094268" y="4686300"/>
            <a:ext cx="82296" cy="1604772"/>
          </a:xfrm>
          <a:prstGeom prst="rect">
            <a:avLst/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22868" y="4777740"/>
            <a:ext cx="21314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4FD6"/>
                </a:solidFill>
                <a:latin typeface="Calibri"/>
              </a:rPr>
              <a:t>RPA 6</a:t>
            </a:r>
            <a:r>
              <a:rPr sz="1050" b="0" i="0">
                <a:solidFill>
                  <a:srgbClr val="5B6B82"/>
                </a:solidFill>
                <a:latin typeface="Calibri"/>
              </a:rPr>
              <a:t>  Sul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0454335" y="4796028"/>
            <a:ext cx="1051560" cy="246888"/>
          </a:xfrm>
          <a:prstGeom prst="roundRect">
            <a:avLst>
              <a:gd name="adj" fmla="val 50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454335" y="4796028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LIDERMAC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322868" y="507034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6233F"/>
                </a:solidFill>
                <a:latin typeface="Calibri"/>
              </a:rPr>
              <a:t>88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322868" y="553669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tapados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465868" y="5143500"/>
            <a:ext cx="1994306" cy="292608"/>
          </a:xfrm>
          <a:prstGeom prst="roundRect">
            <a:avLst>
              <a:gd name="adj" fmla="val 50000"/>
            </a:avLst>
          </a:prstGeom>
          <a:solidFill>
            <a:srgbClr val="DFF5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465868" y="5143500"/>
            <a:ext cx="199430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7A35B"/>
                </a:solidFill>
                <a:latin typeface="Calibri"/>
              </a:rPr>
              <a:t>▲ 35%</a:t>
            </a:r>
            <a:r>
              <a:rPr sz="850" b="0" i="0">
                <a:solidFill>
                  <a:srgbClr val="17A35B"/>
                </a:solidFill>
                <a:latin typeface="Calibri"/>
              </a:rPr>
              <a:t>  vs sem. ant. (65)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465868" y="5490972"/>
            <a:ext cx="199430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233F"/>
                </a:solidFill>
                <a:latin typeface="Calibri"/>
              </a:rPr>
              <a:t>8,8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 por frente  ·  </a:t>
            </a:r>
            <a:r>
              <a:rPr sz="1100" b="1" i="0">
                <a:solidFill>
                  <a:srgbClr val="17A35B"/>
                </a:solidFill>
                <a:latin typeface="Calibri"/>
              </a:rPr>
              <a:t>+22% </a:t>
            </a:r>
            <a:r>
              <a:rPr sz="1100" b="0" i="0">
                <a:solidFill>
                  <a:srgbClr val="5B6B82"/>
                </a:solidFill>
                <a:latin typeface="Calibri"/>
              </a:rPr>
              <a:t>vs sem. ant.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832286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32286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832286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qua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784118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784118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784118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qui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24536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924536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924536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sex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9706617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706617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S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706617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sáb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1016786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EEF1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16786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5B6B82"/>
                </a:solidFill>
                <a:latin typeface="Calibri"/>
              </a:rPr>
              <a:t>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16786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dom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629116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FBE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0629116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E5383B"/>
                </a:solidFill>
                <a:latin typeface="Calibri"/>
              </a:rPr>
              <a:t>F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629116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seg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11090365" y="5724144"/>
            <a:ext cx="415529" cy="329184"/>
          </a:xfrm>
          <a:prstGeom prst="roundRect">
            <a:avLst>
              <a:gd name="adj" fmla="val 15000"/>
            </a:avLst>
          </a:prstGeom>
          <a:solidFill>
            <a:srgbClr val="7B4F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1090365" y="5724144"/>
            <a:ext cx="41552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90365" y="6062472"/>
            <a:ext cx="41552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16233F"/>
                </a:solidFill>
                <a:latin typeface="Calibri"/>
              </a:rPr>
              <a:t>ter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02920" y="6254496"/>
            <a:ext cx="111858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Quadradinhos = buracos tapados por dia (qua → ter)  ·  0 em laranja = dia útil sem frente  ·  S/D fim de semana  ·  F feriado  ·  12/10 N. Sra. Aparecida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3047924" cy="64008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1170432"/>
            <a:ext cx="3047924" cy="6400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1170432"/>
            <a:ext cx="3047924" cy="64008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1170432"/>
            <a:ext cx="3047924" cy="64008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"/>
            <a:ext cx="91741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C20E"/>
                </a:solidFill>
                <a:latin typeface="Calibri"/>
              </a:rPr>
              <a:t>FRENTES DE SERVIÇO · DIA A 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"/>
            <a:ext cx="990569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10,3 buracos por frente — 23% acima da semana anterior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88575" y="329184"/>
            <a:ext cx="1600200" cy="5120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FFFF"/>
              </a:gs>
              <a:gs pos="100000">
                <a:srgbClr val="E9F1FF"/>
              </a:gs>
            </a:gsLst>
            <a:lin scaled="0" ang="162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88575" y="329184"/>
            <a:ext cx="1600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5B6B82"/>
                </a:solidFill>
                <a:latin typeface="Calibri"/>
              </a:rPr>
              <a:t>SEMANA </a:t>
            </a:r>
            <a:r>
              <a:rPr sz="2000" b="1" i="0">
                <a:solidFill>
                  <a:srgbClr val="1546C0"/>
                </a:solidFill>
                <a:latin typeface="Calibri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B6B82"/>
                </a:solidFill>
                <a:latin typeface="Calibri"/>
              </a:rPr>
              <a:t>Operação Tapa-Buraco  ·  Semana Emlurb 41/2026  ·  07/10 a 13/10/2026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  <p:pic>
        <p:nvPicPr>
          <p:cNvPr id="13" name="Picture 12" descr="logo_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4973" y="6400800"/>
            <a:ext cx="293802" cy="292608"/>
          </a:xfrm>
          <a:prstGeom prst="rect">
            <a:avLst/>
          </a:prstGeom>
        </p:spPr>
      </p:pic>
      <p:pic>
        <p:nvPicPr>
          <p:cNvPr id="14" name="Picture 13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590" y="6400800"/>
            <a:ext cx="530215" cy="292608"/>
          </a:xfrm>
          <a:prstGeom prst="rect">
            <a:avLst/>
          </a:prstGeom>
        </p:spPr>
      </p:pic>
      <p:pic>
        <p:nvPicPr>
          <p:cNvPr id="15" name="Picture 14" descr="logo_prefeitu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1022" y="6400800"/>
            <a:ext cx="911400" cy="277977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1481328"/>
          <a:ext cx="11185848" cy="3291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70068"/>
                <a:gridCol w="936054"/>
                <a:gridCol w="936054"/>
                <a:gridCol w="936054"/>
                <a:gridCol w="936054"/>
                <a:gridCol w="936054"/>
                <a:gridCol w="936054"/>
                <a:gridCol w="936054"/>
                <a:gridCol w="889252"/>
                <a:gridCol w="889252"/>
                <a:gridCol w="795646"/>
                <a:gridCol w="8892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RPA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 07/10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qui 08/10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sex 09/10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sáb 10/10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sábado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dom 11/10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domingo</a:t>
                      </a:r>
                    </a:p>
                  </a:txBody>
                  <a:tcPr marL="45720" marR="45720" marT="18288" marB="18288" anchor="ctr">
                    <a:solidFill>
                      <a:srgbClr val="5B6B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seg 12/10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E3A3"/>
                          </a:solidFill>
                          <a:latin typeface="Calibri"/>
                        </a:rPr>
                        <a:t>N. Sra. Aparecida</a:t>
                      </a:r>
                    </a:p>
                  </a:txBody>
                  <a:tcPr marL="45720" marR="45720" marT="18288" marB="18288" anchor="ctr">
                    <a:solidFill>
                      <a:srgbClr val="B423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ter 13/10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da semana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 sem. anterior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por frente</a:t>
                      </a:r>
                    </a:p>
                  </a:txBody>
                  <a:tcPr marL="45720" marR="45720" marT="18288" marB="18288" anchor="ctr">
                    <a:solidFill>
                      <a:srgbClr val="0B1E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A7BEA"/>
                          </a:solidFill>
                          <a:latin typeface="Calibri"/>
                        </a:rPr>
                        <a:t>RPA 1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38%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7,7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2A4B6"/>
                          </a:solidFill>
                          <a:latin typeface="Calibri"/>
                        </a:rPr>
                        <a:t>RPA 2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2410C"/>
                          </a:solidFill>
                          <a:latin typeface="Calibri"/>
                        </a:rPr>
                        <a:t>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C2410C"/>
                          </a:solidFill>
                          <a:latin typeface="Calibri"/>
                        </a:rPr>
                        <a:t>sem frente</a:t>
                      </a:r>
                    </a:p>
                  </a:txBody>
                  <a:tcPr marL="45720" marR="45720" marT="18288" marB="18288" anchor="ctr">
                    <a:solidFill>
                      <a:srgbClr val="FDE3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6,2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7A35B"/>
                          </a:solidFill>
                          <a:latin typeface="Calibri"/>
                        </a:rPr>
                        <a:t>RPA 3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12,0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2A900"/>
                          </a:solidFill>
                          <a:latin typeface="Calibri"/>
                        </a:rPr>
                        <a:t>RPA 4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31%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15,2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14,8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E5383B"/>
                          </a:solidFill>
                          <a:latin typeface="Calibri"/>
                        </a:rPr>
                        <a:t>RPA 5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AGC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5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D7E8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10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1,0 fr.</a:t>
                      </a:r>
                    </a:p>
                  </a:txBody>
                  <a:tcPr marL="45720" marR="45720" marT="18288" marB="18288" anchor="ctr">
                    <a:solidFill>
                      <a:srgbClr val="A9C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102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64%</a:t>
                      </a:r>
                    </a:p>
                  </a:txBody>
                  <a:tcPr marL="45720" marR="45720" marT="18288" marB="18288" anchor="ctr">
                    <a:solidFill>
                      <a:srgbClr val="FD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9,2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8,5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7B4FD6"/>
                          </a:solidFill>
                          <a:latin typeface="Calibri"/>
                        </a:rPr>
                        <a:t>RPA 6</a:t>
                      </a:r>
                    </a:p>
                    <a:p>
                      <a:pPr algn="l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LIDERMAC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3,0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5FA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B6B8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18288" marB="18288" anchor="ctr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45720" marR="45720" marT="18288" marB="18288" anchor="ctr">
                    <a:solidFill>
                      <a:srgbClr val="FBE0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19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FFFFFF"/>
                          </a:solidFill>
                          <a:latin typeface="Calibri"/>
                        </a:rPr>
                        <a:t>2,0 fr.</a:t>
                      </a:r>
                    </a:p>
                  </a:txBody>
                  <a:tcPr marL="45720" marR="45720" marT="18288" marB="18288" anchor="ctr">
                    <a:solidFill>
                      <a:srgbClr val="0A7B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7A35B"/>
                          </a:solidFill>
                          <a:latin typeface="Calibri"/>
                        </a:rPr>
                        <a:t>▲ 35%</a:t>
                      </a:r>
                    </a:p>
                  </a:txBody>
                  <a:tcPr marL="45720" marR="45720" marT="18288" marB="18288" anchor="ctr">
                    <a:solidFill>
                      <a:srgbClr val="DFF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8,8</a:t>
                      </a:r>
                    </a:p>
                    <a:p>
                      <a:pPr algn="ctr"/>
                      <a:r>
                        <a:rPr sz="900">
                          <a:solidFill>
                            <a:srgbClr val="5B6B82"/>
                          </a:solidFill>
                          <a:latin typeface="Calibri"/>
                        </a:rPr>
                        <a:t>ant. 7,2</a:t>
                      </a:r>
                    </a:p>
                  </a:txBody>
                  <a:tcPr marL="45720" marR="45720" marT="18288" marB="18288" anchor="ctr">
                    <a:solidFill>
                      <a:srgbClr val="F5F8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103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6233F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6233F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5B6B82"/>
                          </a:solidFill>
                          <a:latin typeface="Calibri"/>
                        </a:rPr>
                        <a:t>426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5383B"/>
                          </a:solidFill>
                          <a:latin typeface="Calibri"/>
                        </a:rPr>
                        <a:t>▼ 16%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6233F"/>
                          </a:solidFill>
                          <a:latin typeface="Calibri"/>
                        </a:rPr>
                        <a:t>10,3</a:t>
                      </a:r>
                    </a:p>
                  </a:txBody>
                  <a:tcPr marL="45720" marR="45720" marT="18288" marB="18288" anchor="ctr">
                    <a:solidFill>
                      <a:srgbClr val="E3EC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4956048"/>
            <a:ext cx="11185855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594360" y="5001768"/>
          <a:ext cx="11002975" cy="11978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7B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7BEA"/>
              </a:gs>
              <a:gs pos="100000">
                <a:srgbClr val="0F2F86"/>
              </a:gs>
            </a:gsLst>
            <a:lin scaled="0" ang="270000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2926080"/>
            <a:ext cx="5943600" cy="5943600"/>
          </a:xfrm>
          <a:prstGeom prst="ellipse">
            <a:avLst/>
          </a:prstGeom>
          <a:solidFill>
            <a:srgbClr val="2F8F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0800000"/>
              <a:gd name="adj2" fmla="val 121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2150000"/>
              <a:gd name="adj2" fmla="val 135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3500000"/>
              <a:gd name="adj2" fmla="val 148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4850000"/>
              <a:gd name="adj2" fmla="val 1620000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6200000"/>
              <a:gd name="adj2" fmla="val 17550000"/>
            </a:avLst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7550000"/>
              <a:gd name="adj2" fmla="val 18900000"/>
            </a:avLst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18900000"/>
              <a:gd name="adj2" fmla="val 20250000"/>
            </a:avLst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>
            <a:off x="4861407" y="1508760"/>
            <a:ext cx="2468880" cy="2468880"/>
          </a:xfrm>
          <a:prstGeom prst="pie">
            <a:avLst>
              <a:gd name="adj1" fmla="val 20250000"/>
              <a:gd name="adj2" fmla="val 0"/>
            </a:avLst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84747" y="2632100"/>
            <a:ext cx="222199" cy="22219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4986" y="2743200"/>
            <a:ext cx="61722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5848959" y="3483864"/>
            <a:ext cx="277749" cy="493776"/>
          </a:xfrm>
          <a:prstGeom prst="blockArc">
            <a:avLst>
              <a:gd name="adj1" fmla="val 0"/>
              <a:gd name="adj2" fmla="val 10800000"/>
              <a:gd name="adj3" fmla="val 2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Operação Tapa-Buraco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D7E7FF"/>
                </a:solidFill>
                <a:latin typeface="Calibri"/>
              </a:rPr>
              <a:t>Semana 41  ·  07/10 a 13/10/2026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833872"/>
            <a:ext cx="3047924" cy="82296"/>
          </a:xfrm>
          <a:prstGeom prst="rect">
            <a:avLst/>
          </a:prstGeom>
          <a:solidFill>
            <a:srgbClr val="FFC20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47923" y="5833872"/>
            <a:ext cx="3047924" cy="82296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5833872"/>
            <a:ext cx="3047924" cy="82296"/>
          </a:xfrm>
          <a:prstGeom prst="rect">
            <a:avLst/>
          </a:prstGeom>
          <a:solidFill>
            <a:srgbClr val="17A3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3771" y="5833872"/>
            <a:ext cx="3047924" cy="82296"/>
          </a:xfrm>
          <a:prstGeom prst="rect">
            <a:avLst/>
          </a:prstGeom>
          <a:solidFill>
            <a:srgbClr val="0A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5916168"/>
            <a:ext cx="12191695" cy="941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prefei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531" y="6112764"/>
            <a:ext cx="1798820" cy="548640"/>
          </a:xfrm>
          <a:prstGeom prst="rect">
            <a:avLst/>
          </a:prstGeom>
        </p:spPr>
      </p:pic>
      <p:pic>
        <p:nvPicPr>
          <p:cNvPr id="23" name="Picture 22" descr="logo_emlu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91" y="6103620"/>
            <a:ext cx="1027291" cy="566928"/>
          </a:xfrm>
          <a:prstGeom prst="rect">
            <a:avLst/>
          </a:prstGeom>
        </p:spPr>
      </p:pic>
      <p:pic>
        <p:nvPicPr>
          <p:cNvPr id="24" name="Picture 23" descr="logo_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2" y="6103620"/>
            <a:ext cx="569242" cy="566928"/>
          </a:xfrm>
          <a:prstGeom prst="rect">
            <a:avLst/>
          </a:prstGeom>
        </p:spPr>
      </p:pic>
      <p:pic>
        <p:nvPicPr>
          <p:cNvPr id="25" name="Picture 24" descr="vwaj_sel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1847" y="6103620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VWAJ</dc:creator>
  <cp:keywords/>
  <dc:description>generated using python-pptx</dc:description>
  <cp:lastModifiedBy>VWAJ</cp:lastModifiedBy>
  <cp:revision>1</cp:revision>
  <dcterms:created xsi:type="dcterms:W3CDTF">2013-01-27T09:14:16Z</dcterms:created>
  <dcterms:modified xsi:type="dcterms:W3CDTF">2013-01-27T09:15:58Z</dcterms:modified>
  <cp:category/>
</cp:coreProperties>
</file>