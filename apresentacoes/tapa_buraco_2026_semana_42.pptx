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</c:v>
                </c:pt>
              </c:strCache>
            </c:strRef>
          </c:tx>
          <c:spPr>
            <a:solidFill>
              <a:srgbClr val="0A7BEA"/>
            </a:solidFill>
          </c:spPr>
          <c:dPt>
            <c:idx val="11"/>
            <c:spPr>
              <a:solidFill>
                <a:srgbClr val="0F2F86"/>
              </a:solidFill>
            </c:spPr>
          </c:dPt>
          <c:cat>
            <c:strRef>
              <c:f>Sheet1!$A$2:$A$13</c:f>
              <c:strCache>
                <c:ptCount val="12"/>
                <c:pt idx="0">
                  <c:v>S31
29/07</c:v>
                </c:pt>
                <c:pt idx="1">
                  <c:v>S32
05/08</c:v>
                </c:pt>
                <c:pt idx="2">
                  <c:v>S33
12/08</c:v>
                </c:pt>
                <c:pt idx="3">
                  <c:v>S34
19/08</c:v>
                </c:pt>
                <c:pt idx="4">
                  <c:v>S35
26/08</c:v>
                </c:pt>
                <c:pt idx="5">
                  <c:v>S36
02/09</c:v>
                </c:pt>
                <c:pt idx="6">
                  <c:v>S37
09/09</c:v>
                </c:pt>
                <c:pt idx="7">
                  <c:v>S38
16/09</c:v>
                </c:pt>
                <c:pt idx="8">
                  <c:v>S39
23/09</c:v>
                </c:pt>
                <c:pt idx="9">
                  <c:v>S40
30/09</c:v>
                </c:pt>
                <c:pt idx="10">
                  <c:v>S41
07/10</c:v>
                </c:pt>
                <c:pt idx="11">
                  <c:v>S42
14/10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423</c:v>
                </c:pt>
                <c:pt idx="1">
                  <c:v>513</c:v>
                </c:pt>
                <c:pt idx="2">
                  <c:v>368</c:v>
                </c:pt>
                <c:pt idx="3">
                  <c:v>534</c:v>
                </c:pt>
                <c:pt idx="4">
                  <c:v>522</c:v>
                </c:pt>
                <c:pt idx="5">
                  <c:v>338</c:v>
                </c:pt>
                <c:pt idx="6">
                  <c:v>492</c:v>
                </c:pt>
                <c:pt idx="7">
                  <c:v>390</c:v>
                </c:pt>
                <c:pt idx="8">
                  <c:v>320</c:v>
                </c:pt>
                <c:pt idx="9">
                  <c:v>426</c:v>
                </c:pt>
                <c:pt idx="10">
                  <c:v>359</c:v>
                </c:pt>
                <c:pt idx="11">
                  <c:v>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tapados (saldo)</c:v>
                </c:pt>
              </c:strCache>
            </c:strRef>
          </c:tx>
          <c:spPr>
            <a:solidFill>
              <a:srgbClr val="FFC20E"/>
            </a:solidFill>
          </c:spPr>
          <c:dLbls>
            <c:numFmt formatCode="#,##0;;&quot;&quot;" sourceLinked="0"/>
            <c:txPr>
              <a:bodyPr/>
              <a:lstStyle/>
              <a:p>
                <a:pPr>
                  <a:defRPr sz="1200" b="1">
                    <a:solidFill>
                      <a:srgbClr val="16233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S31
29/07</c:v>
                </c:pt>
                <c:pt idx="1">
                  <c:v>S32
05/08</c:v>
                </c:pt>
                <c:pt idx="2">
                  <c:v>S33
12/08</c:v>
                </c:pt>
                <c:pt idx="3">
                  <c:v>S34
19/08</c:v>
                </c:pt>
                <c:pt idx="4">
                  <c:v>S35
26/08</c:v>
                </c:pt>
                <c:pt idx="5">
                  <c:v>S36
02/09</c:v>
                </c:pt>
                <c:pt idx="6">
                  <c:v>S37
09/09</c:v>
                </c:pt>
                <c:pt idx="7">
                  <c:v>S38
16/09</c:v>
                </c:pt>
                <c:pt idx="8">
                  <c:v>S39
23/09</c:v>
                </c:pt>
                <c:pt idx="9">
                  <c:v>S40
30/09</c:v>
                </c:pt>
                <c:pt idx="10">
                  <c:v>S41
07/10</c:v>
                </c:pt>
                <c:pt idx="11">
                  <c:v>S42
14/10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175</c:v>
                </c:pt>
                <c:pt idx="1">
                  <c:v>140</c:v>
                </c:pt>
                <c:pt idx="2">
                  <c:v>166</c:v>
                </c:pt>
                <c:pt idx="3">
                  <c:v>102</c:v>
                </c:pt>
                <c:pt idx="4">
                  <c:v>98</c:v>
                </c:pt>
                <c:pt idx="5">
                  <c:v>170</c:v>
                </c:pt>
                <c:pt idx="6">
                  <c:v>111</c:v>
                </c:pt>
                <c:pt idx="7">
                  <c:v>162</c:v>
                </c:pt>
                <c:pt idx="8">
                  <c:v>160</c:v>
                </c:pt>
                <c:pt idx="9">
                  <c:v>171</c:v>
                </c:pt>
                <c:pt idx="10">
                  <c:v>158</c:v>
                </c:pt>
                <c:pt idx="11">
                  <c:v>145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6233F"/>
                </a:solidFill>
              </a:rPr>
              <a:t>Chuva por semana (mm)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Chuva (mm)</c:v>
                </c:pt>
              </c:strCache>
            </c:strRef>
          </c:tx>
          <c:spPr>
            <a:solidFill>
              <a:srgbClr val="5FA3F0"/>
            </a:solidFill>
          </c:spPr>
          <c:cat>
            <c:strRef>
              <c:f>Sheet1!$A$2:$A$13</c:f>
              <c:strCache>
                <c:ptCount val="12"/>
                <c:pt idx="0">
                  <c:v>S31</c:v>
                </c:pt>
                <c:pt idx="1">
                  <c:v>S32</c:v>
                </c:pt>
                <c:pt idx="2">
                  <c:v>S33</c:v>
                </c:pt>
                <c:pt idx="3">
                  <c:v>S34</c:v>
                </c:pt>
                <c:pt idx="4">
                  <c:v>S35</c:v>
                </c:pt>
                <c:pt idx="5">
                  <c:v>S36</c:v>
                </c:pt>
                <c:pt idx="6">
                  <c:v>S37</c:v>
                </c:pt>
                <c:pt idx="7">
                  <c:v>S38</c:v>
                </c:pt>
                <c:pt idx="8">
                  <c:v>S39</c:v>
                </c:pt>
                <c:pt idx="9">
                  <c:v>S40</c:v>
                </c:pt>
                <c:pt idx="10">
                  <c:v>S41</c:v>
                </c:pt>
                <c:pt idx="11">
                  <c:v>S42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85.28</c:v>
                </c:pt>
                <c:pt idx="1">
                  <c:v>23.11</c:v>
                </c:pt>
                <c:pt idx="2">
                  <c:v>56.72</c:v>
                </c:pt>
                <c:pt idx="3">
                  <c:v>15.59</c:v>
                </c:pt>
                <c:pt idx="4">
                  <c:v>32.74</c:v>
                </c:pt>
                <c:pt idx="5">
                  <c:v>37.84</c:v>
                </c:pt>
                <c:pt idx="6">
                  <c:v>18.55</c:v>
                </c:pt>
                <c:pt idx="7">
                  <c:v>12.46</c:v>
                </c:pt>
                <c:pt idx="8">
                  <c:v>18.36</c:v>
                </c:pt>
                <c:pt idx="9">
                  <c:v>21.91</c:v>
                </c:pt>
                <c:pt idx="10">
                  <c:v>2.38</c:v>
                </c:pt>
                <c:pt idx="11">
                  <c:v>0</c:v>
                </c:pt>
              </c:numCache>
            </c:numRef>
          </c:val>
        </c:ser>
        <c:dLbls>
          <c:numFmt formatCode="0;;&quot;0&quot;" sourceLinked="0"/>
          <c:txPr>
            <a:bodyPr/>
            <a:lstStyle/>
            <a:p>
              <a:pPr>
                <a:defRPr sz="1000" b="1">
                  <a:solidFill>
                    <a:srgbClr val="0F2F8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12800000000001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50" b="1">
                <a:solidFill>
                  <a:srgbClr val="16233F"/>
                </a:solidFill>
              </a:rPr>
              <a:t>Tapados até a semana 42, ano a ano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 até a semana</c:v>
                </c:pt>
              </c:strCache>
            </c:strRef>
          </c:tx>
          <c:spPr>
            <a:solidFill>
              <a:srgbClr val="9CC6F7"/>
            </a:solidFill>
          </c:spPr>
          <c:dPt>
            <c:idx val="5"/>
            <c:spPr>
              <a:solidFill>
                <a:srgbClr val="0A7BEA"/>
              </a:solidFill>
            </c:spPr>
          </c:dPt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20544</c:v>
                </c:pt>
                <c:pt idx="1">
                  <c:v>16725</c:v>
                </c:pt>
                <c:pt idx="2">
                  <c:v>17414</c:v>
                </c:pt>
                <c:pt idx="3">
                  <c:v>17899</c:v>
                </c:pt>
                <c:pt idx="4">
                  <c:v>16832</c:v>
                </c:pt>
                <c:pt idx="5">
                  <c:v>16401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100" b="1">
                  <a:solidFill>
                    <a:srgbClr val="16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ln w="34925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Sheet1!$A$2:$A$43</c:f>
              <c:strCache>
                <c:ptCount val="4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</c:strCache>
            </c:strRef>
          </c:cat>
          <c:val>
            <c:numRef>
              <c:f>Sheet1!$B$2:$B$43</c:f>
              <c:numCache>
                <c:formatCode>General</c:formatCode>
                <c:ptCount val="42"/>
                <c:pt idx="0">
                  <c:v>184</c:v>
                </c:pt>
                <c:pt idx="1">
                  <c:v>347</c:v>
                </c:pt>
                <c:pt idx="2">
                  <c:v>385</c:v>
                </c:pt>
                <c:pt idx="3">
                  <c:v>389</c:v>
                </c:pt>
                <c:pt idx="4">
                  <c:v>382</c:v>
                </c:pt>
                <c:pt idx="5">
                  <c:v>308</c:v>
                </c:pt>
                <c:pt idx="6">
                  <c:v>139</c:v>
                </c:pt>
                <c:pt idx="7">
                  <c:v>347</c:v>
                </c:pt>
                <c:pt idx="8">
                  <c:v>402</c:v>
                </c:pt>
                <c:pt idx="9">
                  <c:v>269</c:v>
                </c:pt>
                <c:pt idx="10">
                  <c:v>398</c:v>
                </c:pt>
                <c:pt idx="11">
                  <c:v>347</c:v>
                </c:pt>
                <c:pt idx="12">
                  <c:v>257</c:v>
                </c:pt>
                <c:pt idx="13">
                  <c:v>96</c:v>
                </c:pt>
                <c:pt idx="14">
                  <c:v>365</c:v>
                </c:pt>
                <c:pt idx="15">
                  <c:v>393</c:v>
                </c:pt>
                <c:pt idx="16">
                  <c:v>447</c:v>
                </c:pt>
                <c:pt idx="17">
                  <c:v>195</c:v>
                </c:pt>
                <c:pt idx="18">
                  <c:v>284</c:v>
                </c:pt>
                <c:pt idx="19">
                  <c:v>484</c:v>
                </c:pt>
                <c:pt idx="20">
                  <c:v>471</c:v>
                </c:pt>
                <c:pt idx="21">
                  <c:v>474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366</c:v>
                </c:pt>
                <c:pt idx="29">
                  <c:v>469</c:v>
                </c:pt>
                <c:pt idx="30">
                  <c:v>423</c:v>
                </c:pt>
                <c:pt idx="31">
                  <c:v>513</c:v>
                </c:pt>
                <c:pt idx="32">
                  <c:v>368</c:v>
                </c:pt>
                <c:pt idx="33">
                  <c:v>534</c:v>
                </c:pt>
                <c:pt idx="34">
                  <c:v>522</c:v>
                </c:pt>
                <c:pt idx="35">
                  <c:v>338</c:v>
                </c:pt>
                <c:pt idx="36">
                  <c:v>492</c:v>
                </c:pt>
                <c:pt idx="37">
                  <c:v>390</c:v>
                </c:pt>
                <c:pt idx="38">
                  <c:v>320</c:v>
                </c:pt>
                <c:pt idx="39">
                  <c:v>426</c:v>
                </c:pt>
                <c:pt idx="40">
                  <c:v>359</c:v>
                </c:pt>
                <c:pt idx="41">
                  <c:v>239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ln w="22225">
              <a:solidFill>
                <a:srgbClr val="A9B8CC"/>
              </a:solidFill>
            </a:ln>
          </c:spPr>
          <c:marker>
            <c:symbol val="none"/>
          </c:marker>
          <c:cat>
            <c:strRef>
              <c:f>Sheet1!$A$2:$A$43</c:f>
              <c:strCache>
                <c:ptCount val="4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</c:strCache>
            </c:strRef>
          </c:cat>
          <c:val>
            <c:numRef>
              <c:f>Sheet1!$C$2:$C$43</c:f>
              <c:numCache>
                <c:formatCode>General</c:formatCode>
                <c:ptCount val="42"/>
                <c:pt idx="0">
                  <c:v>232</c:v>
                </c:pt>
                <c:pt idx="1">
                  <c:v>180</c:v>
                </c:pt>
                <c:pt idx="2">
                  <c:v>267</c:v>
                </c:pt>
                <c:pt idx="3">
                  <c:v>236</c:v>
                </c:pt>
                <c:pt idx="4">
                  <c:v>202</c:v>
                </c:pt>
                <c:pt idx="5">
                  <c:v>285</c:v>
                </c:pt>
                <c:pt idx="6">
                  <c:v>339</c:v>
                </c:pt>
                <c:pt idx="7">
                  <c:v>382</c:v>
                </c:pt>
                <c:pt idx="8">
                  <c:v>564</c:v>
                </c:pt>
                <c:pt idx="10">
                  <c:v>326</c:v>
                </c:pt>
                <c:pt idx="11">
                  <c:v>325</c:v>
                </c:pt>
                <c:pt idx="12">
                  <c:v>284</c:v>
                </c:pt>
                <c:pt idx="13">
                  <c:v>321</c:v>
                </c:pt>
                <c:pt idx="14">
                  <c:v>285</c:v>
                </c:pt>
                <c:pt idx="15">
                  <c:v>393</c:v>
                </c:pt>
                <c:pt idx="16">
                  <c:v>243</c:v>
                </c:pt>
                <c:pt idx="17">
                  <c:v>301</c:v>
                </c:pt>
                <c:pt idx="18">
                  <c:v>284</c:v>
                </c:pt>
                <c:pt idx="19">
                  <c:v>115</c:v>
                </c:pt>
                <c:pt idx="20">
                  <c:v>471</c:v>
                </c:pt>
                <c:pt idx="21">
                  <c:v>487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527</c:v>
                </c:pt>
                <c:pt idx="29">
                  <c:v>469</c:v>
                </c:pt>
                <c:pt idx="30">
                  <c:v>423</c:v>
                </c:pt>
                <c:pt idx="31">
                  <c:v>522</c:v>
                </c:pt>
                <c:pt idx="32">
                  <c:v>397</c:v>
                </c:pt>
                <c:pt idx="33">
                  <c:v>534</c:v>
                </c:pt>
                <c:pt idx="34">
                  <c:v>552</c:v>
                </c:pt>
                <c:pt idx="35">
                  <c:v>456</c:v>
                </c:pt>
                <c:pt idx="36">
                  <c:v>670</c:v>
                </c:pt>
                <c:pt idx="37">
                  <c:v>528</c:v>
                </c:pt>
                <c:pt idx="38">
                  <c:v>548</c:v>
                </c:pt>
                <c:pt idx="39">
                  <c:v>452</c:v>
                </c:pt>
                <c:pt idx="40">
                  <c:v>567</c:v>
                </c:pt>
                <c:pt idx="41">
                  <c:v>386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span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200" b="1">
                <a:solidFill>
                  <a:srgbClr val="16233F"/>
                </a:solidFill>
              </a:rPr>
              <a:t>Demandas em aberto por RPA</a:t>
            </a:r>
          </a:p>
        </c:rich>
      </c:tx>
      <c:layout/>
      <c:overlay val="0"/>
    </c:title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Participação</c:v>
                </c:pt>
              </c:strCache>
            </c:strRef>
          </c:tx>
          <c:dPt>
            <c:idx val="0"/>
            <c:spPr>
              <a:solidFill>
                <a:srgbClr val="0A7BEA"/>
              </a:solidFill>
            </c:spPr>
          </c:dPt>
          <c:dPt>
            <c:idx val="1"/>
            <c:spPr>
              <a:solidFill>
                <a:srgbClr val="12A4B6"/>
              </a:solidFill>
            </c:spPr>
          </c:dPt>
          <c:dPt>
            <c:idx val="2"/>
            <c:spPr>
              <a:solidFill>
                <a:srgbClr val="17A35B"/>
              </a:solidFill>
            </c:spPr>
          </c:dPt>
          <c:dPt>
            <c:idx val="3"/>
            <c:spPr>
              <a:solidFill>
                <a:srgbClr val="F2A900"/>
              </a:solidFill>
            </c:spPr>
          </c:dPt>
          <c:dPt>
            <c:idx val="4"/>
            <c:spPr>
              <a:solidFill>
                <a:srgbClr val="E5383B"/>
              </a:solidFill>
            </c:spPr>
          </c:dPt>
          <c:dPt>
            <c:idx val="5"/>
            <c:spPr>
              <a:solidFill>
                <a:srgbClr val="7B4FD6"/>
              </a:solidFill>
            </c:spPr>
          </c:dPt>
          <c:cat>
            <c:strRef>
              <c:f>Sheet1!$A$2:$A$7</c:f>
              <c:strCache>
                <c:ptCount val="6"/>
                <c:pt idx="0">
                  <c:v>RPA 1 · Centro</c:v>
                </c:pt>
                <c:pt idx="1">
                  <c:v>RPA 2 · Norte</c:v>
                </c:pt>
                <c:pt idx="2">
                  <c:v>RPA 3 · Noroeste</c:v>
                </c:pt>
                <c:pt idx="3">
                  <c:v>RPA 4 · Oeste</c:v>
                </c:pt>
                <c:pt idx="4">
                  <c:v>RPA 5 · Sudoeste</c:v>
                </c:pt>
                <c:pt idx="5">
                  <c:v>RPA 6 · Sul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0.10743801652892562</c:v>
                </c:pt>
                <c:pt idx="1">
                  <c:v>0.09504132231404959</c:v>
                </c:pt>
                <c:pt idx="2">
                  <c:v>0.19008264462809918</c:v>
                </c:pt>
                <c:pt idx="3">
                  <c:v>0.19834710743801653</c:v>
                </c:pt>
                <c:pt idx="4">
                  <c:v>0.22727272727272727</c:v>
                </c:pt>
                <c:pt idx="5">
                  <c:v>0.18181818181818182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6233F"/>
                </a:solidFill>
              </a:rPr>
              <a:t>Buracos por frente — últimas 8 semanas</a:t>
            </a:r>
          </a:p>
        </c:rich>
      </c:tx>
      <c:layout/>
      <c:overlay val="0"/>
    </c:title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AGC</c:v>
                </c:pt>
              </c:strCache>
            </c:strRef>
          </c:tx>
          <c:spPr>
            <a:ln w="31750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S35</c:v>
                </c:pt>
                <c:pt idx="1">
                  <c:v>S36</c:v>
                </c:pt>
                <c:pt idx="2">
                  <c:v>S37</c:v>
                </c:pt>
                <c:pt idx="3">
                  <c:v>S38</c:v>
                </c:pt>
                <c:pt idx="4">
                  <c:v>S39</c:v>
                </c:pt>
                <c:pt idx="5">
                  <c:v>S40</c:v>
                </c:pt>
                <c:pt idx="6">
                  <c:v>S41</c:v>
                </c:pt>
                <c:pt idx="7">
                  <c:v>S42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9.0</c:v>
                </c:pt>
                <c:pt idx="1">
                  <c:v>8.03</c:v>
                </c:pt>
                <c:pt idx="2">
                  <c:v>9.56</c:v>
                </c:pt>
                <c:pt idx="3">
                  <c:v>8.43</c:v>
                </c:pt>
                <c:pt idx="4">
                  <c:v>6.43</c:v>
                </c:pt>
                <c:pt idx="5">
                  <c:v>8.6</c:v>
                </c:pt>
                <c:pt idx="6">
                  <c:v>10.84</c:v>
                </c:pt>
                <c:pt idx="7">
                  <c:v>8.6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LIDERMAC</c:v>
                </c:pt>
              </c:strCache>
            </c:strRef>
          </c:tx>
          <c:spPr>
            <a:ln w="31750">
              <a:solidFill>
                <a:srgbClr val="7B4FD6"/>
              </a:solidFill>
            </a:ln>
          </c:spPr>
          <c:marker>
            <c:symbol val="circle"/>
            <c:size val="6"/>
            <c:spPr>
              <a:solidFill>
                <a:srgbClr val="7B4FD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S35</c:v>
                </c:pt>
                <c:pt idx="1">
                  <c:v>S36</c:v>
                </c:pt>
                <c:pt idx="2">
                  <c:v>S37</c:v>
                </c:pt>
                <c:pt idx="3">
                  <c:v>S38</c:v>
                </c:pt>
                <c:pt idx="4">
                  <c:v>S39</c:v>
                </c:pt>
                <c:pt idx="5">
                  <c:v>S40</c:v>
                </c:pt>
                <c:pt idx="6">
                  <c:v>S41</c:v>
                </c:pt>
                <c:pt idx="7">
                  <c:v>S42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7.71</c:v>
                </c:pt>
                <c:pt idx="1">
                  <c:v>9.89</c:v>
                </c:pt>
                <c:pt idx="2">
                  <c:v>7.36</c:v>
                </c:pt>
                <c:pt idx="3">
                  <c:v>8.67</c:v>
                </c:pt>
                <c:pt idx="4">
                  <c:v>8.2</c:v>
                </c:pt>
                <c:pt idx="5">
                  <c:v>7.22</c:v>
                </c:pt>
                <c:pt idx="6">
                  <c:v>8.8</c:v>
                </c:pt>
                <c:pt idx="7">
                  <c:v>8.38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4.0"/>
        </c:scaling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5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Operação Tapa-Buraco — semana Emlurb 42 (14/10 a 20/10/2026).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Semana 42: 239 buracos tapados e saldo de 145 a tapar.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Tapados (azul) e saldo a tapar (amarelo) por semana; abaixo, a chuva de cada semana (0 = semana sem chuva).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Acumulado de buracos tapados até esta semana, comparado com o mesmo período dos anos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Participação de cada RPA e bairro nas demandas de buraco em aberto ao fim 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Frentes de serviço da semana por empresa e RPA. Quadradinhos = buracos tapados por dia (qua → ter)  ·  0 em laranja = dia útil sem frente  ·  S/D fim de semana  ·  F feriado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Buracos tapados por RPA e dia (número pequeno = frentes no dia). Total da semana × semana anterior e média de buracos por frente.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1.xml"/><Relationship Id="rId6" Type="http://schemas.openxmlformats.org/officeDocument/2006/relationships/chart" Target="../charts/chart2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5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6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463040"/>
            <a:ext cx="6583680" cy="658368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21040" y="-731520"/>
            <a:ext cx="5120640" cy="5120640"/>
          </a:xfrm>
          <a:prstGeom prst="ellipse">
            <a:avLst/>
          </a:prstGeom>
          <a:solidFill>
            <a:srgbClr val="1E6F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Pie 11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10597" y="2998317"/>
            <a:ext cx="312724" cy="3127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23526" y="3154680"/>
            <a:ext cx="86868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Block Arc 14"/>
          <p:cNvSpPr/>
          <p:nvPr/>
        </p:nvSpPr>
        <p:spPr>
          <a:xfrm>
            <a:off x="9619488" y="4197096"/>
            <a:ext cx="390906" cy="694944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2398426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C20E"/>
                </a:solidFill>
                <a:latin typeface="Calibri"/>
              </a:rPr>
              <a:t>OPERAÇÃO TAPA-BURACO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Semana 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290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D7E7FF"/>
                </a:solidFill>
                <a:latin typeface="Calibri"/>
              </a:rPr>
              <a:t>14/10 a 20/10/2026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2336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BFD7FB"/>
                </a:solidFill>
                <a:latin typeface="Calibri"/>
              </a:rPr>
              <a:t>Buracos tapados e saldo a tapar  ·  Onde estão as demandas  ·  Frentes de serviço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0819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Relatório semanal  ·  </a:t>
            </a:r>
            <a:r>
              <a:rPr sz="1300" b="1" i="0">
                <a:solidFill>
                  <a:srgbClr val="5B6B82"/>
                </a:solidFill>
                <a:latin typeface="Calibri"/>
              </a:rPr>
              <a:t>29/10/2026</a:t>
            </a:r>
          </a:p>
        </p:txBody>
      </p:sp>
      <p:pic>
        <p:nvPicPr>
          <p:cNvPr id="27" name="Picture 26" descr="logo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9533" y="6099048"/>
            <a:ext cx="569242" cy="566928"/>
          </a:xfrm>
          <a:prstGeom prst="rect">
            <a:avLst/>
          </a:prstGeom>
        </p:spPr>
      </p:pic>
      <p:pic>
        <p:nvPicPr>
          <p:cNvPr id="28" name="Picture 27" descr="logo_emlur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2202" y="6099048"/>
            <a:ext cx="1027291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A SEMANA EM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239 buracos tapados na semana 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2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4572000" cy="324612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Pie 16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Pie 17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ie 18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Pie 21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ie 22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Pie 23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5296" y="2304745"/>
            <a:ext cx="90525" cy="90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175564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20E"/>
                </a:solidFill>
                <a:latin typeface="Calibri"/>
              </a:rPr>
              <a:t>BURACOS TAPADOS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0299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239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355847"/>
            <a:ext cx="2926080" cy="365760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35584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B3B3"/>
                </a:solidFill>
                <a:latin typeface="Calibri"/>
              </a:rPr>
              <a:t>▼ 33%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semana 41 (359)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90448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BFD7FB"/>
                </a:solidFill>
                <a:latin typeface="Calibri"/>
              </a:rPr>
              <a:t>Média semanal do ano: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390</a:t>
            </a:r>
          </a:p>
          <a:p>
            <a:pPr algn="l">
              <a:spcBef>
                <a:spcPts val="400"/>
              </a:spcBef>
            </a:pPr>
            <a:r>
              <a:rPr sz="1250" b="0" i="0">
                <a:solidFill>
                  <a:srgbClr val="BFD7FB"/>
                </a:solidFill>
                <a:latin typeface="Calibri"/>
              </a:rPr>
              <a:t>esta semana ficou 39% abaixo da média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03520" y="1481328"/>
            <a:ext cx="324612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03520" y="1709928"/>
            <a:ext cx="73152" cy="8229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8C28"/>
                </a:solidFill>
                <a:latin typeface="Calibri"/>
              </a:rPr>
              <a:t>NÃO TAPADOS (SALDO)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2029968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145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7840" y="2990088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0" y="299008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7A35B"/>
                </a:solidFill>
                <a:latin typeface="Calibri"/>
              </a:rPr>
              <a:t>▼ 8%</a:t>
            </a:r>
            <a:r>
              <a:rPr sz="1050" b="0" i="0">
                <a:solidFill>
                  <a:srgbClr val="17A35B"/>
                </a:solidFill>
                <a:latin typeface="Calibri"/>
              </a:rPr>
              <a:t>  vs semana 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35387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TAXA DE EXECUÇÃO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376732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546C0"/>
                </a:solidFill>
                <a:latin typeface="Calibri"/>
              </a:rPr>
              <a:t>62%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3813048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 ÷ (tapados + saldo)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77840" y="4334256"/>
            <a:ext cx="2697480" cy="146304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577840" y="4334256"/>
            <a:ext cx="1678900" cy="146304"/>
          </a:xfrm>
          <a:prstGeom prst="roundRect">
            <a:avLst>
              <a:gd name="adj" fmla="val 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778240" y="1481328"/>
            <a:ext cx="2910535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778240" y="1709928"/>
            <a:ext cx="73152" cy="82296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A7BEA"/>
                </a:solidFill>
                <a:latin typeface="Calibri"/>
              </a:rPr>
              <a:t>CHUVA NA SEMANA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02996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0</a:t>
            </a:r>
            <a:r>
              <a:rPr sz="2000" b="0" i="0">
                <a:solidFill>
                  <a:srgbClr val="5B6B82"/>
                </a:solidFill>
                <a:latin typeface="Calibri"/>
              </a:rPr>
              <a:t> mm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2560" y="2990088"/>
            <a:ext cx="2361895" cy="329184"/>
          </a:xfrm>
          <a:prstGeom prst="roundRect">
            <a:avLst>
              <a:gd name="adj" fmla="val 50000"/>
            </a:avLst>
          </a:prstGeom>
          <a:solidFill>
            <a:srgbClr val="E3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52560" y="2990088"/>
            <a:ext cx="236189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46C0"/>
                </a:solidFill>
                <a:latin typeface="Calibri"/>
              </a:rPr>
              <a:t>▼ 100%</a:t>
            </a:r>
            <a:r>
              <a:rPr sz="1050" b="0" i="0">
                <a:solidFill>
                  <a:srgbClr val="1546C0"/>
                </a:solidFill>
                <a:latin typeface="Calibri"/>
              </a:rPr>
              <a:t>  vs média histórica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35387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ACUMULADO NO ANO</a:t>
            </a:r>
          </a:p>
          <a:p>
            <a:pPr algn="l">
              <a:spcBef>
                <a:spcPts val="200"/>
              </a:spcBef>
            </a:pPr>
            <a:r>
              <a:rPr sz="2600" b="1" i="0">
                <a:solidFill>
                  <a:srgbClr val="1546C0"/>
                </a:solidFill>
                <a:latin typeface="Calibri"/>
              </a:rPr>
              <a:t>2.102 mm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4928616"/>
            <a:ext cx="91440" cy="114300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TAPADOS EM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16.401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94760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42 semanas · média de 390 por semana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0147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0147" y="4928616"/>
            <a:ext cx="91440" cy="1143000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0187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SALDO MÉDIO DO ANO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0187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01987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não tapados por semana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EVOLUÇÃO · ÚLTIMAS 12 SEMANAS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Média semanal do ano: 390 buracos tapados (semanas 01 a 42)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3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1118585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1572768"/>
          <a:ext cx="10911535" cy="32461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" y="4773168"/>
          <a:ext cx="10911535" cy="12344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O ANO ATÉ AQUI · ATÉ A SEMANA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16.401 buracos tapados em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4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3566160" cy="23774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70992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TAPADOS EM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8424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16.401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898648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89864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B3B3"/>
                </a:solidFill>
                <a:latin typeface="Calibri"/>
              </a:rPr>
              <a:t>▼ 3%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2025 (16.832)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4015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FD7FB"/>
                </a:solidFill>
                <a:latin typeface="Calibri"/>
              </a:rPr>
              <a:t>mesmo período: semanas 1 a 42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481328"/>
            <a:ext cx="7391095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434840" y="1527048"/>
          <a:ext cx="7116775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502920" y="4041648"/>
            <a:ext cx="11185855" cy="2212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640080" y="4087368"/>
          <a:ext cx="10911535" cy="212140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02920" y="6272784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B82"/>
                </a:solidFill>
                <a:latin typeface="Calibri"/>
              </a:rPr>
              <a:t>Sem Números Emlurb informados na semana 10/2025: a linha liga as semanas vizinhas.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ONDE ESTÃO AS DEMANDAS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RPA 5 (Sudoeste) concentra 23% das demandas em aberto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5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4754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94360" y="1591056"/>
          <a:ext cx="4572000" cy="43434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0" y="1481328"/>
            <a:ext cx="620237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664208"/>
            <a:ext cx="56537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233F"/>
                </a:solidFill>
                <a:latin typeface="Calibri"/>
              </a:rPr>
              <a:t>Bairros com maior participação nas demandas em aberto</a:t>
            </a:r>
          </a:p>
        </p:txBody>
      </p:sp>
      <p:sp>
        <p:nvSpPr>
          <p:cNvPr id="20" name="Oval 19"/>
          <p:cNvSpPr/>
          <p:nvPr/>
        </p:nvSpPr>
        <p:spPr>
          <a:xfrm>
            <a:off x="5760720" y="2121408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1214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Varzea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203704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80" y="2203704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8655" y="21214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6,6%</a:t>
            </a:r>
          </a:p>
        </p:txBody>
      </p:sp>
      <p:sp>
        <p:nvSpPr>
          <p:cNvPr id="26" name="Oval 25"/>
          <p:cNvSpPr/>
          <p:nvPr/>
        </p:nvSpPr>
        <p:spPr>
          <a:xfrm>
            <a:off x="5760720" y="2468880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468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2468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Tejipio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2551176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80" y="2551176"/>
            <a:ext cx="1999964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28655" y="24688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6,2%</a:t>
            </a:r>
          </a:p>
        </p:txBody>
      </p:sp>
      <p:sp>
        <p:nvSpPr>
          <p:cNvPr id="32" name="Oval 31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28163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Jardim Sao Paulo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2898648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12480" y="2898648"/>
            <a:ext cx="1866633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28655" y="28163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5,8%</a:t>
            </a:r>
          </a:p>
        </p:txBody>
      </p:sp>
      <p:sp>
        <p:nvSpPr>
          <p:cNvPr id="38" name="Oval 37"/>
          <p:cNvSpPr/>
          <p:nvPr/>
        </p:nvSpPr>
        <p:spPr>
          <a:xfrm>
            <a:off x="5760720" y="316382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31638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200" y="31638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Cordeiro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0" y="3246120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12480" y="3246120"/>
            <a:ext cx="1733302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728655" y="31638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5,4%</a:t>
            </a:r>
          </a:p>
        </p:txBody>
      </p:sp>
      <p:sp>
        <p:nvSpPr>
          <p:cNvPr id="44" name="Oval 43"/>
          <p:cNvSpPr/>
          <p:nvPr/>
        </p:nvSpPr>
        <p:spPr>
          <a:xfrm>
            <a:off x="5760720" y="351129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35112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351129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Ibura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3593592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412480" y="3593592"/>
            <a:ext cx="1466640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28655" y="3511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4,5%</a:t>
            </a:r>
          </a:p>
        </p:txBody>
      </p:sp>
      <p:sp>
        <p:nvSpPr>
          <p:cNvPr id="50" name="Oval 49"/>
          <p:cNvSpPr/>
          <p:nvPr/>
        </p:nvSpPr>
        <p:spPr>
          <a:xfrm>
            <a:off x="5760720" y="3858768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6072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858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Iputinga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3941064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412480" y="3941064"/>
            <a:ext cx="1333309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28655" y="38587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4,1%</a:t>
            </a:r>
          </a:p>
        </p:txBody>
      </p:sp>
      <p:sp>
        <p:nvSpPr>
          <p:cNvPr id="56" name="Oval 55"/>
          <p:cNvSpPr/>
          <p:nvPr/>
        </p:nvSpPr>
        <p:spPr>
          <a:xfrm>
            <a:off x="5760720" y="4206240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60720" y="42062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4206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Espinheiro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12480" y="4288536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412480" y="4288536"/>
            <a:ext cx="1199978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728655" y="4206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3,7%</a:t>
            </a:r>
          </a:p>
        </p:txBody>
      </p:sp>
      <p:sp>
        <p:nvSpPr>
          <p:cNvPr id="62" name="Oval 61"/>
          <p:cNvSpPr/>
          <p:nvPr/>
        </p:nvSpPr>
        <p:spPr>
          <a:xfrm>
            <a:off x="5760720" y="4553712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60720" y="4553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72200" y="45537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Imbiribeira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12480" y="4636008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412480" y="4636008"/>
            <a:ext cx="1066647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28655" y="4553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3,3%</a:t>
            </a:r>
          </a:p>
        </p:txBody>
      </p:sp>
      <p:sp>
        <p:nvSpPr>
          <p:cNvPr id="68" name="Oval 67"/>
          <p:cNvSpPr/>
          <p:nvPr/>
        </p:nvSpPr>
        <p:spPr>
          <a:xfrm>
            <a:off x="5760720" y="490118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760720" y="49011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72200" y="490118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Cohab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12480" y="4983480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412480" y="4983480"/>
            <a:ext cx="1066647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28655" y="49011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3,3%</a:t>
            </a:r>
          </a:p>
        </p:txBody>
      </p:sp>
      <p:sp>
        <p:nvSpPr>
          <p:cNvPr id="74" name="Oval 73"/>
          <p:cNvSpPr/>
          <p:nvPr/>
        </p:nvSpPr>
        <p:spPr>
          <a:xfrm>
            <a:off x="5760720" y="524865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760720" y="52486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52486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Boa Vista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12480" y="5330952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412480" y="5330952"/>
            <a:ext cx="1066647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8655" y="5248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3,3%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60720" y="5705856"/>
            <a:ext cx="565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B6B82"/>
                </a:solidFill>
                <a:latin typeface="Calibri"/>
              </a:rPr>
              <a:t>Os 3 primeiros bairros somam 19% das demandas em aberto da cidade.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AGC E LIDERMAC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239 buracos tapados pelas frentes  ·  AGC 172  ·  LIDERMAC 67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6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ag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124" y="1636776"/>
            <a:ext cx="57927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1, RPA 2, RPA 3, RPA 4, RPA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4 de 7 dias com frente · 1 dia(s) útil(eis) sem nenhuma frente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172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37%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8,6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21%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0147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7B4FD6"/>
              </a:gs>
              <a:gs pos="100000">
                <a:srgbClr val="4B2A9E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84467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liderma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7921" y="1636776"/>
            <a:ext cx="1056132" cy="2560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84467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4467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4 de 7 dias com frente · 1 dia(s) útil(eis) sem nenhuma frente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186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186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67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1867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1867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24%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9634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634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8,4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96347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96347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5%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2944368"/>
            <a:ext cx="82296" cy="1604772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7BEA"/>
                </a:solidFill>
                <a:latin typeface="Calibri"/>
              </a:rPr>
              <a:t>RPA 1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Centro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62986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62986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74520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74520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4%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(23)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74520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5,5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-28%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92769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92769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769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540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540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40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152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152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152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5765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765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765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0377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377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377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990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990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90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98594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98594" y="2944368"/>
            <a:ext cx="82296" cy="1604772"/>
          </a:xfrm>
          <a:prstGeom prst="rect">
            <a:avLst/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27194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E8C9C"/>
                </a:solidFill>
                <a:latin typeface="Calibri"/>
              </a:rPr>
              <a:t>RPA 2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Norte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658660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8660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7194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7194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70194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70194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26%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(54)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0194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13,3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+48%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27194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27194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27194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8844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98844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8844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4969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4969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4969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91094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1094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1094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219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7219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7219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83344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3344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3344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29469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9469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9469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094268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094268" y="2944368"/>
            <a:ext cx="82296" cy="1604772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22868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A35B"/>
                </a:solidFill>
                <a:latin typeface="Calibri"/>
              </a:rPr>
              <a:t>RPA 3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Noroeste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0454335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454335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22868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42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22868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9465868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465868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56%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(96)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65868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8,4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-30%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3228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228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228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7841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841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7841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2453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2453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453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7066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066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7066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016786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16786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6786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06291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6291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291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1090365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1090365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090365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0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02920" y="4686300"/>
            <a:ext cx="82296" cy="160477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1520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A900"/>
                </a:solidFill>
                <a:latin typeface="Calibri"/>
              </a:rPr>
              <a:t>RPA 4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Oeste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862986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862986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1520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1520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874520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874520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18%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(61)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874520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10,0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-34%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31520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1520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192769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92769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92769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6540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540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540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1152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1152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152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765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765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765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0377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0377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0377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4990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4990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990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298594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298594" y="4686300"/>
            <a:ext cx="82296" cy="1604772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27194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5383B"/>
                </a:solidFill>
                <a:latin typeface="Calibri"/>
              </a:rPr>
              <a:t>RPA 5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Sudoeste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658660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658660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27194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18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527194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670194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670194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51%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(37)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70194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6,0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-35%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4527194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27194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27194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498844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8844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98844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544969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44969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44969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591094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91094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91094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637219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37219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37219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83344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83344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83344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729469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729469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29469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8094268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094268" y="4686300"/>
            <a:ext cx="82296" cy="1604772"/>
          </a:xfrm>
          <a:prstGeom prst="rect">
            <a:avLst/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322868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4FD6"/>
                </a:solidFill>
                <a:latin typeface="Calibri"/>
              </a:rPr>
              <a:t>RPA 6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Sul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10454335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454335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LIDERMAC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322868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67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22868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9465868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465868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24%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(88)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465868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8,4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-5%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3228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228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83228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87841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7841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87841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92453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92453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453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97066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7066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7066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1016786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016786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16786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06291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6291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06291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11090365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1090365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1090365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02920" y="62544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Quadradinhos = buracos tapados por dia (qua → ter)  ·  0 em laranja = dia útil sem frente  ·  S/D fim de semana  ·  F feriado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DIA A 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8,5 buracos por frente — 17% abaixo da semana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7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481328"/>
          <a:ext cx="11185848" cy="3291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68"/>
                <a:gridCol w="936054"/>
                <a:gridCol w="936054"/>
                <a:gridCol w="936054"/>
                <a:gridCol w="936054"/>
                <a:gridCol w="936054"/>
                <a:gridCol w="936054"/>
                <a:gridCol w="936054"/>
                <a:gridCol w="889252"/>
                <a:gridCol w="889252"/>
                <a:gridCol w="795646"/>
                <a:gridCol w="8892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RPA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 14/10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qui 15/10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sex 16/10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sáb 17/10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sábado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dom 18/10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domingo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seg 19/10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ter 20/10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da semana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sem. anterior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Média por frente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A7BEA"/>
                          </a:solidFill>
                          <a:latin typeface="Calibri"/>
                        </a:rPr>
                        <a:t>RPA 1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4%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5,5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7,7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2A4B6"/>
                          </a:solidFill>
                          <a:latin typeface="Calibri"/>
                        </a:rPr>
                        <a:t>RPA 2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26%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13,3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9,0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7A35B"/>
                          </a:solidFill>
                          <a:latin typeface="Calibri"/>
                        </a:rPr>
                        <a:t>RPA 3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56%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12,0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2A900"/>
                          </a:solidFill>
                          <a:latin typeface="Calibri"/>
                        </a:rPr>
                        <a:t>RPA 4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11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18%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10,0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15,2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E5383B"/>
                          </a:solidFill>
                          <a:latin typeface="Calibri"/>
                        </a:rPr>
                        <a:t>RPA 5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51%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6,0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9,2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7B4FD6"/>
                          </a:solidFill>
                          <a:latin typeface="Calibri"/>
                        </a:rPr>
                        <a:t>RPA 6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LIDERMAC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24%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8,8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239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33%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8,5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02920" y="4956048"/>
            <a:ext cx="111858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94360" y="5001768"/>
          <a:ext cx="11002975" cy="1197864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2926080"/>
            <a:ext cx="5943600" cy="594360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ie 3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84747" y="2632100"/>
            <a:ext cx="222199" cy="22219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64986" y="2743200"/>
            <a:ext cx="61722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lock Arc 13"/>
          <p:cNvSpPr/>
          <p:nvPr/>
        </p:nvSpPr>
        <p:spPr>
          <a:xfrm>
            <a:off x="5848959" y="3483864"/>
            <a:ext cx="277749" cy="493776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41605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Operação Tapa-Buraco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47548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D7E7FF"/>
                </a:solidFill>
                <a:latin typeface="Calibri"/>
              </a:rPr>
              <a:t>Semana 42  ·  14/10 a 20/10/2026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31" y="6112764"/>
            <a:ext cx="1798820" cy="548640"/>
          </a:xfrm>
          <a:prstGeom prst="rect">
            <a:avLst/>
          </a:prstGeom>
        </p:spPr>
      </p:pic>
      <p:pic>
        <p:nvPicPr>
          <p:cNvPr id="23" name="Picture 2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991" y="6103620"/>
            <a:ext cx="1027291" cy="566928"/>
          </a:xfrm>
          <a:prstGeom prst="rect">
            <a:avLst/>
          </a:prstGeom>
        </p:spPr>
      </p:pic>
      <p:pic>
        <p:nvPicPr>
          <p:cNvPr id="24" name="Picture 23" descr="logo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922" y="6103620"/>
            <a:ext cx="569242" cy="566928"/>
          </a:xfrm>
          <a:prstGeom prst="rect">
            <a:avLst/>
          </a:prstGeom>
        </p:spPr>
      </p:pic>
      <p:pic>
        <p:nvPicPr>
          <p:cNvPr id="25" name="Picture 24" descr="vwaj_s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1847" y="61036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VWAJ</dc:creator>
  <cp:keywords/>
  <dc:description>generated using python-pptx</dc:description>
  <cp:lastModifiedBy>VWAJ</cp:lastModifiedBy>
  <cp:revision>1</cp:revision>
  <dcterms:created xsi:type="dcterms:W3CDTF">2013-01-27T09:14:16Z</dcterms:created>
  <dcterms:modified xsi:type="dcterms:W3CDTF">2013-01-27T09:15:58Z</dcterms:modified>
  <cp:category/>
</cp:coreProperties>
</file>