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S31
29/07</c:v>
                </c:pt>
                <c:pt idx="1">
                  <c:v>S32
05/08</c:v>
                </c:pt>
                <c:pt idx="2">
                  <c:v>S33
12/08</c:v>
                </c:pt>
                <c:pt idx="3">
                  <c:v>S34
19/08</c:v>
                </c:pt>
                <c:pt idx="4">
                  <c:v>S35
26/08</c:v>
                </c:pt>
                <c:pt idx="5">
                  <c:v>S36
02/09</c:v>
                </c:pt>
                <c:pt idx="6">
                  <c:v>S37
09/09</c:v>
                </c:pt>
                <c:pt idx="7">
                  <c:v>S38
16/09</c:v>
                </c:pt>
                <c:pt idx="8">
                  <c:v>S39
23/09</c:v>
                </c:pt>
                <c:pt idx="9">
                  <c:v>S40
30/09</c:v>
                </c:pt>
                <c:pt idx="10">
                  <c:v>S41
07/10</c:v>
                </c:pt>
                <c:pt idx="11">
                  <c:v>S42
14/10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423</c:v>
                </c:pt>
                <c:pt idx="1">
                  <c:v>513</c:v>
                </c:pt>
                <c:pt idx="2">
                  <c:v>368</c:v>
                </c:pt>
                <c:pt idx="3">
                  <c:v>534</c:v>
                </c:pt>
                <c:pt idx="4">
                  <c:v>522</c:v>
                </c:pt>
                <c:pt idx="5">
                  <c:v>338</c:v>
                </c:pt>
                <c:pt idx="6">
                  <c:v>492</c:v>
                </c:pt>
                <c:pt idx="7">
                  <c:v>390</c:v>
                </c:pt>
                <c:pt idx="8">
                  <c:v>320</c:v>
                </c:pt>
                <c:pt idx="9">
                  <c:v>426</c:v>
                </c:pt>
                <c:pt idx="10">
                  <c:v>359</c:v>
                </c:pt>
                <c:pt idx="11">
                  <c:v>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S31
29/07</c:v>
                </c:pt>
                <c:pt idx="1">
                  <c:v>S32
05/08</c:v>
                </c:pt>
                <c:pt idx="2">
                  <c:v>S33
12/08</c:v>
                </c:pt>
                <c:pt idx="3">
                  <c:v>S34
19/08</c:v>
                </c:pt>
                <c:pt idx="4">
                  <c:v>S35
26/08</c:v>
                </c:pt>
                <c:pt idx="5">
                  <c:v>S36
02/09</c:v>
                </c:pt>
                <c:pt idx="6">
                  <c:v>S37
09/09</c:v>
                </c:pt>
                <c:pt idx="7">
                  <c:v>S38
16/09</c:v>
                </c:pt>
                <c:pt idx="8">
                  <c:v>S39
23/09</c:v>
                </c:pt>
                <c:pt idx="9">
                  <c:v>S40
30/09</c:v>
                </c:pt>
                <c:pt idx="10">
                  <c:v>S41
07/10</c:v>
                </c:pt>
                <c:pt idx="11">
                  <c:v>S42
14/10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175</c:v>
                </c:pt>
                <c:pt idx="1">
                  <c:v>140</c:v>
                </c:pt>
                <c:pt idx="2">
                  <c:v>166</c:v>
                </c:pt>
                <c:pt idx="3">
                  <c:v>102</c:v>
                </c:pt>
                <c:pt idx="4">
                  <c:v>98</c:v>
                </c:pt>
                <c:pt idx="5">
                  <c:v>170</c:v>
                </c:pt>
                <c:pt idx="6">
                  <c:v>111</c:v>
                </c:pt>
                <c:pt idx="7">
                  <c:v>162</c:v>
                </c:pt>
                <c:pt idx="8">
                  <c:v>160</c:v>
                </c:pt>
                <c:pt idx="9">
                  <c:v>171</c:v>
                </c:pt>
                <c:pt idx="10">
                  <c:v>158</c:v>
                </c:pt>
                <c:pt idx="11">
                  <c:v>145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S31</c:v>
                </c:pt>
                <c:pt idx="1">
                  <c:v>S32</c:v>
                </c:pt>
                <c:pt idx="2">
                  <c:v>S33</c:v>
                </c:pt>
                <c:pt idx="3">
                  <c:v>S34</c:v>
                </c:pt>
                <c:pt idx="4">
                  <c:v>S35</c:v>
                </c:pt>
                <c:pt idx="5">
                  <c:v>S36</c:v>
                </c:pt>
                <c:pt idx="6">
                  <c:v>S37</c:v>
                </c:pt>
                <c:pt idx="7">
                  <c:v>S38</c:v>
                </c:pt>
                <c:pt idx="8">
                  <c:v>S39</c:v>
                </c:pt>
                <c:pt idx="9">
                  <c:v>S40</c:v>
                </c:pt>
                <c:pt idx="10">
                  <c:v>S41</c:v>
                </c:pt>
                <c:pt idx="11">
                  <c:v>S42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85.28</c:v>
                </c:pt>
                <c:pt idx="1">
                  <c:v>23.11</c:v>
                </c:pt>
                <c:pt idx="2">
                  <c:v>56.72</c:v>
                </c:pt>
                <c:pt idx="3">
                  <c:v>15.59</c:v>
                </c:pt>
                <c:pt idx="4">
                  <c:v>32.74</c:v>
                </c:pt>
                <c:pt idx="5">
                  <c:v>37.84</c:v>
                </c:pt>
                <c:pt idx="6">
                  <c:v>18.55</c:v>
                </c:pt>
                <c:pt idx="7">
                  <c:v>12.46</c:v>
                </c:pt>
                <c:pt idx="8">
                  <c:v>18.36</c:v>
                </c:pt>
                <c:pt idx="9">
                  <c:v>21.91</c:v>
                </c:pt>
                <c:pt idx="10">
                  <c:v>2.38</c:v>
                </c:pt>
                <c:pt idx="11">
                  <c:v>0</c:v>
                </c:pt>
              </c:numCache>
            </c:numRef>
          </c:val>
        </c:ser>
        <c:dLbls>
          <c:numFmt formatCode="0;;&quot;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42,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20544</c:v>
                </c:pt>
                <c:pt idx="1">
                  <c:v>16725</c:v>
                </c:pt>
                <c:pt idx="2">
                  <c:v>17414</c:v>
                </c:pt>
                <c:pt idx="3">
                  <c:v>17899</c:v>
                </c:pt>
                <c:pt idx="4">
                  <c:v>16832</c:v>
                </c:pt>
                <c:pt idx="5">
                  <c:v>16401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Sheet1!$A$2:$A$43</c:f>
              <c:strCache>
                <c:ptCount val="4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  <c:pt idx="39">
                  <c:v>426</c:v>
                </c:pt>
                <c:pt idx="40">
                  <c:v>359</c:v>
                </c:pt>
                <c:pt idx="41">
                  <c:v>239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  <c:pt idx="39">
                  <c:v>452</c:v>
                </c:pt>
                <c:pt idx="40">
                  <c:v>567</c:v>
                </c:pt>
                <c:pt idx="41">
                  <c:v>386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Demandas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0.1111111111111111</c:v>
                </c:pt>
                <c:pt idx="1">
                  <c:v>0.09876543209876543</c:v>
                </c:pt>
                <c:pt idx="2">
                  <c:v>0.1851851851851852</c:v>
                </c:pt>
                <c:pt idx="3">
                  <c:v>0.19753086419753085</c:v>
                </c:pt>
                <c:pt idx="4">
                  <c:v>0.22633744855967078</c:v>
                </c:pt>
                <c:pt idx="5">
                  <c:v>0.18106995884773663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S35</c:v>
                </c:pt>
                <c:pt idx="1">
                  <c:v>S36</c:v>
                </c:pt>
                <c:pt idx="2">
                  <c:v>S37</c:v>
                </c:pt>
                <c:pt idx="3">
                  <c:v>S38</c:v>
                </c:pt>
                <c:pt idx="4">
                  <c:v>S39</c:v>
                </c:pt>
                <c:pt idx="5">
                  <c:v>S40</c:v>
                </c:pt>
                <c:pt idx="6">
                  <c:v>S41</c:v>
                </c:pt>
                <c:pt idx="7">
                  <c:v>S42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9.0</c:v>
                </c:pt>
                <c:pt idx="1">
                  <c:v>8.03</c:v>
                </c:pt>
                <c:pt idx="2">
                  <c:v>9.56</c:v>
                </c:pt>
                <c:pt idx="3">
                  <c:v>8.43</c:v>
                </c:pt>
                <c:pt idx="4">
                  <c:v>6.43</c:v>
                </c:pt>
                <c:pt idx="5">
                  <c:v>8.6</c:v>
                </c:pt>
                <c:pt idx="6">
                  <c:v>10.84</c:v>
                </c:pt>
                <c:pt idx="7">
                  <c:v>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S35</c:v>
                </c:pt>
                <c:pt idx="1">
                  <c:v>S36</c:v>
                </c:pt>
                <c:pt idx="2">
                  <c:v>S37</c:v>
                </c:pt>
                <c:pt idx="3">
                  <c:v>S38</c:v>
                </c:pt>
                <c:pt idx="4">
                  <c:v>S39</c:v>
                </c:pt>
                <c:pt idx="5">
                  <c:v>S40</c:v>
                </c:pt>
                <c:pt idx="6">
                  <c:v>S41</c:v>
                </c:pt>
                <c:pt idx="7">
                  <c:v>S42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7.71</c:v>
                </c:pt>
                <c:pt idx="1">
                  <c:v>9.89</c:v>
                </c:pt>
                <c:pt idx="2">
                  <c:v>7.36</c:v>
                </c:pt>
                <c:pt idx="3">
                  <c:v>8.67</c:v>
                </c:pt>
                <c:pt idx="4">
                  <c:v>8.2</c:v>
                </c:pt>
                <c:pt idx="5">
                  <c:v>7.22</c:v>
                </c:pt>
                <c:pt idx="6">
                  <c:v>8.8</c:v>
                </c:pt>
                <c:pt idx="7">
                  <c:v>8.38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42 (14/10 a 20/10/2026).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42: 239 buracos tapados e saldo de 145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14/10 a 20/10/2026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24/10/2026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239 buracos tapados na semana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239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33%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41 (359)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390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39% abaixo da média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145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7A35B"/>
                </a:solidFill>
                <a:latin typeface="Calibri"/>
              </a:rPr>
              <a:t>▼ 8%</a:t>
            </a:r>
            <a:r>
              <a:rPr sz="1050" b="0" i="0">
                <a:solidFill>
                  <a:srgbClr val="17A35B"/>
                </a:solidFill>
                <a:latin typeface="Calibri"/>
              </a:rPr>
              <a:t>  vs semana 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62%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7840" y="4334256"/>
            <a:ext cx="1678900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0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▼ 100%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2.102 mm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16.401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42 semanas · média de 390 por semana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390 buracos tapados (semanas 01 a 42)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 ANO ATÉ AQUI · ATÉ A SEMANA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16.401 buracos tapados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16.401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3%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(16.832)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5 (Sudoeste) concentra 23% das demandas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618488"/>
          <a:ext cx="4572000" cy="4343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maior participação nas demandas em aberto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Varzea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2121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6,6%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Tejipio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55117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2551176"/>
            <a:ext cx="2042826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8655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6,2%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Jardim Sao Paulo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89864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898648"/>
            <a:ext cx="1906638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5" y="2816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5,8%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Cordeiro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24612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1770449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8655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5,3%</a:t>
            </a:r>
          </a:p>
        </p:txBody>
      </p:sp>
      <p:sp>
        <p:nvSpPr>
          <p:cNvPr id="44" name="Oval 43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Ibura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59359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3593592"/>
            <a:ext cx="1498072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8655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4,5%</a:t>
            </a:r>
          </a:p>
        </p:txBody>
      </p:sp>
      <p:sp>
        <p:nvSpPr>
          <p:cNvPr id="50" name="Oval 49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Iputinga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94106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941064"/>
            <a:ext cx="1361884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655" y="3858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4,1%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Espinheiro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28853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0" y="4288536"/>
            <a:ext cx="122569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8655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3,7%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63600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12480" y="4636008"/>
            <a:ext cx="108950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28655" y="4553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3,3%</a:t>
            </a:r>
          </a:p>
        </p:txBody>
      </p:sp>
      <p:sp>
        <p:nvSpPr>
          <p:cNvPr id="68" name="Oval 67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Vista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498348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983480"/>
            <a:ext cx="108950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8655" y="4901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3,3%</a:t>
            </a:r>
          </a:p>
        </p:txBody>
      </p:sp>
      <p:sp>
        <p:nvSpPr>
          <p:cNvPr id="74" name="Oval 73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Cohab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533095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12480" y="5330952"/>
            <a:ext cx="108950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8655" y="5248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3,3%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19% das demandas em aberto da 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239 buracos tapados pelas frentes  ·  AGC 172  ·  LIDERMAC 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4 de 7 dias com frente · 1 dia(s) útil(eis) sem nenhuma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172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37%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21%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4 de 7 dias com frente · 1 dia(s) útil(eis) sem nenhuma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67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(23)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5,5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-28%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26%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(54)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13,3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+48%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56%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(96)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8,4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-30%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18%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(61)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10,0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18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51%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(37)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67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24%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(88)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8,4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8,5 buracos por frente — 17% abaixo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42/2026  ·  14/10 a 20/10/2026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14/10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15/10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16/10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17/10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18/10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19/10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20/10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5,5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26%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13,3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9,0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56%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12,0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10,0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15,2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51%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9,2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24%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33%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8,5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42  ·  14/10 a 20/10/2026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