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6233F"/>
                </a:solidFill>
              </a:rPr>
              <a:t>Semana 42 por RPA</a:t>
            </a:r>
          </a:p>
        </c:rich>
      </c:tx>
      <c:layout/>
      <c:overlay val="0"/>
    </c:title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Buracos tapados</c:v>
                </c:pt>
              </c:strCache>
            </c:strRef>
          </c:tx>
          <c:spPr>
            <a:solidFill>
              <a:srgbClr val="0F2F86"/>
            </a:solidFill>
          </c:spPr>
          <c:cat>
            <c:strRef>
              <c:f>Sheet1!$A$2:$A$7</c:f>
              <c:strCache>
                <c:ptCount val="6"/>
                <c:pt idx="0">
                  <c:v>RPA 1</c:v>
                </c:pt>
                <c:pt idx="1">
                  <c:v>RPA 2</c:v>
                </c:pt>
                <c:pt idx="2">
                  <c:v>RPA 3</c:v>
                </c:pt>
                <c:pt idx="3">
                  <c:v>RPA 4</c:v>
                </c:pt>
                <c:pt idx="4">
                  <c:v>RPA 5</c:v>
                </c:pt>
                <c:pt idx="5">
                  <c:v>RPA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22</c:v>
                </c:pt>
                <c:pt idx="1">
                  <c:v>40</c:v>
                </c:pt>
                <c:pt idx="2">
                  <c:v>42</c:v>
                </c:pt>
                <c:pt idx="3">
                  <c:v>50</c:v>
                </c:pt>
                <c:pt idx="4">
                  <c:v>18</c:v>
                </c:pt>
                <c:pt idx="5">
                  <c:v>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Tapados S41</c:v>
                </c:pt>
              </c:strCache>
            </c:strRef>
          </c:tx>
          <c:spPr>
            <a:solidFill>
              <a:srgbClr val="A9B8CC"/>
            </a:solidFill>
          </c:spPr>
          <c:cat>
            <c:strRef>
              <c:f>Sheet1!$A$2:$A$7</c:f>
              <c:strCache>
                <c:ptCount val="6"/>
                <c:pt idx="0">
                  <c:v>RPA 1</c:v>
                </c:pt>
                <c:pt idx="1">
                  <c:v>RPA 2</c:v>
                </c:pt>
                <c:pt idx="2">
                  <c:v>RPA 3</c:v>
                </c:pt>
                <c:pt idx="3">
                  <c:v>RPA 4</c:v>
                </c:pt>
                <c:pt idx="4">
                  <c:v>RPA 5</c:v>
                </c:pt>
                <c:pt idx="5">
                  <c:v>RPA 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23</c:v>
                </c:pt>
                <c:pt idx="1">
                  <c:v>54</c:v>
                </c:pt>
                <c:pt idx="2">
                  <c:v>96</c:v>
                </c:pt>
                <c:pt idx="3">
                  <c:v>61</c:v>
                </c:pt>
                <c:pt idx="4">
                  <c:v>37</c:v>
                </c:pt>
                <c:pt idx="5">
                  <c:v>88</c:v>
                </c:pt>
              </c:numCache>
            </c:numRef>
          </c:val>
        </c:ser>
        <c:dLbls>
          <c:numFmt formatCode="#,##0;;&quot;&quot;" sourceLinked="0"/>
          <c:txPr>
            <a:bodyPr/>
            <a:lstStyle/>
            <a:p>
              <a:pPr>
                <a:defRPr sz="1100" b="1">
                  <a:solidFill>
                    <a:srgbClr val="16233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50"/>
          </a:pPr>
        </a:p>
      </c:txPr>
    </c:legend>
    <c:dispBlanksAs val="gap"/>
  </c:chart>
  <c:txPr>
    <a:bodyPr/>
    <a:lstStyle/>
    <a:p>
      <a:pPr>
        <a:defRPr sz="110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Tapados</c:v>
                </c:pt>
              </c:strCache>
            </c:strRef>
          </c:tx>
          <c:spPr>
            <a:solidFill>
              <a:srgbClr val="0A7BEA"/>
            </a:solidFill>
          </c:spPr>
          <c:dPt>
            <c:idx val="11"/>
            <c:spPr>
              <a:solidFill>
                <a:srgbClr val="0F2F86"/>
              </a:solidFill>
            </c:spPr>
          </c:dPt>
          <c:cat>
            <c:strRef>
              <c:f>Sheet1!$A$2:$A$13</c:f>
              <c:strCache>
                <c:ptCount val="12"/>
                <c:pt idx="0">
                  <c:v>S31
29/07</c:v>
                </c:pt>
                <c:pt idx="1">
                  <c:v>S32
05/08</c:v>
                </c:pt>
                <c:pt idx="2">
                  <c:v>S33
12/08</c:v>
                </c:pt>
                <c:pt idx="3">
                  <c:v>S34
19/08</c:v>
                </c:pt>
                <c:pt idx="4">
                  <c:v>S35
26/08</c:v>
                </c:pt>
                <c:pt idx="5">
                  <c:v>S36
02/09</c:v>
                </c:pt>
                <c:pt idx="6">
                  <c:v>S37
09/09</c:v>
                </c:pt>
                <c:pt idx="7">
                  <c:v>S38
16/09</c:v>
                </c:pt>
                <c:pt idx="8">
                  <c:v>S39
23/09</c:v>
                </c:pt>
                <c:pt idx="9">
                  <c:v>S40
30/09</c:v>
                </c:pt>
                <c:pt idx="10">
                  <c:v>S41
07/10</c:v>
                </c:pt>
                <c:pt idx="11">
                  <c:v>S42
14/10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423</c:v>
                </c:pt>
                <c:pt idx="1">
                  <c:v>513</c:v>
                </c:pt>
                <c:pt idx="2">
                  <c:v>368</c:v>
                </c:pt>
                <c:pt idx="3">
                  <c:v>534</c:v>
                </c:pt>
                <c:pt idx="4">
                  <c:v>522</c:v>
                </c:pt>
                <c:pt idx="5">
                  <c:v>338</c:v>
                </c:pt>
                <c:pt idx="6">
                  <c:v>492</c:v>
                </c:pt>
                <c:pt idx="7">
                  <c:v>390</c:v>
                </c:pt>
                <c:pt idx="8">
                  <c:v>320</c:v>
                </c:pt>
                <c:pt idx="9">
                  <c:v>426</c:v>
                </c:pt>
                <c:pt idx="10">
                  <c:v>359</c:v>
                </c:pt>
                <c:pt idx="11">
                  <c:v>239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Não tapados (saldo)</c:v>
                </c:pt>
              </c:strCache>
            </c:strRef>
          </c:tx>
          <c:spPr>
            <a:solidFill>
              <a:srgbClr val="FFC20E"/>
            </a:solidFill>
          </c:spPr>
          <c:dLbls>
            <c:numFmt formatCode="#,##0;;&quot;&quot;" sourceLinked="0"/>
            <c:txPr>
              <a:bodyPr/>
              <a:lstStyle/>
              <a:p>
                <a:pPr>
                  <a:defRPr sz="1200" b="1">
                    <a:solidFill>
                      <a:srgbClr val="16233F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S31
29/07</c:v>
                </c:pt>
                <c:pt idx="1">
                  <c:v>S32
05/08</c:v>
                </c:pt>
                <c:pt idx="2">
                  <c:v>S33
12/08</c:v>
                </c:pt>
                <c:pt idx="3">
                  <c:v>S34
19/08</c:v>
                </c:pt>
                <c:pt idx="4">
                  <c:v>S35
26/08</c:v>
                </c:pt>
                <c:pt idx="5">
                  <c:v>S36
02/09</c:v>
                </c:pt>
                <c:pt idx="6">
                  <c:v>S37
09/09</c:v>
                </c:pt>
                <c:pt idx="7">
                  <c:v>S38
16/09</c:v>
                </c:pt>
                <c:pt idx="8">
                  <c:v>S39
23/09</c:v>
                </c:pt>
                <c:pt idx="9">
                  <c:v>S40
30/09</c:v>
                </c:pt>
                <c:pt idx="10">
                  <c:v>S41
07/10</c:v>
                </c:pt>
                <c:pt idx="11">
                  <c:v>S42
14/10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175</c:v>
                </c:pt>
                <c:pt idx="1">
                  <c:v>140</c:v>
                </c:pt>
                <c:pt idx="2">
                  <c:v>166</c:v>
                </c:pt>
                <c:pt idx="3">
                  <c:v>102</c:v>
                </c:pt>
                <c:pt idx="4">
                  <c:v>98</c:v>
                </c:pt>
                <c:pt idx="5">
                  <c:v>170</c:v>
                </c:pt>
                <c:pt idx="6">
                  <c:v>111</c:v>
                </c:pt>
                <c:pt idx="7">
                  <c:v>162</c:v>
                </c:pt>
                <c:pt idx="8">
                  <c:v>160</c:v>
                </c:pt>
                <c:pt idx="9">
                  <c:v>171</c:v>
                </c:pt>
                <c:pt idx="10">
                  <c:v>158</c:v>
                </c:pt>
                <c:pt idx="11">
                  <c:v>145</c:v>
                </c:pt>
              </c:numCache>
            </c:numRef>
          </c:val>
        </c:ser>
        <c:dLbls>
          <c:numFmt formatCode="#,##0;;&quot;&quot;" sourceLinked="0"/>
          <c:txPr>
            <a:bodyPr/>
            <a:lstStyle/>
            <a:p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10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6233F"/>
                </a:solidFill>
              </a:rPr>
              <a:t>Chuva por semana (mm)</a:t>
            </a:r>
          </a:p>
        </c:rich>
      </c:tx>
      <c:layout/>
      <c:overlay val="0"/>
    </c:title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Chuva (mm)</c:v>
                </c:pt>
              </c:strCache>
            </c:strRef>
          </c:tx>
          <c:spPr>
            <a:solidFill>
              <a:srgbClr val="5FA3F0"/>
            </a:solidFill>
          </c:spPr>
          <c:cat>
            <c:strRef>
              <c:f>Sheet1!$A$2:$A$13</c:f>
              <c:strCache>
                <c:ptCount val="12"/>
                <c:pt idx="0">
                  <c:v>S31</c:v>
                </c:pt>
                <c:pt idx="1">
                  <c:v>S32</c:v>
                </c:pt>
                <c:pt idx="2">
                  <c:v>S33</c:v>
                </c:pt>
                <c:pt idx="3">
                  <c:v>S34</c:v>
                </c:pt>
                <c:pt idx="4">
                  <c:v>S35</c:v>
                </c:pt>
                <c:pt idx="5">
                  <c:v>S36</c:v>
                </c:pt>
                <c:pt idx="6">
                  <c:v>S37</c:v>
                </c:pt>
                <c:pt idx="7">
                  <c:v>S38</c:v>
                </c:pt>
                <c:pt idx="8">
                  <c:v>S39</c:v>
                </c:pt>
                <c:pt idx="9">
                  <c:v>S40</c:v>
                </c:pt>
                <c:pt idx="10">
                  <c:v>S41</c:v>
                </c:pt>
                <c:pt idx="11">
                  <c:v>S42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85.28</c:v>
                </c:pt>
                <c:pt idx="1">
                  <c:v>23.11</c:v>
                </c:pt>
                <c:pt idx="2">
                  <c:v>56.72</c:v>
                </c:pt>
                <c:pt idx="3">
                  <c:v>15.59</c:v>
                </c:pt>
                <c:pt idx="4">
                  <c:v>32.74</c:v>
                </c:pt>
                <c:pt idx="5">
                  <c:v>37.84</c:v>
                </c:pt>
                <c:pt idx="6">
                  <c:v>18.55</c:v>
                </c:pt>
                <c:pt idx="7">
                  <c:v>12.46</c:v>
                </c:pt>
                <c:pt idx="8">
                  <c:v>18.36</c:v>
                </c:pt>
                <c:pt idx="9">
                  <c:v>21.91</c:v>
                </c:pt>
                <c:pt idx="10">
                  <c:v>2.38</c:v>
                </c:pt>
                <c:pt idx="11">
                  <c:v>0</c:v>
                </c:pt>
              </c:numCache>
            </c:numRef>
          </c:val>
        </c:ser>
        <c:dLbls>
          <c:numFmt formatCode="0;;&quot;&quot;" sourceLinked="0"/>
          <c:txPr>
            <a:bodyPr/>
            <a:lstStyle/>
            <a:p>
              <a:pPr>
                <a:defRPr sz="1000" b="1">
                  <a:solidFill>
                    <a:srgbClr val="0F2F8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50" b="1">
                <a:solidFill>
                  <a:srgbClr val="16233F"/>
                </a:solidFill>
              </a:rPr>
              <a:t>Tapados até a semana 42, ano a ano</a:t>
            </a:r>
          </a:p>
        </c:rich>
      </c:tx>
      <c:layout/>
      <c:overlay val="0"/>
    </c:title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Tapados até a semana</c:v>
                </c:pt>
              </c:strCache>
            </c:strRef>
          </c:tx>
          <c:spPr>
            <a:solidFill>
              <a:srgbClr val="9CC6F7"/>
            </a:solidFill>
          </c:spPr>
          <c:dPt>
            <c:idx val="5"/>
            <c:spPr>
              <a:solidFill>
                <a:srgbClr val="0A7BEA"/>
              </a:solidFill>
            </c:spPr>
          </c:dPt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20544</c:v>
                </c:pt>
                <c:pt idx="1">
                  <c:v>16725</c:v>
                </c:pt>
                <c:pt idx="2">
                  <c:v>17414</c:v>
                </c:pt>
                <c:pt idx="3">
                  <c:v>17899</c:v>
                </c:pt>
                <c:pt idx="4">
                  <c:v>16832</c:v>
                </c:pt>
                <c:pt idx="5">
                  <c:v>16401</c:v>
                </c:pt>
              </c:numCache>
            </c:numRef>
          </c:val>
        </c:ser>
        <c:dLbls>
          <c:numFmt formatCode="#,##0;;&quot;&quot;" sourceLinked="0"/>
          <c:txPr>
            <a:bodyPr/>
            <a:lstStyle/>
            <a:p>
              <a:pPr>
                <a:defRPr sz="1100" b="1">
                  <a:solidFill>
                    <a:srgbClr val="16233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ln w="34925">
              <a:solidFill>
                <a:srgbClr val="0A7BEA"/>
              </a:solidFill>
            </a:ln>
          </c:spPr>
          <c:marker>
            <c:symbol val="circle"/>
            <c:size val="6"/>
            <c:spPr>
              <a:solidFill>
                <a:srgbClr val="0A7BEA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Sheet1!$A$2:$A$43</c:f>
              <c:strCache>
                <c:ptCount val="42"/>
                <c:pt idx="0">
                  <c:v>01</c:v>
                </c:pt>
                <c:pt idx="1">
                  <c:v>02</c:v>
                </c:pt>
                <c:pt idx="2">
                  <c:v>03</c:v>
                </c:pt>
                <c:pt idx="3">
                  <c:v>04</c:v>
                </c:pt>
                <c:pt idx="4">
                  <c:v>05</c:v>
                </c:pt>
                <c:pt idx="5">
                  <c:v>06</c:v>
                </c:pt>
                <c:pt idx="6">
                  <c:v>07</c:v>
                </c:pt>
                <c:pt idx="7">
                  <c:v>08</c:v>
                </c:pt>
                <c:pt idx="8">
                  <c:v>09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</c:strCache>
            </c:strRef>
          </c:cat>
          <c:val>
            <c:numRef>
              <c:f>Sheet1!$B$2:$B$43</c:f>
              <c:numCache>
                <c:formatCode>General</c:formatCode>
                <c:ptCount val="42"/>
                <c:pt idx="0">
                  <c:v>184</c:v>
                </c:pt>
                <c:pt idx="1">
                  <c:v>347</c:v>
                </c:pt>
                <c:pt idx="2">
                  <c:v>385</c:v>
                </c:pt>
                <c:pt idx="3">
                  <c:v>389</c:v>
                </c:pt>
                <c:pt idx="4">
                  <c:v>382</c:v>
                </c:pt>
                <c:pt idx="5">
                  <c:v>308</c:v>
                </c:pt>
                <c:pt idx="6">
                  <c:v>139</c:v>
                </c:pt>
                <c:pt idx="7">
                  <c:v>347</c:v>
                </c:pt>
                <c:pt idx="8">
                  <c:v>402</c:v>
                </c:pt>
                <c:pt idx="9">
                  <c:v>269</c:v>
                </c:pt>
                <c:pt idx="10">
                  <c:v>398</c:v>
                </c:pt>
                <c:pt idx="11">
                  <c:v>347</c:v>
                </c:pt>
                <c:pt idx="12">
                  <c:v>257</c:v>
                </c:pt>
                <c:pt idx="13">
                  <c:v>96</c:v>
                </c:pt>
                <c:pt idx="14">
                  <c:v>365</c:v>
                </c:pt>
                <c:pt idx="15">
                  <c:v>393</c:v>
                </c:pt>
                <c:pt idx="16">
                  <c:v>447</c:v>
                </c:pt>
                <c:pt idx="17">
                  <c:v>195</c:v>
                </c:pt>
                <c:pt idx="18">
                  <c:v>284</c:v>
                </c:pt>
                <c:pt idx="19">
                  <c:v>484</c:v>
                </c:pt>
                <c:pt idx="20">
                  <c:v>471</c:v>
                </c:pt>
                <c:pt idx="21">
                  <c:v>474</c:v>
                </c:pt>
                <c:pt idx="22">
                  <c:v>414</c:v>
                </c:pt>
                <c:pt idx="23">
                  <c:v>663</c:v>
                </c:pt>
                <c:pt idx="24">
                  <c:v>411</c:v>
                </c:pt>
                <c:pt idx="25">
                  <c:v>303</c:v>
                </c:pt>
                <c:pt idx="26">
                  <c:v>757</c:v>
                </c:pt>
                <c:pt idx="27">
                  <c:v>731</c:v>
                </c:pt>
                <c:pt idx="28">
                  <c:v>366</c:v>
                </c:pt>
                <c:pt idx="29">
                  <c:v>469</c:v>
                </c:pt>
                <c:pt idx="30">
                  <c:v>423</c:v>
                </c:pt>
                <c:pt idx="31">
                  <c:v>513</c:v>
                </c:pt>
                <c:pt idx="32">
                  <c:v>368</c:v>
                </c:pt>
                <c:pt idx="33">
                  <c:v>534</c:v>
                </c:pt>
                <c:pt idx="34">
                  <c:v>522</c:v>
                </c:pt>
                <c:pt idx="35">
                  <c:v>338</c:v>
                </c:pt>
                <c:pt idx="36">
                  <c:v>492</c:v>
                </c:pt>
                <c:pt idx="37">
                  <c:v>390</c:v>
                </c:pt>
                <c:pt idx="38">
                  <c:v>320</c:v>
                </c:pt>
                <c:pt idx="39">
                  <c:v>426</c:v>
                </c:pt>
                <c:pt idx="40">
                  <c:v>359</c:v>
                </c:pt>
                <c:pt idx="41">
                  <c:v>239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ln w="22225">
              <a:solidFill>
                <a:srgbClr val="A9B8CC"/>
              </a:solidFill>
            </a:ln>
          </c:spPr>
          <c:marker>
            <c:symbol val="none"/>
          </c:marker>
          <c:cat>
            <c:strRef>
              <c:f>Sheet1!$A$2:$A$43</c:f>
              <c:strCache>
                <c:ptCount val="42"/>
                <c:pt idx="0">
                  <c:v>01</c:v>
                </c:pt>
                <c:pt idx="1">
                  <c:v>02</c:v>
                </c:pt>
                <c:pt idx="2">
                  <c:v>03</c:v>
                </c:pt>
                <c:pt idx="3">
                  <c:v>04</c:v>
                </c:pt>
                <c:pt idx="4">
                  <c:v>05</c:v>
                </c:pt>
                <c:pt idx="5">
                  <c:v>06</c:v>
                </c:pt>
                <c:pt idx="6">
                  <c:v>07</c:v>
                </c:pt>
                <c:pt idx="7">
                  <c:v>08</c:v>
                </c:pt>
                <c:pt idx="8">
                  <c:v>09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</c:strCache>
            </c:strRef>
          </c:cat>
          <c:val>
            <c:numRef>
              <c:f>Sheet1!$C$2:$C$43</c:f>
              <c:numCache>
                <c:formatCode>General</c:formatCode>
                <c:ptCount val="42"/>
                <c:pt idx="0">
                  <c:v>232</c:v>
                </c:pt>
                <c:pt idx="1">
                  <c:v>180</c:v>
                </c:pt>
                <c:pt idx="2">
                  <c:v>267</c:v>
                </c:pt>
                <c:pt idx="3">
                  <c:v>236</c:v>
                </c:pt>
                <c:pt idx="4">
                  <c:v>202</c:v>
                </c:pt>
                <c:pt idx="5">
                  <c:v>285</c:v>
                </c:pt>
                <c:pt idx="6">
                  <c:v>339</c:v>
                </c:pt>
                <c:pt idx="7">
                  <c:v>382</c:v>
                </c:pt>
                <c:pt idx="8">
                  <c:v>564</c:v>
                </c:pt>
                <c:pt idx="10">
                  <c:v>326</c:v>
                </c:pt>
                <c:pt idx="11">
                  <c:v>325</c:v>
                </c:pt>
                <c:pt idx="12">
                  <c:v>284</c:v>
                </c:pt>
                <c:pt idx="13">
                  <c:v>321</c:v>
                </c:pt>
                <c:pt idx="14">
                  <c:v>285</c:v>
                </c:pt>
                <c:pt idx="15">
                  <c:v>393</c:v>
                </c:pt>
                <c:pt idx="16">
                  <c:v>243</c:v>
                </c:pt>
                <c:pt idx="17">
                  <c:v>301</c:v>
                </c:pt>
                <c:pt idx="18">
                  <c:v>284</c:v>
                </c:pt>
                <c:pt idx="19">
                  <c:v>115</c:v>
                </c:pt>
                <c:pt idx="20">
                  <c:v>471</c:v>
                </c:pt>
                <c:pt idx="21">
                  <c:v>487</c:v>
                </c:pt>
                <c:pt idx="22">
                  <c:v>414</c:v>
                </c:pt>
                <c:pt idx="23">
                  <c:v>663</c:v>
                </c:pt>
                <c:pt idx="24">
                  <c:v>411</c:v>
                </c:pt>
                <c:pt idx="25">
                  <c:v>303</c:v>
                </c:pt>
                <c:pt idx="26">
                  <c:v>757</c:v>
                </c:pt>
                <c:pt idx="27">
                  <c:v>731</c:v>
                </c:pt>
                <c:pt idx="28">
                  <c:v>527</c:v>
                </c:pt>
                <c:pt idx="29">
                  <c:v>469</c:v>
                </c:pt>
                <c:pt idx="30">
                  <c:v>423</c:v>
                </c:pt>
                <c:pt idx="31">
                  <c:v>522</c:v>
                </c:pt>
                <c:pt idx="32">
                  <c:v>397</c:v>
                </c:pt>
                <c:pt idx="33">
                  <c:v>534</c:v>
                </c:pt>
                <c:pt idx="34">
                  <c:v>552</c:v>
                </c:pt>
                <c:pt idx="35">
                  <c:v>456</c:v>
                </c:pt>
                <c:pt idx="36">
                  <c:v>670</c:v>
                </c:pt>
                <c:pt idx="37">
                  <c:v>528</c:v>
                </c:pt>
                <c:pt idx="38">
                  <c:v>548</c:v>
                </c:pt>
                <c:pt idx="39">
                  <c:v>452</c:v>
                </c:pt>
                <c:pt idx="40">
                  <c:v>567</c:v>
                </c:pt>
                <c:pt idx="41">
                  <c:v>386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3E9F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05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Tapados</c:v>
                </c:pt>
              </c:strCache>
            </c:strRef>
          </c:tx>
          <c:spPr>
            <a:solidFill>
              <a:srgbClr val="0A7BEA"/>
            </a:solidFill>
          </c:spPr>
          <c:dPt>
            <c:idx val="5"/>
            <c:spPr>
              <a:solidFill>
                <a:srgbClr val="0F2F86"/>
              </a:solidFill>
            </c:spPr>
          </c:dPt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354</c:v>
                </c:pt>
                <c:pt idx="1">
                  <c:v>224</c:v>
                </c:pt>
                <c:pt idx="2">
                  <c:v>292</c:v>
                </c:pt>
                <c:pt idx="3">
                  <c:v>323</c:v>
                </c:pt>
                <c:pt idx="4">
                  <c:v>386</c:v>
                </c:pt>
                <c:pt idx="5">
                  <c:v>239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Não tapados (saldo)</c:v>
                </c:pt>
              </c:strCache>
            </c:strRef>
          </c:tx>
          <c:spPr>
            <a:solidFill>
              <a:srgbClr val="FFC20E"/>
            </a:solidFill>
          </c:spPr>
          <c:dLbls>
            <c:numFmt formatCode="#,##0;;&quot;&quot;" sourceLinked="0"/>
            <c:txPr>
              <a:bodyPr/>
              <a:lstStyle/>
              <a:p>
                <a:pPr>
                  <a:defRPr sz="1300" b="1">
                    <a:solidFill>
                      <a:srgbClr val="16233F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95</c:v>
                </c:pt>
                <c:pt idx="1">
                  <c:v>171</c:v>
                </c:pt>
                <c:pt idx="2">
                  <c:v>156</c:v>
                </c:pt>
                <c:pt idx="3">
                  <c:v>80</c:v>
                </c:pt>
                <c:pt idx="4">
                  <c:v>95</c:v>
                </c:pt>
                <c:pt idx="5">
                  <c:v>145</c:v>
                </c:pt>
              </c:numCache>
            </c:numRef>
          </c:val>
        </c:ser>
        <c:dLbls>
          <c:numFmt formatCode="#,##0;;&quot;&quot;" sourceLinked="0"/>
          <c:txPr>
            <a:bodyPr/>
            <a:lstStyle/>
            <a:p>
              <a:pPr>
                <a:defRPr sz="1300" b="1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6233F"/>
                </a:solidFill>
              </a:rPr>
              <a:t>Chuva na semana 42 (mm)</a:t>
            </a:r>
          </a:p>
        </c:rich>
      </c:tx>
      <c:layout/>
      <c:overlay val="0"/>
    </c:title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Chuva (mm)</c:v>
                </c:pt>
              </c:strCache>
            </c:strRef>
          </c:tx>
          <c:spPr>
            <a:solidFill>
              <a:srgbClr val="5FA3F0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0.4</c:v>
                </c:pt>
                <c:pt idx="1">
                  <c:v>21.78</c:v>
                </c:pt>
                <c:pt idx="2">
                  <c:v>10.97</c:v>
                </c:pt>
                <c:pt idx="3">
                  <c:v>5.92</c:v>
                </c:pt>
                <c:pt idx="4">
                  <c:v>1.18</c:v>
                </c:pt>
                <c:pt idx="5">
                  <c:v>0</c:v>
                </c:pt>
              </c:numCache>
            </c:numRef>
          </c:val>
        </c:ser>
        <c:dLbls>
          <c:numFmt formatCode="0;;&quot;0&quot;" sourceLinked="0"/>
          <c:txPr>
            <a:bodyPr/>
            <a:lstStyle/>
            <a:p>
              <a:pPr>
                <a:defRPr sz="1100" b="1">
                  <a:solidFill>
                    <a:srgbClr val="0F2F8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1.581"/>
          <c:min val="0.0"/>
        </c:scaling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200" b="1">
                <a:solidFill>
                  <a:srgbClr val="16233F"/>
                </a:solidFill>
              </a:rPr>
              <a:t>Demandas em aberto por RPA</a:t>
            </a:r>
          </a:p>
        </c:rich>
      </c:tx>
      <c:layout/>
      <c:overlay val="0"/>
    </c:title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Participação</c:v>
                </c:pt>
              </c:strCache>
            </c:strRef>
          </c:tx>
          <c:dPt>
            <c:idx val="0"/>
            <c:spPr>
              <a:solidFill>
                <a:srgbClr val="0A7BEA"/>
              </a:solidFill>
            </c:spPr>
          </c:dPt>
          <c:dPt>
            <c:idx val="1"/>
            <c:spPr>
              <a:solidFill>
                <a:srgbClr val="12A4B6"/>
              </a:solidFill>
            </c:spPr>
          </c:dPt>
          <c:dPt>
            <c:idx val="2"/>
            <c:spPr>
              <a:solidFill>
                <a:srgbClr val="17A35B"/>
              </a:solidFill>
            </c:spPr>
          </c:dPt>
          <c:dPt>
            <c:idx val="3"/>
            <c:spPr>
              <a:solidFill>
                <a:srgbClr val="F2A900"/>
              </a:solidFill>
            </c:spPr>
          </c:dPt>
          <c:dPt>
            <c:idx val="4"/>
            <c:spPr>
              <a:solidFill>
                <a:srgbClr val="E5383B"/>
              </a:solidFill>
            </c:spPr>
          </c:dPt>
          <c:dPt>
            <c:idx val="5"/>
            <c:spPr>
              <a:solidFill>
                <a:srgbClr val="7B4FD6"/>
              </a:solidFill>
            </c:spPr>
          </c:dPt>
          <c:cat>
            <c:strRef>
              <c:f>Sheet1!$A$2:$A$7</c:f>
              <c:strCache>
                <c:ptCount val="6"/>
                <c:pt idx="0">
                  <c:v>RPA 1 · Centro</c:v>
                </c:pt>
                <c:pt idx="1">
                  <c:v>RPA 2 · Norte</c:v>
                </c:pt>
                <c:pt idx="2">
                  <c:v>RPA 3 · Noroeste</c:v>
                </c:pt>
                <c:pt idx="3">
                  <c:v>RPA 4 · Oeste</c:v>
                </c:pt>
                <c:pt idx="4">
                  <c:v>RPA 5 · Sudoeste</c:v>
                </c:pt>
                <c:pt idx="5">
                  <c:v>RPA 6 · Sul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0.1111111111111111</c:v>
                </c:pt>
                <c:pt idx="1">
                  <c:v>0.09876543209876543</c:v>
                </c:pt>
                <c:pt idx="2">
                  <c:v>0.1851851851851852</c:v>
                </c:pt>
                <c:pt idx="3">
                  <c:v>0.19753086419753085</c:v>
                </c:pt>
                <c:pt idx="4">
                  <c:v>0.22633744855967078</c:v>
                </c:pt>
                <c:pt idx="5">
                  <c:v>0.18106995884773663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05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5B6B82"/>
          </a:solidFill>
          <a:latin typeface="Calibri"/>
        </a:defRPr>
      </a:pPr>
      <a:endParaRPr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50" b="1">
                <a:solidFill>
                  <a:srgbClr val="16233F"/>
                </a:solidFill>
              </a:rPr>
              <a:t>Buracos por frente — últimas 8 semanas</a:t>
            </a:r>
          </a:p>
        </c:rich>
      </c:tx>
      <c:layout/>
      <c:overlay val="0"/>
    </c:title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AGC</c:v>
                </c:pt>
              </c:strCache>
            </c:strRef>
          </c:tx>
          <c:spPr>
            <a:ln w="31750">
              <a:solidFill>
                <a:srgbClr val="0A7BEA"/>
              </a:solidFill>
            </a:ln>
          </c:spPr>
          <c:marker>
            <c:symbol val="circle"/>
            <c:size val="6"/>
            <c:spPr>
              <a:solidFill>
                <a:srgbClr val="0A7BEA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S35</c:v>
                </c:pt>
                <c:pt idx="1">
                  <c:v>S36</c:v>
                </c:pt>
                <c:pt idx="2">
                  <c:v>S37</c:v>
                </c:pt>
                <c:pt idx="3">
                  <c:v>S38</c:v>
                </c:pt>
                <c:pt idx="4">
                  <c:v>S39</c:v>
                </c:pt>
                <c:pt idx="5">
                  <c:v>S40</c:v>
                </c:pt>
                <c:pt idx="6">
                  <c:v>S41</c:v>
                </c:pt>
                <c:pt idx="7">
                  <c:v>S42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9.0</c:v>
                </c:pt>
                <c:pt idx="1">
                  <c:v>8.03</c:v>
                </c:pt>
                <c:pt idx="2">
                  <c:v>9.56</c:v>
                </c:pt>
                <c:pt idx="3">
                  <c:v>8.43</c:v>
                </c:pt>
                <c:pt idx="4">
                  <c:v>6.43</c:v>
                </c:pt>
                <c:pt idx="5">
                  <c:v>8.6</c:v>
                </c:pt>
                <c:pt idx="6">
                  <c:v>10.84</c:v>
                </c:pt>
                <c:pt idx="7">
                  <c:v>8.6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LIDERMAC</c:v>
                </c:pt>
              </c:strCache>
            </c:strRef>
          </c:tx>
          <c:spPr>
            <a:ln w="31750">
              <a:solidFill>
                <a:srgbClr val="7B4FD6"/>
              </a:solidFill>
            </a:ln>
          </c:spPr>
          <c:marker>
            <c:symbol val="circle"/>
            <c:size val="6"/>
            <c:spPr>
              <a:solidFill>
                <a:srgbClr val="7B4FD6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S35</c:v>
                </c:pt>
                <c:pt idx="1">
                  <c:v>S36</c:v>
                </c:pt>
                <c:pt idx="2">
                  <c:v>S37</c:v>
                </c:pt>
                <c:pt idx="3">
                  <c:v>S38</c:v>
                </c:pt>
                <c:pt idx="4">
                  <c:v>S39</c:v>
                </c:pt>
                <c:pt idx="5">
                  <c:v>S40</c:v>
                </c:pt>
                <c:pt idx="6">
                  <c:v>S41</c:v>
                </c:pt>
                <c:pt idx="7">
                  <c:v>S42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7.71</c:v>
                </c:pt>
                <c:pt idx="1">
                  <c:v>9.89</c:v>
                </c:pt>
                <c:pt idx="2">
                  <c:v>7.36</c:v>
                </c:pt>
                <c:pt idx="3">
                  <c:v>8.67</c:v>
                </c:pt>
                <c:pt idx="4">
                  <c:v>8.2</c:v>
                </c:pt>
                <c:pt idx="5">
                  <c:v>7.22</c:v>
                </c:pt>
                <c:pt idx="6">
                  <c:v>8.8</c:v>
                </c:pt>
                <c:pt idx="7">
                  <c:v>8.38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05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2.0"/>
          <c:min val="4.0"/>
        </c:scaling>
        <c:delete val="0"/>
        <c:axPos val="l"/>
        <c:majorGridlines>
          <c:spPr>
            <a:ln>
              <a:solidFill>
                <a:srgbClr val="E3E9F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/>
      <c:layout/>
      <c:overlay val="0"/>
      <c:txPr>
        <a:bodyPr/>
        <a:lstStyle/>
        <a:p>
          <a:pPr>
            <a:defRPr sz="1050"/>
          </a:pPr>
        </a:p>
      </c:txPr>
    </c:legend>
    <c:plotVisOnly val="1"/>
    <c:dispBlanksAs val="gap"/>
    <c:showDLblsOverMax val="0"/>
  </c:chart>
  <c:txPr>
    <a:bodyPr/>
    <a:lstStyle/>
    <a:p>
      <a:pPr>
        <a:defRPr sz="105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Operação Tapa-Buraco — semana Emlurb 42 (14/10 a 20/10/2026).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Semana 42: 239 buracos tapados e saldo de 145 a tapar.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Tapados por RPA (planilha de frentes de serviço) e saldo a tapar por RPA (Números Emlurb), semana atual e anterior.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Tapados (azul) e saldo a tapar (amarelo) por semana; abaixo, a chuva de cada semana.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Acumulado de buracos tapados até esta semana, comparado com o mesmo período dos anos anteriores.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semana 42 em cada ano: tapados e saldo (Números Emlurb) e a chuva da semana.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Participação de cada RPA e bairro nas demandas de buraco em aberto ao fim da semana.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Frentes de serviço da semana por empresa e RPA. Quadradinhos = buracos tapados por dia (qua → ter)  ·  0 em laranja = dia útil sem frente  ·  S/D fim de semana  ·  F feriado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Buracos tapados por RPA e dia (número pequeno = frentes no dia). Total da semana × semana anterior e média de buracos por frente.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Encerramento.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chart" Target="../charts/char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chart" Target="../charts/chart2.xml"/><Relationship Id="rId6" Type="http://schemas.openxmlformats.org/officeDocument/2006/relationships/chart" Target="../charts/chart3.xml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chart" Target="../charts/chart6.xml"/><Relationship Id="rId6" Type="http://schemas.openxmlformats.org/officeDocument/2006/relationships/chart" Target="../charts/chart7.xml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chart" Target="../charts/chart8.xml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chart" Target="../charts/chart9.xml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7B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589520" y="-1463040"/>
            <a:ext cx="6583680" cy="6583680"/>
          </a:xfrm>
          <a:prstGeom prst="ellipse">
            <a:avLst/>
          </a:prstGeom>
          <a:solidFill>
            <a:srgbClr val="2F8F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21040" y="-731520"/>
            <a:ext cx="5120640" cy="5120640"/>
          </a:xfrm>
          <a:prstGeom prst="ellipse">
            <a:avLst/>
          </a:prstGeom>
          <a:solidFill>
            <a:srgbClr val="1E6F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0800000"/>
              <a:gd name="adj2" fmla="val 121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2150000"/>
              <a:gd name="adj2" fmla="val 135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3500000"/>
              <a:gd name="adj2" fmla="val 148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4850000"/>
              <a:gd name="adj2" fmla="val 1620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6200000"/>
              <a:gd name="adj2" fmla="val 175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ie 9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7550000"/>
              <a:gd name="adj2" fmla="val 189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ie 10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8900000"/>
              <a:gd name="adj2" fmla="val 202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ie 11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20250000"/>
              <a:gd name="adj2" fmla="val 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10597" y="2998317"/>
            <a:ext cx="312724" cy="31272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23526" y="3154680"/>
            <a:ext cx="86868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ock Arc 14"/>
          <p:cNvSpPr/>
          <p:nvPr/>
        </p:nvSpPr>
        <p:spPr>
          <a:xfrm>
            <a:off x="9619488" y="4197096"/>
            <a:ext cx="390906" cy="694944"/>
          </a:xfrm>
          <a:prstGeom prst="blockArc">
            <a:avLst>
              <a:gd name="adj1" fmla="val 0"/>
              <a:gd name="adj2" fmla="val 10800000"/>
              <a:gd name="adj3" fmla="val 2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logo_prefei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02920"/>
            <a:ext cx="2398426" cy="7315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31520" y="18288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C20E"/>
                </a:solidFill>
                <a:latin typeface="Calibri"/>
              </a:rPr>
              <a:t>OPERAÇÃO TAPA-BURACO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194560"/>
            <a:ext cx="7315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Semana 42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4290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D7E7FF"/>
                </a:solidFill>
                <a:latin typeface="Calibri"/>
              </a:rPr>
              <a:t>14/10 a 20/10/2026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23360"/>
            <a:ext cx="6949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BFD7FB"/>
                </a:solidFill>
                <a:latin typeface="Calibri"/>
              </a:rPr>
              <a:t>Buracos tapados e saldo a tapar  ·  Onde estão as demandas  ·  Frentes de serviço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5833872"/>
            <a:ext cx="3047924" cy="82296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47923" y="5833872"/>
            <a:ext cx="3047924" cy="82296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5847" y="5833872"/>
            <a:ext cx="3047924" cy="82296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3771" y="5833872"/>
            <a:ext cx="3047924" cy="82296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916168"/>
            <a:ext cx="12191695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6108192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5B6B82"/>
                </a:solidFill>
                <a:latin typeface="Calibri"/>
              </a:rPr>
              <a:t>Relatório semanal  ·  </a:t>
            </a:r>
            <a:r>
              <a:rPr sz="1300" b="1" i="0">
                <a:solidFill>
                  <a:srgbClr val="5B6B82"/>
                </a:solidFill>
                <a:latin typeface="Calibri"/>
              </a:rPr>
              <a:t>24/10/2026</a:t>
            </a:r>
          </a:p>
        </p:txBody>
      </p:sp>
      <p:pic>
        <p:nvPicPr>
          <p:cNvPr id="27" name="Picture 26" descr="logo_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9533" y="6099048"/>
            <a:ext cx="569242" cy="566928"/>
          </a:xfrm>
          <a:prstGeom prst="rect">
            <a:avLst/>
          </a:prstGeom>
        </p:spPr>
      </p:pic>
      <p:pic>
        <p:nvPicPr>
          <p:cNvPr id="28" name="Picture 27" descr="logo_emlur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2202" y="6099048"/>
            <a:ext cx="1027291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A SEMANA EM NÚMEROS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239 buracos tapados na semana 42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42/2026  ·  14/10 a 20/10/2026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2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1481328"/>
            <a:ext cx="4572000" cy="324612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ie 16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0800000"/>
              <a:gd name="adj2" fmla="val 121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ie 17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2150000"/>
              <a:gd name="adj2" fmla="val 135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ie 18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3500000"/>
              <a:gd name="adj2" fmla="val 148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ie 19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4850000"/>
              <a:gd name="adj2" fmla="val 1620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Pie 20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6200000"/>
              <a:gd name="adj2" fmla="val 175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Pie 21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7550000"/>
              <a:gd name="adj2" fmla="val 189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Pie 22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8900000"/>
              <a:gd name="adj2" fmla="val 202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Pie 23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20250000"/>
              <a:gd name="adj2" fmla="val 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35296" y="2304745"/>
            <a:ext cx="90525" cy="905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175564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C20E"/>
                </a:solidFill>
                <a:latin typeface="Calibri"/>
              </a:rPr>
              <a:t>BURACOS TAPADOS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2029968"/>
            <a:ext cx="4023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Calibri"/>
              </a:rPr>
              <a:t>239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3355847"/>
            <a:ext cx="2926080" cy="365760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355847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B3B3"/>
                </a:solidFill>
                <a:latin typeface="Calibri"/>
              </a:rPr>
              <a:t>▼ 33%</a:t>
            </a:r>
            <a:r>
              <a:rPr sz="1100" b="0" i="0">
                <a:solidFill>
                  <a:srgbClr val="D7E7FF"/>
                </a:solidFill>
                <a:latin typeface="Calibri"/>
              </a:rPr>
              <a:t>  vs semana 41 (359)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3904488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BFD7FB"/>
                </a:solidFill>
                <a:latin typeface="Calibri"/>
              </a:rPr>
              <a:t>Média semanal do ano: </a:t>
            </a:r>
            <a:r>
              <a:rPr sz="1250" b="1" i="0">
                <a:solidFill>
                  <a:srgbClr val="FFFFFF"/>
                </a:solidFill>
                <a:latin typeface="Calibri"/>
              </a:rPr>
              <a:t>390</a:t>
            </a:r>
          </a:p>
          <a:p>
            <a:pPr algn="l">
              <a:spcBef>
                <a:spcPts val="400"/>
              </a:spcBef>
            </a:pPr>
            <a:r>
              <a:rPr sz="1250" b="0" i="0">
                <a:solidFill>
                  <a:srgbClr val="BFD7FB"/>
                </a:solidFill>
                <a:latin typeface="Calibri"/>
              </a:rPr>
              <a:t>esta semana ficou 39% abaixo da média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03520" y="1481328"/>
            <a:ext cx="324612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03520" y="1709928"/>
            <a:ext cx="73152" cy="8229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77840" y="17556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28C28"/>
                </a:solidFill>
                <a:latin typeface="Calibri"/>
              </a:rPr>
              <a:t>NÃO TAPADOS (SALDO)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0" y="2029968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 i="0">
                <a:solidFill>
                  <a:srgbClr val="16233F"/>
                </a:solidFill>
                <a:latin typeface="Calibri"/>
              </a:rPr>
              <a:t>145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577840" y="2990088"/>
            <a:ext cx="2697480" cy="329184"/>
          </a:xfrm>
          <a:prstGeom prst="roundRect">
            <a:avLst>
              <a:gd name="adj" fmla="val 50000"/>
            </a:avLst>
          </a:prstGeom>
          <a:solidFill>
            <a:srgbClr val="DFF5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77840" y="2990088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7A35B"/>
                </a:solidFill>
                <a:latin typeface="Calibri"/>
              </a:rPr>
              <a:t>▼ 8%</a:t>
            </a:r>
            <a:r>
              <a:rPr sz="1050" b="0" i="0">
                <a:solidFill>
                  <a:srgbClr val="17A35B"/>
                </a:solidFill>
                <a:latin typeface="Calibri"/>
              </a:rPr>
              <a:t>  vs semana 41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35387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B6B82"/>
                </a:solidFill>
                <a:latin typeface="Calibri"/>
              </a:rPr>
              <a:t>TAXA DE EXECUÇÃO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0" y="3767328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546C0"/>
                </a:solidFill>
                <a:latin typeface="Calibri"/>
              </a:rPr>
              <a:t>62%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3813048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 ÷ (tapados + saldo)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577840" y="4334256"/>
            <a:ext cx="2697480" cy="146304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577840" y="4334256"/>
            <a:ext cx="1678900" cy="146304"/>
          </a:xfrm>
          <a:prstGeom prst="roundRect">
            <a:avLst>
              <a:gd name="adj" fmla="val 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778240" y="1481328"/>
            <a:ext cx="2910535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778240" y="1709928"/>
            <a:ext cx="73152" cy="822960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0" y="17556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A7BEA"/>
                </a:solidFill>
                <a:latin typeface="Calibri"/>
              </a:rPr>
              <a:t>CHUVA NA SEMANA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0" y="2029968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 i="0">
                <a:solidFill>
                  <a:srgbClr val="16233F"/>
                </a:solidFill>
                <a:latin typeface="Calibri"/>
              </a:rPr>
              <a:t>0</a:t>
            </a:r>
            <a:r>
              <a:rPr sz="2000" b="0" i="0">
                <a:solidFill>
                  <a:srgbClr val="5B6B82"/>
                </a:solidFill>
                <a:latin typeface="Calibri"/>
              </a:rPr>
              <a:t> mm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052560" y="2990088"/>
            <a:ext cx="2361895" cy="329184"/>
          </a:xfrm>
          <a:prstGeom prst="roundRect">
            <a:avLst>
              <a:gd name="adj" fmla="val 50000"/>
            </a:avLst>
          </a:prstGeom>
          <a:solidFill>
            <a:srgbClr val="E3EE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52560" y="2990088"/>
            <a:ext cx="23618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546C0"/>
                </a:solidFill>
                <a:latin typeface="Calibri"/>
              </a:rPr>
              <a:t>▼ 100%</a:t>
            </a:r>
            <a:r>
              <a:rPr sz="1050" b="0" i="0">
                <a:solidFill>
                  <a:srgbClr val="1546C0"/>
                </a:solidFill>
                <a:latin typeface="Calibri"/>
              </a:rPr>
              <a:t>  vs média histórica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0" y="3538728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B6B82"/>
                </a:solidFill>
                <a:latin typeface="Calibri"/>
              </a:rPr>
              <a:t>ACUMULADO NO ANO</a:t>
            </a:r>
          </a:p>
          <a:p>
            <a:pPr algn="l">
              <a:spcBef>
                <a:spcPts val="200"/>
              </a:spcBef>
            </a:pPr>
            <a:r>
              <a:rPr sz="2600" b="1" i="0">
                <a:solidFill>
                  <a:srgbClr val="1546C0"/>
                </a:solidFill>
                <a:latin typeface="Calibri"/>
              </a:rPr>
              <a:t>2.102 mm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2920" y="4928616"/>
            <a:ext cx="5478627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2920" y="4928616"/>
            <a:ext cx="91440" cy="1143000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" y="505663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B6B82"/>
                </a:solidFill>
                <a:latin typeface="Calibri"/>
              </a:rPr>
              <a:t>TAPADOS EM 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" y="5312664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6233F"/>
                </a:solidFill>
                <a:latin typeface="Calibri"/>
              </a:rPr>
              <a:t>16.401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94760" y="5111496"/>
            <a:ext cx="2003907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5B6B82"/>
                </a:solidFill>
                <a:latin typeface="Calibri"/>
              </a:rPr>
              <a:t>42 semanas · média de 390 por semana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10147" y="4928616"/>
            <a:ext cx="5478627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210147" y="4928616"/>
            <a:ext cx="91440" cy="1143000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30187" y="505663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B6B82"/>
                </a:solidFill>
                <a:latin typeface="Calibri"/>
              </a:rPr>
              <a:t>SALDO MÉDIO DO ANO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30187" y="5312664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6233F"/>
                </a:solidFill>
                <a:latin typeface="Calibri"/>
              </a:rPr>
              <a:t>121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01987" y="5111496"/>
            <a:ext cx="2003907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5B6B82"/>
                </a:solidFill>
                <a:latin typeface="Calibri"/>
              </a:rPr>
              <a:t>não tapados por semana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POR RPA · SEMANA 42 × SEMANA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RPA 6 (Sul) tapou mais: 67 buracos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42/2026  ·  14/10 a 20/10/2026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3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02920" y="1481328"/>
          <a:ext cx="5212080" cy="36576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417320"/>
                <a:gridCol w="1143000"/>
                <a:gridCol w="868680"/>
                <a:gridCol w="868680"/>
                <a:gridCol w="9144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RPA</a:t>
                      </a:r>
                    </a:p>
                  </a:txBody>
                  <a:tcPr anchor="ctr" marL="54864" marR="54864" marT="18288" marB="18288">
                    <a:solidFill>
                      <a:srgbClr val="0F2F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Empresa</a:t>
                      </a:r>
                    </a:p>
                  </a:txBody>
                  <a:tcPr anchor="ctr" marL="54864" marR="54864" marT="18288" marB="18288">
                    <a:solidFill>
                      <a:srgbClr val="0F2F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Tapados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S42</a:t>
                      </a:r>
                    </a:p>
                  </a:txBody>
                  <a:tcPr anchor="ctr" marL="54864" marR="54864" marT="18288" marB="18288">
                    <a:solidFill>
                      <a:srgbClr val="0F2F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Tapados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S41</a:t>
                      </a:r>
                    </a:p>
                  </a:txBody>
                  <a:tcPr anchor="ctr" marL="54864" marR="54864" marT="18288" marB="18288">
                    <a:solidFill>
                      <a:srgbClr val="5B6B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Δ tapados</a:t>
                      </a:r>
                    </a:p>
                  </a:txBody>
                  <a:tcPr anchor="ctr" marL="54864" marR="54864" marT="18288" marB="18288">
                    <a:solidFill>
                      <a:srgbClr val="0F2F8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RPA 1</a:t>
                      </a:r>
                    </a:p>
                    <a:p>
                      <a:pPr algn="l"/>
                      <a:r>
                        <a:rPr sz="1000" b="1">
                          <a:solidFill>
                            <a:srgbClr val="16233F"/>
                          </a:solidFill>
                          <a:latin typeface="Calibri"/>
                        </a:rPr>
                        <a:t>Centro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33F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B6B82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5383B"/>
                          </a:solidFill>
                          <a:latin typeface="Calibri"/>
                        </a:rPr>
                        <a:t>▼ 4%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RPA 2</a:t>
                      </a:r>
                    </a:p>
                    <a:p>
                      <a:pPr algn="l"/>
                      <a:r>
                        <a:rPr sz="1000" b="1">
                          <a:solidFill>
                            <a:srgbClr val="16233F"/>
                          </a:solidFill>
                          <a:latin typeface="Calibri"/>
                        </a:rPr>
                        <a:t>Norte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33F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B6B82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5383B"/>
                          </a:solidFill>
                          <a:latin typeface="Calibri"/>
                        </a:rPr>
                        <a:t>▼ 26%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RPA 3</a:t>
                      </a:r>
                    </a:p>
                    <a:p>
                      <a:pPr algn="l"/>
                      <a:r>
                        <a:rPr sz="1000" b="1">
                          <a:solidFill>
                            <a:srgbClr val="16233F"/>
                          </a:solidFill>
                          <a:latin typeface="Calibri"/>
                        </a:rPr>
                        <a:t>Noroeste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33F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B6B82"/>
                          </a:solidFill>
                          <a:latin typeface="Calibri"/>
                        </a:rPr>
                        <a:t>96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5383B"/>
                          </a:solidFill>
                          <a:latin typeface="Calibri"/>
                        </a:rPr>
                        <a:t>▼ 56%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RPA 4</a:t>
                      </a:r>
                    </a:p>
                    <a:p>
                      <a:pPr algn="l"/>
                      <a:r>
                        <a:rPr sz="1000" b="1">
                          <a:solidFill>
                            <a:srgbClr val="16233F"/>
                          </a:solidFill>
                          <a:latin typeface="Calibri"/>
                        </a:rPr>
                        <a:t>Oeste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33F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B6B82"/>
                          </a:solidFill>
                          <a:latin typeface="Calibri"/>
                        </a:rPr>
                        <a:t>61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5383B"/>
                          </a:solidFill>
                          <a:latin typeface="Calibri"/>
                        </a:rPr>
                        <a:t>▼ 18%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RPA 5</a:t>
                      </a:r>
                    </a:p>
                    <a:p>
                      <a:pPr algn="l"/>
                      <a:r>
                        <a:rPr sz="1000" b="1">
                          <a:solidFill>
                            <a:srgbClr val="16233F"/>
                          </a:solidFill>
                          <a:latin typeface="Calibri"/>
                        </a:rPr>
                        <a:t>Sudoeste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33F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B6B82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5383B"/>
                          </a:solidFill>
                          <a:latin typeface="Calibri"/>
                        </a:rPr>
                        <a:t>▼ 51%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RPA 6</a:t>
                      </a:r>
                    </a:p>
                    <a:p>
                      <a:pPr algn="l"/>
                      <a:r>
                        <a:rPr sz="1000" b="1">
                          <a:solidFill>
                            <a:srgbClr val="16233F"/>
                          </a:solidFill>
                          <a:latin typeface="Calibri"/>
                        </a:rPr>
                        <a:t>Sul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33F"/>
                          </a:solidFill>
                          <a:latin typeface="Calibri"/>
                        </a:rPr>
                        <a:t>LIDERMAC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67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B6B82"/>
                          </a:solidFill>
                          <a:latin typeface="Calibri"/>
                        </a:rPr>
                        <a:t>88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5383B"/>
                          </a:solidFill>
                          <a:latin typeface="Calibri"/>
                        </a:rPr>
                        <a:t>▼ 24%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F2F86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anchor="ctr" marL="54864" marR="54864" marT="18288" marB="18288">
                    <a:solidFill>
                      <a:srgbClr val="DC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F2F86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54864" marR="54864" marT="18288" marB="18288">
                    <a:solidFill>
                      <a:srgbClr val="DC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0F2F86"/>
                          </a:solidFill>
                          <a:latin typeface="Calibri"/>
                        </a:rPr>
                        <a:t>239</a:t>
                      </a:r>
                    </a:p>
                  </a:txBody>
                  <a:tcPr anchor="ctr" marL="54864" marR="54864" marT="18288" marB="18288">
                    <a:solidFill>
                      <a:srgbClr val="DC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0F2F86"/>
                          </a:solidFill>
                          <a:latin typeface="Calibri"/>
                        </a:rPr>
                        <a:t>359</a:t>
                      </a:r>
                    </a:p>
                  </a:txBody>
                  <a:tcPr anchor="ctr" marL="54864" marR="54864" marT="18288" marB="18288">
                    <a:solidFill>
                      <a:srgbClr val="DC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0F2F86"/>
                          </a:solidFill>
                          <a:latin typeface="Calibri"/>
                        </a:rPr>
                        <a:t>▼ 33%</a:t>
                      </a:r>
                    </a:p>
                  </a:txBody>
                  <a:tcPr anchor="ctr" marL="54864" marR="54864" marT="18288" marB="18288">
                    <a:solidFill>
                      <a:srgbClr val="DCE8F8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5943600" y="1481328"/>
            <a:ext cx="5745175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035040" y="1572768"/>
          <a:ext cx="5562295" cy="443484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EVOLUÇÃO · ÚLTIMAS 12 SEMANAS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Média semanal do ano: 390 buracos tapados (semanas 01 a 42)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42/2026  ·  14/10 a 20/10/2026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4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1481328"/>
            <a:ext cx="11185855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640080" y="1572768"/>
          <a:ext cx="10911535" cy="324612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40080" y="4773168"/>
          <a:ext cx="10911535" cy="123444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O ANO ATÉ AQUI · ATÉ A SEMANA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16.401 buracos tapados em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42/2026  ·  14/10 a 20/10/2026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5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1481328"/>
            <a:ext cx="3566160" cy="237744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170992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TAPADOS EM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1984248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16.401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2898648"/>
            <a:ext cx="3017520" cy="384048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898648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B3B3"/>
                </a:solidFill>
                <a:latin typeface="Calibri"/>
              </a:rPr>
              <a:t>▼ 3%</a:t>
            </a:r>
            <a:r>
              <a:rPr sz="1100" b="0" i="0">
                <a:solidFill>
                  <a:srgbClr val="D7E7FF"/>
                </a:solidFill>
                <a:latin typeface="Calibri"/>
              </a:rPr>
              <a:t>  vs 2025 (16.832)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40156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FD7FB"/>
                </a:solidFill>
                <a:latin typeface="Calibri"/>
              </a:rPr>
              <a:t>mesmo período: semanas 1 a 42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1481328"/>
            <a:ext cx="7391095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4434840" y="1527048"/>
          <a:ext cx="7116775" cy="2286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502920" y="4041648"/>
            <a:ext cx="11185855" cy="22128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640080" y="4087368"/>
          <a:ext cx="10911535" cy="2121408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SEMANA 42 AO LONGO DOS ANOS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239 tapados — 24% abaixo da média desta semana em 2021–2025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42/2026  ·  14/10 a 20/10/2026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6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1481328"/>
            <a:ext cx="7619695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640080" y="1572768"/>
          <a:ext cx="7345375" cy="329184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40080" y="4818888"/>
          <a:ext cx="7345375" cy="1216152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8351215" y="1481328"/>
            <a:ext cx="3337560" cy="214884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ie 19"/>
          <p:cNvSpPr/>
          <p:nvPr/>
        </p:nvSpPr>
        <p:spPr>
          <a:xfrm>
            <a:off x="10756087" y="1783080"/>
            <a:ext cx="768096" cy="768096"/>
          </a:xfrm>
          <a:prstGeom prst="pie">
            <a:avLst>
              <a:gd name="adj1" fmla="val 10800000"/>
              <a:gd name="adj2" fmla="val 121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Pie 20"/>
          <p:cNvSpPr/>
          <p:nvPr/>
        </p:nvSpPr>
        <p:spPr>
          <a:xfrm>
            <a:off x="10756087" y="1783080"/>
            <a:ext cx="768096" cy="768096"/>
          </a:xfrm>
          <a:prstGeom prst="pie">
            <a:avLst>
              <a:gd name="adj1" fmla="val 12150000"/>
              <a:gd name="adj2" fmla="val 135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Pie 21"/>
          <p:cNvSpPr/>
          <p:nvPr/>
        </p:nvSpPr>
        <p:spPr>
          <a:xfrm>
            <a:off x="10756087" y="1783080"/>
            <a:ext cx="768096" cy="768096"/>
          </a:xfrm>
          <a:prstGeom prst="pie">
            <a:avLst>
              <a:gd name="adj1" fmla="val 13500000"/>
              <a:gd name="adj2" fmla="val 148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Pie 22"/>
          <p:cNvSpPr/>
          <p:nvPr/>
        </p:nvSpPr>
        <p:spPr>
          <a:xfrm>
            <a:off x="10756087" y="1783080"/>
            <a:ext cx="768096" cy="768096"/>
          </a:xfrm>
          <a:prstGeom prst="pie">
            <a:avLst>
              <a:gd name="adj1" fmla="val 14850000"/>
              <a:gd name="adj2" fmla="val 1620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Pie 23"/>
          <p:cNvSpPr/>
          <p:nvPr/>
        </p:nvSpPr>
        <p:spPr>
          <a:xfrm>
            <a:off x="10756087" y="1783080"/>
            <a:ext cx="768096" cy="768096"/>
          </a:xfrm>
          <a:prstGeom prst="pie">
            <a:avLst>
              <a:gd name="adj1" fmla="val 16200000"/>
              <a:gd name="adj2" fmla="val 175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Pie 24"/>
          <p:cNvSpPr/>
          <p:nvPr/>
        </p:nvSpPr>
        <p:spPr>
          <a:xfrm>
            <a:off x="10756087" y="1783080"/>
            <a:ext cx="768096" cy="768096"/>
          </a:xfrm>
          <a:prstGeom prst="pie">
            <a:avLst>
              <a:gd name="adj1" fmla="val 17550000"/>
              <a:gd name="adj2" fmla="val 189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Pie 25"/>
          <p:cNvSpPr/>
          <p:nvPr/>
        </p:nvSpPr>
        <p:spPr>
          <a:xfrm>
            <a:off x="10756087" y="1783080"/>
            <a:ext cx="768096" cy="768096"/>
          </a:xfrm>
          <a:prstGeom prst="pie">
            <a:avLst>
              <a:gd name="adj1" fmla="val 18900000"/>
              <a:gd name="adj2" fmla="val 202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Pie 26"/>
          <p:cNvSpPr/>
          <p:nvPr/>
        </p:nvSpPr>
        <p:spPr>
          <a:xfrm>
            <a:off x="10756087" y="1783080"/>
            <a:ext cx="768096" cy="768096"/>
          </a:xfrm>
          <a:prstGeom prst="pie">
            <a:avLst>
              <a:gd name="adj1" fmla="val 20250000"/>
              <a:gd name="adj2" fmla="val 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105570" y="2132563"/>
            <a:ext cx="69128" cy="691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25535" y="170992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C20E"/>
                </a:solidFill>
                <a:latin typeface="Calibri"/>
              </a:rPr>
              <a:t>TAPADOS · SEMANA 42/2026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25535" y="1938528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239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25535" y="2852928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BFD7FB"/>
                </a:solidFill>
                <a:latin typeface="Calibri"/>
              </a:rPr>
              <a:t>Média da semana em anos anteriores: </a:t>
            </a:r>
            <a:r>
              <a:rPr sz="1200" b="1" i="0">
                <a:solidFill>
                  <a:srgbClr val="FFFFFF"/>
                </a:solidFill>
                <a:latin typeface="Calibri"/>
              </a:rPr>
              <a:t>316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25535" y="3172968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25535" y="31729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B3B3"/>
                </a:solidFill>
                <a:latin typeface="Calibri"/>
              </a:rPr>
              <a:t>▼ 24%</a:t>
            </a:r>
            <a:r>
              <a:rPr sz="950" b="0" i="0">
                <a:solidFill>
                  <a:srgbClr val="D7E7FF"/>
                </a:solidFill>
                <a:latin typeface="Calibri"/>
              </a:rPr>
              <a:t>  vs média dos anos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51215" y="3813048"/>
            <a:ext cx="333756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351215" y="3995928"/>
            <a:ext cx="73152" cy="8229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25535" y="39776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28C28"/>
                </a:solidFill>
                <a:latin typeface="Calibri"/>
              </a:rPr>
              <a:t>NÃO TAPADOS (SALDO)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25535" y="4224528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6233F"/>
                </a:solidFill>
                <a:latin typeface="Calibri"/>
              </a:rPr>
              <a:t>145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768535" y="4379976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FDE6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68535" y="4379976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E5383B"/>
                </a:solidFill>
                <a:latin typeface="Calibri"/>
              </a:rPr>
              <a:t>▲ 21%</a:t>
            </a:r>
            <a:r>
              <a:rPr sz="900" b="0" i="0">
                <a:solidFill>
                  <a:srgbClr val="E5383B"/>
                </a:solidFill>
                <a:latin typeface="Calibri"/>
              </a:rPr>
              <a:t>  vs média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25535" y="4773168"/>
            <a:ext cx="2880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média dos anos anteriores: 119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51215" y="5230368"/>
            <a:ext cx="333756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351215" y="5367528"/>
            <a:ext cx="73152" cy="594360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25535" y="5340096"/>
            <a:ext cx="2880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B6B82"/>
                </a:solidFill>
                <a:latin typeface="Calibri"/>
              </a:rPr>
              <a:t>MAIS TAPADOS NESTA SEMANA</a:t>
            </a:r>
          </a:p>
          <a:p>
            <a:pPr algn="l">
              <a:spcBef>
                <a:spcPts val="200"/>
              </a:spcBef>
            </a:pPr>
            <a:r>
              <a:rPr sz="2200" b="1" i="0">
                <a:solidFill>
                  <a:srgbClr val="1546C0"/>
                </a:solidFill>
                <a:latin typeface="Calibri"/>
              </a:rPr>
              <a:t>2025</a:t>
            </a:r>
            <a:r>
              <a:rPr sz="1200" b="0" i="0">
                <a:solidFill>
                  <a:srgbClr val="5B6B82"/>
                </a:solidFill>
                <a:latin typeface="Calibri"/>
              </a:rPr>
              <a:t>   386 buracos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ONDE ESTÃO AS DEMANDAS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RPA 5 (Sudoeste) concentra 23% das demandas em aberto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42/2026  ·  14/10 a 20/10/2026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7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1481328"/>
            <a:ext cx="475488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594360" y="1618488"/>
          <a:ext cx="4572000" cy="43434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5486400" y="1481328"/>
            <a:ext cx="6202375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0" y="1664208"/>
            <a:ext cx="565373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6233F"/>
                </a:solidFill>
                <a:latin typeface="Calibri"/>
              </a:rPr>
              <a:t>Bairros com maior participação nas demandas em aberto</a:t>
            </a:r>
          </a:p>
        </p:txBody>
      </p:sp>
      <p:sp>
        <p:nvSpPr>
          <p:cNvPr id="20" name="Oval 19"/>
          <p:cNvSpPr/>
          <p:nvPr/>
        </p:nvSpPr>
        <p:spPr>
          <a:xfrm>
            <a:off x="5760720" y="2121408"/>
            <a:ext cx="274320" cy="274320"/>
          </a:xfrm>
          <a:prstGeom prst="ellipse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0" y="212140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21214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6233F"/>
                </a:solidFill>
                <a:latin typeface="Calibri"/>
              </a:rPr>
              <a:t>Varzea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2203704"/>
            <a:ext cx="217901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12480" y="2203704"/>
            <a:ext cx="2179015" cy="128016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28655" y="212140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6,6%</a:t>
            </a:r>
          </a:p>
        </p:txBody>
      </p:sp>
      <p:sp>
        <p:nvSpPr>
          <p:cNvPr id="26" name="Oval 25"/>
          <p:cNvSpPr/>
          <p:nvPr/>
        </p:nvSpPr>
        <p:spPr>
          <a:xfrm>
            <a:off x="5760720" y="2468880"/>
            <a:ext cx="274320" cy="274320"/>
          </a:xfrm>
          <a:prstGeom prst="ellipse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0" y="24688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24688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6233F"/>
                </a:solidFill>
                <a:latin typeface="Calibri"/>
              </a:rPr>
              <a:t>Tejipio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2551176"/>
            <a:ext cx="217901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412480" y="2551176"/>
            <a:ext cx="2042826" cy="128016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28655" y="24688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6,2%</a:t>
            </a:r>
          </a:p>
        </p:txBody>
      </p:sp>
      <p:sp>
        <p:nvSpPr>
          <p:cNvPr id="32" name="Oval 31"/>
          <p:cNvSpPr/>
          <p:nvPr/>
        </p:nvSpPr>
        <p:spPr>
          <a:xfrm>
            <a:off x="5760720" y="2816352"/>
            <a:ext cx="274320" cy="274320"/>
          </a:xfrm>
          <a:prstGeom prst="ellipse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0" y="281635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28163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6233F"/>
                </a:solidFill>
                <a:latin typeface="Calibri"/>
              </a:rPr>
              <a:t>Jardim Sao Paulo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12480" y="2898648"/>
            <a:ext cx="217901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412480" y="2898648"/>
            <a:ext cx="1906638" cy="128016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28655" y="28163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5,8%</a:t>
            </a:r>
          </a:p>
        </p:txBody>
      </p:sp>
      <p:sp>
        <p:nvSpPr>
          <p:cNvPr id="38" name="Oval 37"/>
          <p:cNvSpPr/>
          <p:nvPr/>
        </p:nvSpPr>
        <p:spPr>
          <a:xfrm>
            <a:off x="5760720" y="3163824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60720" y="316382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316382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Cordeiro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412480" y="3246120"/>
            <a:ext cx="217901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412480" y="3246120"/>
            <a:ext cx="1770449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728655" y="316382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5,3%</a:t>
            </a:r>
          </a:p>
        </p:txBody>
      </p:sp>
      <p:sp>
        <p:nvSpPr>
          <p:cNvPr id="44" name="Oval 43"/>
          <p:cNvSpPr/>
          <p:nvPr/>
        </p:nvSpPr>
        <p:spPr>
          <a:xfrm>
            <a:off x="5760720" y="3511296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760720" y="351129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72200" y="351129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Ibura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412480" y="3593592"/>
            <a:ext cx="217901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412480" y="3593592"/>
            <a:ext cx="1498072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728655" y="351129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4,5%</a:t>
            </a:r>
          </a:p>
        </p:txBody>
      </p:sp>
      <p:sp>
        <p:nvSpPr>
          <p:cNvPr id="50" name="Oval 49"/>
          <p:cNvSpPr/>
          <p:nvPr/>
        </p:nvSpPr>
        <p:spPr>
          <a:xfrm>
            <a:off x="5760720" y="3858768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760720" y="385876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72200" y="385876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Iputinga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412480" y="3941064"/>
            <a:ext cx="217901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412480" y="3941064"/>
            <a:ext cx="1361884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728655" y="385876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4,1%</a:t>
            </a:r>
          </a:p>
        </p:txBody>
      </p:sp>
      <p:sp>
        <p:nvSpPr>
          <p:cNvPr id="56" name="Oval 55"/>
          <p:cNvSpPr/>
          <p:nvPr/>
        </p:nvSpPr>
        <p:spPr>
          <a:xfrm>
            <a:off x="5760720" y="4206240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760720" y="42062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72200" y="42062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Espinheiro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412480" y="4288536"/>
            <a:ext cx="217901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412480" y="4288536"/>
            <a:ext cx="1225695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728655" y="4206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3,7%</a:t>
            </a:r>
          </a:p>
        </p:txBody>
      </p:sp>
      <p:sp>
        <p:nvSpPr>
          <p:cNvPr id="62" name="Oval 61"/>
          <p:cNvSpPr/>
          <p:nvPr/>
        </p:nvSpPr>
        <p:spPr>
          <a:xfrm>
            <a:off x="5760720" y="4553712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760720" y="455371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72200" y="455371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Imbiribeira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412480" y="4636008"/>
            <a:ext cx="217901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8412480" y="4636008"/>
            <a:ext cx="1089507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728655" y="45537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3,3%</a:t>
            </a:r>
          </a:p>
        </p:txBody>
      </p:sp>
      <p:sp>
        <p:nvSpPr>
          <p:cNvPr id="68" name="Oval 67"/>
          <p:cNvSpPr/>
          <p:nvPr/>
        </p:nvSpPr>
        <p:spPr>
          <a:xfrm>
            <a:off x="5760720" y="4901184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760720" y="49011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72200" y="490118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Boa Vista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412480" y="4983480"/>
            <a:ext cx="217901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8412480" y="4983480"/>
            <a:ext cx="1089507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728655" y="490118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3,3%</a:t>
            </a:r>
          </a:p>
        </p:txBody>
      </p:sp>
      <p:sp>
        <p:nvSpPr>
          <p:cNvPr id="74" name="Oval 73"/>
          <p:cNvSpPr/>
          <p:nvPr/>
        </p:nvSpPr>
        <p:spPr>
          <a:xfrm>
            <a:off x="5760720" y="5248656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760720" y="524865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10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72200" y="524865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Cohab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412480" y="5330952"/>
            <a:ext cx="217901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8412480" y="5330952"/>
            <a:ext cx="1089507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728655" y="524865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3,3%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760720" y="5705856"/>
            <a:ext cx="56537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B6B82"/>
                </a:solidFill>
                <a:latin typeface="Calibri"/>
              </a:rPr>
              <a:t>Os 3 primeiros bairros somam 19% das demandas em aberto da cidade.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FRENTES DE SERVIÇO · AGC E LIDERMAC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239 buracos tapados pelas frentes  ·  AGC 172  ·  LIDERMAC 67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42/2026  ·  14/10 a 20/10/2026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8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1481328"/>
            <a:ext cx="5478627" cy="12984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1572768"/>
            <a:ext cx="146304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ag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124" y="1636776"/>
            <a:ext cx="579272" cy="2560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77240" y="195681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6EFFF"/>
                </a:solidFill>
                <a:latin typeface="Calibri"/>
              </a:rPr>
              <a:t>RPA 1, RPA 2, RPA 3, RPA 4, RPA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2231136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6EFFF"/>
                </a:solidFill>
                <a:latin typeface="Calibri"/>
              </a:rPr>
              <a:t>4 de 7 dias com frente · 1 dia(s) útil(eis) sem nenhuma frente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1591056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20E"/>
                </a:solidFill>
                <a:latin typeface="Calibri"/>
              </a:rPr>
              <a:t>TAPADOS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177393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172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34640" y="237744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34640" y="2377440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B3B3"/>
                </a:solidFill>
                <a:latin typeface="Calibri"/>
              </a:rPr>
              <a:t>▼ 37%</a:t>
            </a:r>
            <a:r>
              <a:rPr sz="850" b="0" i="0">
                <a:solidFill>
                  <a:srgbClr val="D7E7FF"/>
                </a:solidFill>
                <a:latin typeface="Calibri"/>
              </a:rPr>
              <a:t>  vs sem. ant.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1591056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20E"/>
                </a:solidFill>
                <a:latin typeface="Calibri"/>
              </a:rPr>
              <a:t>BURACOS POR FRENTE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177393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8,6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23774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2377440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B3B3"/>
                </a:solidFill>
                <a:latin typeface="Calibri"/>
              </a:rPr>
              <a:t>▼ 21%</a:t>
            </a:r>
            <a:r>
              <a:rPr sz="850" b="0" i="0">
                <a:solidFill>
                  <a:srgbClr val="D7E7FF"/>
                </a:solidFill>
                <a:latin typeface="Calibri"/>
              </a:rPr>
              <a:t>  vs sem. anterior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0147" y="1481328"/>
            <a:ext cx="5478627" cy="12984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7B4FD6"/>
              </a:gs>
              <a:gs pos="100000">
                <a:srgbClr val="4B2A9E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84467" y="1572768"/>
            <a:ext cx="146304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30" descr="liderma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7921" y="1636776"/>
            <a:ext cx="1056132" cy="25603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484467" y="195681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6EFFF"/>
                </a:solidFill>
                <a:latin typeface="Calibri"/>
              </a:rPr>
              <a:t>RPA 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84467" y="2231136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6EFFF"/>
                </a:solidFill>
                <a:latin typeface="Calibri"/>
              </a:rPr>
              <a:t>4 de 7 dias com frente · 1 dia(s) útil(eis) sem nenhuma frente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1867" y="1591056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20E"/>
                </a:solidFill>
                <a:latin typeface="Calibri"/>
              </a:rPr>
              <a:t>TAPADOS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1867" y="177393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67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41867" y="237744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1867" y="2377440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B3B3"/>
                </a:solidFill>
                <a:latin typeface="Calibri"/>
              </a:rPr>
              <a:t>▼ 24%</a:t>
            </a:r>
            <a:r>
              <a:rPr sz="850" b="0" i="0">
                <a:solidFill>
                  <a:srgbClr val="D7E7FF"/>
                </a:solidFill>
                <a:latin typeface="Calibri"/>
              </a:rPr>
              <a:t>  vs sem. ant.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96347" y="1591056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20E"/>
                </a:solidFill>
                <a:latin typeface="Calibri"/>
              </a:rPr>
              <a:t>BURACOS POR FRENTE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96347" y="177393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8,4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096347" y="23774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96347" y="2377440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B3B3"/>
                </a:solidFill>
                <a:latin typeface="Calibri"/>
              </a:rPr>
              <a:t>▼ 5%</a:t>
            </a:r>
            <a:r>
              <a:rPr sz="850" b="0" i="0">
                <a:solidFill>
                  <a:srgbClr val="D7E7FF"/>
                </a:solidFill>
                <a:latin typeface="Calibri"/>
              </a:rPr>
              <a:t>  vs sem. anterior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2944368"/>
            <a:ext cx="3594506" cy="16047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2920" y="2944368"/>
            <a:ext cx="82296" cy="1604772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3035808"/>
            <a:ext cx="21314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A7BEA"/>
                </a:solidFill>
                <a:latin typeface="Calibri"/>
              </a:rPr>
              <a:t>RPA 1</a:t>
            </a:r>
            <a:r>
              <a:rPr sz="1050" b="0" i="0">
                <a:solidFill>
                  <a:srgbClr val="5B6B82"/>
                </a:solidFill>
                <a:latin typeface="Calibri"/>
              </a:rPr>
              <a:t>  Centro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862986" y="3054096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862986" y="3054096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AGC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3328416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22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3794760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874520" y="3401568"/>
            <a:ext cx="1994306" cy="292608"/>
          </a:xfrm>
          <a:prstGeom prst="roundRect">
            <a:avLst>
              <a:gd name="adj" fmla="val 50000"/>
            </a:avLst>
          </a:prstGeom>
          <a:solidFill>
            <a:srgbClr val="FDE6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874520" y="3401568"/>
            <a:ext cx="199430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5383B"/>
                </a:solidFill>
                <a:latin typeface="Calibri"/>
              </a:rPr>
              <a:t>▼ 4%</a:t>
            </a:r>
            <a:r>
              <a:rPr sz="850" b="0" i="0">
                <a:solidFill>
                  <a:srgbClr val="E5383B"/>
                </a:solidFill>
                <a:latin typeface="Calibri"/>
              </a:rPr>
              <a:t>  vs sem. ant. (23)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74520" y="3749040"/>
            <a:ext cx="199430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233F"/>
                </a:solidFill>
                <a:latin typeface="Calibri"/>
              </a:rPr>
              <a:t>5,5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 por frente  ·  </a:t>
            </a:r>
            <a:r>
              <a:rPr sz="1100" b="1" i="0">
                <a:solidFill>
                  <a:srgbClr val="E5383B"/>
                </a:solidFill>
                <a:latin typeface="Calibri"/>
              </a:rPr>
              <a:t>-28% 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vs sem. ant.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qua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192769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92769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92769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qui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654018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54018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54018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sex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115268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115268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115268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sáb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576517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576517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76517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dom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037767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DE3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37767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C2410C"/>
                </a:solidFill>
                <a:latin typeface="Calibri"/>
              </a:rPr>
              <a:t>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037767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seg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499016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499016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499016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ter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298594" y="2944368"/>
            <a:ext cx="3594506" cy="16047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298594" y="2944368"/>
            <a:ext cx="82296" cy="1604772"/>
          </a:xfrm>
          <a:prstGeom prst="rect">
            <a:avLst/>
          </a:prstGeom>
          <a:solidFill>
            <a:srgbClr val="0E8C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27194" y="3035808"/>
            <a:ext cx="21314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E8C9C"/>
                </a:solidFill>
                <a:latin typeface="Calibri"/>
              </a:rPr>
              <a:t>RPA 2</a:t>
            </a:r>
            <a:r>
              <a:rPr sz="1050" b="0" i="0">
                <a:solidFill>
                  <a:srgbClr val="5B6B82"/>
                </a:solidFill>
                <a:latin typeface="Calibri"/>
              </a:rPr>
              <a:t>  Norte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658660" y="3054096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658660" y="3054096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AGC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7194" y="3328416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40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27194" y="3794760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670194" y="3401568"/>
            <a:ext cx="1994306" cy="292608"/>
          </a:xfrm>
          <a:prstGeom prst="roundRect">
            <a:avLst>
              <a:gd name="adj" fmla="val 50000"/>
            </a:avLst>
          </a:prstGeom>
          <a:solidFill>
            <a:srgbClr val="FDE6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670194" y="3401568"/>
            <a:ext cx="199430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5383B"/>
                </a:solidFill>
                <a:latin typeface="Calibri"/>
              </a:rPr>
              <a:t>▼ 26%</a:t>
            </a:r>
            <a:r>
              <a:rPr sz="850" b="0" i="0">
                <a:solidFill>
                  <a:srgbClr val="E5383B"/>
                </a:solidFill>
                <a:latin typeface="Calibri"/>
              </a:rPr>
              <a:t>  vs sem. ant. (54)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670194" y="3749040"/>
            <a:ext cx="199430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233F"/>
                </a:solidFill>
                <a:latin typeface="Calibri"/>
              </a:rPr>
              <a:t>13,3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 por frente  ·  </a:t>
            </a:r>
            <a:r>
              <a:rPr sz="1100" b="1" i="0">
                <a:solidFill>
                  <a:srgbClr val="17A35B"/>
                </a:solidFill>
                <a:latin typeface="Calibri"/>
              </a:rPr>
              <a:t>+48% 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vs sem. ant.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527194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DE3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527194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C2410C"/>
                </a:solidFill>
                <a:latin typeface="Calibri"/>
              </a:rPr>
              <a:t>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527194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qua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988443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E8C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988443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988443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qui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449693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E8C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449693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449693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sex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910942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910942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910942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sáb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372192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372192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372192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dom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833441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DE3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833441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C2410C"/>
                </a:solidFill>
                <a:latin typeface="Calibri"/>
              </a:rPr>
              <a:t>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833441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seg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7294691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E8C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294691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294691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ter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8094268" y="2944368"/>
            <a:ext cx="3594506" cy="16047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094268" y="2944368"/>
            <a:ext cx="82296" cy="1604772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322868" y="3035808"/>
            <a:ext cx="21314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A35B"/>
                </a:solidFill>
                <a:latin typeface="Calibri"/>
              </a:rPr>
              <a:t>RPA 3</a:t>
            </a:r>
            <a:r>
              <a:rPr sz="1050" b="0" i="0">
                <a:solidFill>
                  <a:srgbClr val="5B6B82"/>
                </a:solidFill>
                <a:latin typeface="Calibri"/>
              </a:rPr>
              <a:t>  Noroeste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10454335" y="3054096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454335" y="3054096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AGC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322868" y="3328416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42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322868" y="3794760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9465868" y="3401568"/>
            <a:ext cx="1994306" cy="292608"/>
          </a:xfrm>
          <a:prstGeom prst="roundRect">
            <a:avLst>
              <a:gd name="adj" fmla="val 50000"/>
            </a:avLst>
          </a:prstGeom>
          <a:solidFill>
            <a:srgbClr val="FDE6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465868" y="3401568"/>
            <a:ext cx="199430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5383B"/>
                </a:solidFill>
                <a:latin typeface="Calibri"/>
              </a:rPr>
              <a:t>▼ 56%</a:t>
            </a:r>
            <a:r>
              <a:rPr sz="850" b="0" i="0">
                <a:solidFill>
                  <a:srgbClr val="E5383B"/>
                </a:solidFill>
                <a:latin typeface="Calibri"/>
              </a:rPr>
              <a:t>  vs sem. ant. (96)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465868" y="3749040"/>
            <a:ext cx="199430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233F"/>
                </a:solidFill>
                <a:latin typeface="Calibri"/>
              </a:rPr>
              <a:t>8,4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 por frente  ·  </a:t>
            </a:r>
            <a:r>
              <a:rPr sz="1100" b="1" i="0">
                <a:solidFill>
                  <a:srgbClr val="E5383B"/>
                </a:solidFill>
                <a:latin typeface="Calibri"/>
              </a:rPr>
              <a:t>-30% 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vs sem. ant.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8322868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322868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322868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qua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8784118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784118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784118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qui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9245367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245367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245367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sex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9706617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9706617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706617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sáb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10167866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0167866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D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167866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dom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10629116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DE3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629116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C2410C"/>
                </a:solidFill>
                <a:latin typeface="Calibri"/>
              </a:rPr>
              <a:t>0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629116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seg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11090365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1090365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1090365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ter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502920" y="4686300"/>
            <a:ext cx="3594506" cy="16047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502920" y="4686300"/>
            <a:ext cx="82296" cy="1604772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31520" y="4777740"/>
            <a:ext cx="21314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2A900"/>
                </a:solidFill>
                <a:latin typeface="Calibri"/>
              </a:rPr>
              <a:t>RPA 4</a:t>
            </a:r>
            <a:r>
              <a:rPr sz="1050" b="0" i="0">
                <a:solidFill>
                  <a:srgbClr val="5B6B82"/>
                </a:solidFill>
                <a:latin typeface="Calibri"/>
              </a:rPr>
              <a:t>  Oeste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2862986" y="4796028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2862986" y="4796028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AGC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31520" y="5070348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50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31520" y="5536692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1874520" y="5143500"/>
            <a:ext cx="1994306" cy="292608"/>
          </a:xfrm>
          <a:prstGeom prst="roundRect">
            <a:avLst>
              <a:gd name="adj" fmla="val 50000"/>
            </a:avLst>
          </a:prstGeom>
          <a:solidFill>
            <a:srgbClr val="FDE6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874520" y="5143500"/>
            <a:ext cx="199430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5383B"/>
                </a:solidFill>
                <a:latin typeface="Calibri"/>
              </a:rPr>
              <a:t>▼ 18%</a:t>
            </a:r>
            <a:r>
              <a:rPr sz="850" b="0" i="0">
                <a:solidFill>
                  <a:srgbClr val="E5383B"/>
                </a:solidFill>
                <a:latin typeface="Calibri"/>
              </a:rPr>
              <a:t>  vs sem. ant. (61)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874520" y="5490972"/>
            <a:ext cx="199430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233F"/>
                </a:solidFill>
                <a:latin typeface="Calibri"/>
              </a:rPr>
              <a:t>10,0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 por frente  ·  </a:t>
            </a:r>
            <a:r>
              <a:rPr sz="1100" b="1" i="0">
                <a:solidFill>
                  <a:srgbClr val="E5383B"/>
                </a:solidFill>
                <a:latin typeface="Calibri"/>
              </a:rPr>
              <a:t>-34% 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vs sem. ant.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731520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2A9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731520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6233F"/>
                </a:solidFill>
                <a:latin typeface="Calibri"/>
              </a:rPr>
              <a:t>15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31520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qua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1192769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2A9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192769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6233F"/>
                </a:solidFill>
                <a:latin typeface="Calibri"/>
              </a:rPr>
              <a:t>16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192769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qui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654018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2A9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654018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6233F"/>
                </a:solidFill>
                <a:latin typeface="Calibri"/>
              </a:rPr>
              <a:t>11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654018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sex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2115268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2115268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S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2115268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sáb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2576517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2576517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D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2576517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dom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3037767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DE3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3037767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C2410C"/>
                </a:solidFill>
                <a:latin typeface="Calibri"/>
              </a:rPr>
              <a:t>0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037767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seg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3499016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2A9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3499016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6233F"/>
                </a:solidFill>
                <a:latin typeface="Calibri"/>
              </a:rPr>
              <a:t>8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3499016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ter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4298594" y="4686300"/>
            <a:ext cx="3594506" cy="16047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4298594" y="4686300"/>
            <a:ext cx="82296" cy="1604772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527194" y="4777740"/>
            <a:ext cx="21314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5383B"/>
                </a:solidFill>
                <a:latin typeface="Calibri"/>
              </a:rPr>
              <a:t>RPA 5</a:t>
            </a:r>
            <a:r>
              <a:rPr sz="1050" b="0" i="0">
                <a:solidFill>
                  <a:srgbClr val="5B6B82"/>
                </a:solidFill>
                <a:latin typeface="Calibri"/>
              </a:rPr>
              <a:t>  Sudoeste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6658660" y="4796028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6658660" y="4796028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AGC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27194" y="5070348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18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527194" y="5536692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5670194" y="5143500"/>
            <a:ext cx="1994306" cy="292608"/>
          </a:xfrm>
          <a:prstGeom prst="roundRect">
            <a:avLst>
              <a:gd name="adj" fmla="val 50000"/>
            </a:avLst>
          </a:prstGeom>
          <a:solidFill>
            <a:srgbClr val="FDE6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5670194" y="5143500"/>
            <a:ext cx="199430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5383B"/>
                </a:solidFill>
                <a:latin typeface="Calibri"/>
              </a:rPr>
              <a:t>▼ 51%</a:t>
            </a:r>
            <a:r>
              <a:rPr sz="850" b="0" i="0">
                <a:solidFill>
                  <a:srgbClr val="E5383B"/>
                </a:solidFill>
                <a:latin typeface="Calibri"/>
              </a:rPr>
              <a:t>  vs sem. ant. (37)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5670194" y="5490972"/>
            <a:ext cx="199430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233F"/>
                </a:solidFill>
                <a:latin typeface="Calibri"/>
              </a:rPr>
              <a:t>6,0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 por frente  ·  </a:t>
            </a:r>
            <a:r>
              <a:rPr sz="1100" b="1" i="0">
                <a:solidFill>
                  <a:srgbClr val="E5383B"/>
                </a:solidFill>
                <a:latin typeface="Calibri"/>
              </a:rPr>
              <a:t>-35% 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vs sem. ant.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4527194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4527194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4527194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qua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4988443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DE3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4988443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C2410C"/>
                </a:solidFill>
                <a:latin typeface="Calibri"/>
              </a:rPr>
              <a:t>0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4988443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qui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5449693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5449693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5449693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sex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5910942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5910942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S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5910942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sáb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6372192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6372192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D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6372192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dom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6833441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DE3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6833441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C2410C"/>
                </a:solidFill>
                <a:latin typeface="Calibri"/>
              </a:rPr>
              <a:t>0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6833441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seg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7294691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7294691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7294691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ter</a:t>
            </a:r>
          </a:p>
        </p:txBody>
      </p:sp>
      <p:sp>
        <p:nvSpPr>
          <p:cNvPr id="197" name="Rounded Rectangle 196"/>
          <p:cNvSpPr/>
          <p:nvPr/>
        </p:nvSpPr>
        <p:spPr>
          <a:xfrm>
            <a:off x="8094268" y="4686300"/>
            <a:ext cx="3594506" cy="16047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8094268" y="4686300"/>
            <a:ext cx="82296" cy="1604772"/>
          </a:xfrm>
          <a:prstGeom prst="rect">
            <a:avLst/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8322868" y="4777740"/>
            <a:ext cx="21314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7B4FD6"/>
                </a:solidFill>
                <a:latin typeface="Calibri"/>
              </a:rPr>
              <a:t>RPA 6</a:t>
            </a:r>
            <a:r>
              <a:rPr sz="1050" b="0" i="0">
                <a:solidFill>
                  <a:srgbClr val="5B6B82"/>
                </a:solidFill>
                <a:latin typeface="Calibri"/>
              </a:rPr>
              <a:t>  Sul</a:t>
            </a:r>
          </a:p>
        </p:txBody>
      </p:sp>
      <p:sp>
        <p:nvSpPr>
          <p:cNvPr id="200" name="Rounded Rectangle 199"/>
          <p:cNvSpPr/>
          <p:nvPr/>
        </p:nvSpPr>
        <p:spPr>
          <a:xfrm>
            <a:off x="10454335" y="4796028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10454335" y="4796028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LIDERMAC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8322868" y="5070348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67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8322868" y="5536692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9465868" y="5143500"/>
            <a:ext cx="1994306" cy="292608"/>
          </a:xfrm>
          <a:prstGeom prst="roundRect">
            <a:avLst>
              <a:gd name="adj" fmla="val 50000"/>
            </a:avLst>
          </a:prstGeom>
          <a:solidFill>
            <a:srgbClr val="FDE6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9465868" y="5143500"/>
            <a:ext cx="199430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5383B"/>
                </a:solidFill>
                <a:latin typeface="Calibri"/>
              </a:rPr>
              <a:t>▼ 24%</a:t>
            </a:r>
            <a:r>
              <a:rPr sz="850" b="0" i="0">
                <a:solidFill>
                  <a:srgbClr val="E5383B"/>
                </a:solidFill>
                <a:latin typeface="Calibri"/>
              </a:rPr>
              <a:t>  vs sem. ant. (88)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9465868" y="5490972"/>
            <a:ext cx="199430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233F"/>
                </a:solidFill>
                <a:latin typeface="Calibri"/>
              </a:rPr>
              <a:t>8,4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 por frente  ·  </a:t>
            </a:r>
            <a:r>
              <a:rPr sz="1100" b="1" i="0">
                <a:solidFill>
                  <a:srgbClr val="E5383B"/>
                </a:solidFill>
                <a:latin typeface="Calibri"/>
              </a:rPr>
              <a:t>-5% 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vs sem. ant.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8322868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8322868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8322868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qua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8784118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8784118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8784118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qui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9245367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9245367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9245367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sex</a:t>
            </a:r>
          </a:p>
        </p:txBody>
      </p:sp>
      <p:sp>
        <p:nvSpPr>
          <p:cNvPr id="216" name="Rounded Rectangle 215"/>
          <p:cNvSpPr/>
          <p:nvPr/>
        </p:nvSpPr>
        <p:spPr>
          <a:xfrm>
            <a:off x="9706617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9706617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S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9706617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sáb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10167866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10167866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D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10167866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dom</a:t>
            </a:r>
          </a:p>
        </p:txBody>
      </p:sp>
      <p:sp>
        <p:nvSpPr>
          <p:cNvPr id="222" name="Rounded Rectangle 221"/>
          <p:cNvSpPr/>
          <p:nvPr/>
        </p:nvSpPr>
        <p:spPr>
          <a:xfrm>
            <a:off x="10629116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DE3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10629116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C2410C"/>
                </a:solidFill>
                <a:latin typeface="Calibri"/>
              </a:rPr>
              <a:t>0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10629116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seg</a:t>
            </a:r>
          </a:p>
        </p:txBody>
      </p:sp>
      <p:sp>
        <p:nvSpPr>
          <p:cNvPr id="225" name="Rounded Rectangle 224"/>
          <p:cNvSpPr/>
          <p:nvPr/>
        </p:nvSpPr>
        <p:spPr>
          <a:xfrm>
            <a:off x="11090365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11090365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11090365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ter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502920" y="6254496"/>
            <a:ext cx="1118585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B82"/>
                </a:solidFill>
                <a:latin typeface="Calibri"/>
              </a:rPr>
              <a:t>Quadradinhos = buracos tapados por dia (qua → ter)  ·  0 em laranja = dia útil sem frente  ·  S/D fim de semana  ·  F feriado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FRENTES DE SERVIÇO · DIA A 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8,5 buracos por frente — 17% abaixo da semana anterior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42/2026  ·  14/10 a 20/10/2026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9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02920" y="1481328"/>
          <a:ext cx="11185848" cy="32918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170068"/>
                <a:gridCol w="936054"/>
                <a:gridCol w="936054"/>
                <a:gridCol w="936054"/>
                <a:gridCol w="936054"/>
                <a:gridCol w="936054"/>
                <a:gridCol w="936054"/>
                <a:gridCol w="936054"/>
                <a:gridCol w="889252"/>
                <a:gridCol w="889252"/>
                <a:gridCol w="795646"/>
                <a:gridCol w="889252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RPA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qua 14/10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qui 15/10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sex 16/10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sáb 17/10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E3A3"/>
                          </a:solidFill>
                          <a:latin typeface="Calibri"/>
                        </a:rPr>
                        <a:t>sábado</a:t>
                      </a:r>
                    </a:p>
                  </a:txBody>
                  <a:tcPr marL="45720" marR="45720" marT="18288" marB="18288" anchor="ctr">
                    <a:solidFill>
                      <a:srgbClr val="5B6B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dom 18/10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E3A3"/>
                          </a:solidFill>
                          <a:latin typeface="Calibri"/>
                        </a:rPr>
                        <a:t>domingo</a:t>
                      </a:r>
                    </a:p>
                  </a:txBody>
                  <a:tcPr marL="45720" marR="45720" marT="18288" marB="18288" anchor="ctr">
                    <a:solidFill>
                      <a:srgbClr val="5B6B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seg 19/10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ter 20/10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Total da semana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Total sem. anterior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Média por frente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A7BEA"/>
                          </a:solidFill>
                          <a:latin typeface="Calibri"/>
                        </a:rPr>
                        <a:t>RPA 1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7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5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4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2410C"/>
                          </a:solidFill>
                          <a:latin typeface="Calibri"/>
                        </a:rPr>
                        <a:t>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C2410C"/>
                          </a:solidFill>
                          <a:latin typeface="Calibri"/>
                        </a:rPr>
                        <a:t>sem frente</a:t>
                      </a:r>
                    </a:p>
                  </a:txBody>
                  <a:tcPr marL="45720" marR="45720" marT="18288" marB="18288" anchor="ctr">
                    <a:solidFill>
                      <a:srgbClr val="FDE3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6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5383B"/>
                          </a:solidFill>
                          <a:latin typeface="Calibri"/>
                        </a:rPr>
                        <a:t>▼ 4%</a:t>
                      </a:r>
                    </a:p>
                  </a:txBody>
                  <a:tcPr marL="45720" marR="45720" marT="18288" marB="18288" anchor="ctr">
                    <a:solidFill>
                      <a:srgbClr val="FD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5,5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ant. 7,7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2A4B6"/>
                          </a:solidFill>
                          <a:latin typeface="Calibri"/>
                        </a:rPr>
                        <a:t>RPA 2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2410C"/>
                          </a:solidFill>
                          <a:latin typeface="Calibri"/>
                        </a:rPr>
                        <a:t>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C2410C"/>
                          </a:solidFill>
                          <a:latin typeface="Calibri"/>
                        </a:rPr>
                        <a:t>sem frente</a:t>
                      </a:r>
                    </a:p>
                  </a:txBody>
                  <a:tcPr marL="45720" marR="45720" marT="18288" marB="18288" anchor="ctr">
                    <a:solidFill>
                      <a:srgbClr val="FDE3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12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12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2410C"/>
                          </a:solidFill>
                          <a:latin typeface="Calibri"/>
                        </a:rPr>
                        <a:t>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C2410C"/>
                          </a:solidFill>
                          <a:latin typeface="Calibri"/>
                        </a:rPr>
                        <a:t>sem frente</a:t>
                      </a:r>
                    </a:p>
                  </a:txBody>
                  <a:tcPr marL="45720" marR="45720" marT="18288" marB="18288" anchor="ctr">
                    <a:solidFill>
                      <a:srgbClr val="FDE3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16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0A7B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5383B"/>
                          </a:solidFill>
                          <a:latin typeface="Calibri"/>
                        </a:rPr>
                        <a:t>▼ 26%</a:t>
                      </a:r>
                    </a:p>
                  </a:txBody>
                  <a:tcPr marL="45720" marR="45720" marT="18288" marB="18288" anchor="ctr">
                    <a:solidFill>
                      <a:srgbClr val="FD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13,3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ant. 9,0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7A35B"/>
                          </a:solidFill>
                          <a:latin typeface="Calibri"/>
                        </a:rPr>
                        <a:t>RPA 3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16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0A7B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9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8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2410C"/>
                          </a:solidFill>
                          <a:latin typeface="Calibri"/>
                        </a:rPr>
                        <a:t>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C2410C"/>
                          </a:solidFill>
                          <a:latin typeface="Calibri"/>
                        </a:rPr>
                        <a:t>sem frente</a:t>
                      </a:r>
                    </a:p>
                  </a:txBody>
                  <a:tcPr marL="45720" marR="45720" marT="18288" marB="18288" anchor="ctr">
                    <a:solidFill>
                      <a:srgbClr val="FDE3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9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96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5383B"/>
                          </a:solidFill>
                          <a:latin typeface="Calibri"/>
                        </a:rPr>
                        <a:t>▼ 56%</a:t>
                      </a:r>
                    </a:p>
                  </a:txBody>
                  <a:tcPr marL="45720" marR="45720" marT="18288" marB="18288" anchor="ctr">
                    <a:solidFill>
                      <a:srgbClr val="FD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8,4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ant. 12,0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2A900"/>
                          </a:solidFill>
                          <a:latin typeface="Calibri"/>
                        </a:rPr>
                        <a:t>RPA 4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15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0A7B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16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0A7B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11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2410C"/>
                          </a:solidFill>
                          <a:latin typeface="Calibri"/>
                        </a:rPr>
                        <a:t>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C2410C"/>
                          </a:solidFill>
                          <a:latin typeface="Calibri"/>
                        </a:rPr>
                        <a:t>sem frente</a:t>
                      </a:r>
                    </a:p>
                  </a:txBody>
                  <a:tcPr marL="45720" marR="45720" marT="18288" marB="18288" anchor="ctr">
                    <a:solidFill>
                      <a:srgbClr val="FDE3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8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61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5383B"/>
                          </a:solidFill>
                          <a:latin typeface="Calibri"/>
                        </a:rPr>
                        <a:t>▼ 18%</a:t>
                      </a:r>
                    </a:p>
                  </a:txBody>
                  <a:tcPr marL="45720" marR="45720" marT="18288" marB="18288" anchor="ctr">
                    <a:solidFill>
                      <a:srgbClr val="FD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10,0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ant. 15,2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E5383B"/>
                          </a:solidFill>
                          <a:latin typeface="Calibri"/>
                        </a:rPr>
                        <a:t>RPA 5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4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2410C"/>
                          </a:solidFill>
                          <a:latin typeface="Calibri"/>
                        </a:rPr>
                        <a:t>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C2410C"/>
                          </a:solidFill>
                          <a:latin typeface="Calibri"/>
                        </a:rPr>
                        <a:t>sem frente</a:t>
                      </a:r>
                    </a:p>
                  </a:txBody>
                  <a:tcPr marL="45720" marR="45720" marT="18288" marB="18288" anchor="ctr">
                    <a:solidFill>
                      <a:srgbClr val="FDE3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8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2410C"/>
                          </a:solidFill>
                          <a:latin typeface="Calibri"/>
                        </a:rPr>
                        <a:t>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C2410C"/>
                          </a:solidFill>
                          <a:latin typeface="Calibri"/>
                        </a:rPr>
                        <a:t>sem frente</a:t>
                      </a:r>
                    </a:p>
                  </a:txBody>
                  <a:tcPr marL="45720" marR="45720" marT="18288" marB="18288" anchor="ctr">
                    <a:solidFill>
                      <a:srgbClr val="FDE3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6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5383B"/>
                          </a:solidFill>
                          <a:latin typeface="Calibri"/>
                        </a:rPr>
                        <a:t>▼ 51%</a:t>
                      </a:r>
                    </a:p>
                  </a:txBody>
                  <a:tcPr marL="45720" marR="45720" marT="18288" marB="18288" anchor="ctr">
                    <a:solidFill>
                      <a:srgbClr val="FD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6,0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ant. 9,2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7B4FD6"/>
                          </a:solidFill>
                          <a:latin typeface="Calibri"/>
                        </a:rPr>
                        <a:t>RPA 6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LIDERMAC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15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0A7B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17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0A7B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19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0A7B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2410C"/>
                          </a:solidFill>
                          <a:latin typeface="Calibri"/>
                        </a:rPr>
                        <a:t>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C2410C"/>
                          </a:solidFill>
                          <a:latin typeface="Calibri"/>
                        </a:rPr>
                        <a:t>sem frente</a:t>
                      </a:r>
                    </a:p>
                  </a:txBody>
                  <a:tcPr marL="45720" marR="45720" marT="18288" marB="18288" anchor="ctr">
                    <a:solidFill>
                      <a:srgbClr val="FDE3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16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0A7B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67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88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5383B"/>
                          </a:solidFill>
                          <a:latin typeface="Calibri"/>
                        </a:rPr>
                        <a:t>▼ 24%</a:t>
                      </a:r>
                    </a:p>
                  </a:txBody>
                  <a:tcPr marL="45720" marR="45720" marT="18288" marB="18288" anchor="ctr">
                    <a:solidFill>
                      <a:srgbClr val="FD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8,4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ant. 8,8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62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61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239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359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5383B"/>
                          </a:solidFill>
                          <a:latin typeface="Calibri"/>
                        </a:rPr>
                        <a:t>▼ 33%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8,5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502920" y="4956048"/>
            <a:ext cx="11185855" cy="12893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594360" y="5001768"/>
          <a:ext cx="11002975" cy="1197864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7B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2926080"/>
            <a:ext cx="5943600" cy="5943600"/>
          </a:xfrm>
          <a:prstGeom prst="ellipse">
            <a:avLst/>
          </a:prstGeom>
          <a:solidFill>
            <a:srgbClr val="2F8F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0800000"/>
              <a:gd name="adj2" fmla="val 121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2150000"/>
              <a:gd name="adj2" fmla="val 135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3500000"/>
              <a:gd name="adj2" fmla="val 148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4850000"/>
              <a:gd name="adj2" fmla="val 1620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6200000"/>
              <a:gd name="adj2" fmla="val 175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7550000"/>
              <a:gd name="adj2" fmla="val 189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ie 9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8900000"/>
              <a:gd name="adj2" fmla="val 202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ie 10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20250000"/>
              <a:gd name="adj2" fmla="val 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84747" y="2632100"/>
            <a:ext cx="222199" cy="22219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64986" y="2743200"/>
            <a:ext cx="61722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ock Arc 13"/>
          <p:cNvSpPr/>
          <p:nvPr/>
        </p:nvSpPr>
        <p:spPr>
          <a:xfrm>
            <a:off x="5848959" y="3483864"/>
            <a:ext cx="277749" cy="493776"/>
          </a:xfrm>
          <a:prstGeom prst="blockArc">
            <a:avLst>
              <a:gd name="adj1" fmla="val 0"/>
              <a:gd name="adj2" fmla="val 10800000"/>
              <a:gd name="adj3" fmla="val 2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0" y="4160520"/>
            <a:ext cx="121916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Operação Tapa-Buraco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475488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D7E7FF"/>
                </a:solidFill>
                <a:latin typeface="Calibri"/>
              </a:rPr>
              <a:t>Semana 42  ·  14/10 a 20/10/2026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5833872"/>
            <a:ext cx="3047924" cy="82296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47923" y="5833872"/>
            <a:ext cx="3047924" cy="82296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5847" y="5833872"/>
            <a:ext cx="3047924" cy="82296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3771" y="5833872"/>
            <a:ext cx="3047924" cy="82296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916168"/>
            <a:ext cx="12191695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logo_prefei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531" y="6112764"/>
            <a:ext cx="1798820" cy="548640"/>
          </a:xfrm>
          <a:prstGeom prst="rect">
            <a:avLst/>
          </a:prstGeom>
        </p:spPr>
      </p:pic>
      <p:pic>
        <p:nvPicPr>
          <p:cNvPr id="23" name="Picture 22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991" y="6103620"/>
            <a:ext cx="1027291" cy="566928"/>
          </a:xfrm>
          <a:prstGeom prst="rect">
            <a:avLst/>
          </a:prstGeom>
        </p:spPr>
      </p:pic>
      <p:pic>
        <p:nvPicPr>
          <p:cNvPr id="24" name="Picture 23" descr="logo_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922" y="6103620"/>
            <a:ext cx="569242" cy="566928"/>
          </a:xfrm>
          <a:prstGeom prst="rect">
            <a:avLst/>
          </a:prstGeom>
        </p:spPr>
      </p:pic>
      <p:pic>
        <p:nvPicPr>
          <p:cNvPr id="25" name="Picture 24" descr="vwaj_sel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21847" y="6103620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VWAJ</dc:creator>
  <cp:keywords/>
  <dc:description>generated using python-pptx</dc:description>
  <cp:lastModifiedBy>VWAJ</cp:lastModifiedBy>
  <cp:revision>1</cp:revision>
  <dcterms:created xsi:type="dcterms:W3CDTF">2013-01-27T09:14:16Z</dcterms:created>
  <dcterms:modified xsi:type="dcterms:W3CDTF">2013-01-27T09:15:58Z</dcterms:modified>
  <cp:category/>
</cp:coreProperties>
</file>