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Semana 41 por RPA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Buracos tapados</c:v>
                </c:pt>
              </c:strCache>
            </c:strRef>
          </c:tx>
          <c:spPr>
            <a:solidFill>
              <a:srgbClr val="0F2F86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54</c:v>
                </c:pt>
                <c:pt idx="2">
                  <c:v>96</c:v>
                </c:pt>
                <c:pt idx="3">
                  <c:v>61</c:v>
                </c:pt>
                <c:pt idx="4">
                  <c:v>37</c:v>
                </c:pt>
                <c:pt idx="5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Tapados S40</c:v>
                </c:pt>
              </c:strCache>
            </c:strRef>
          </c:tx>
          <c:spPr>
            <a:solidFill>
              <a:srgbClr val="A9B8CC"/>
            </a:solidFill>
          </c:spPr>
          <c:cat>
            <c:strRef>
              <c:f>Sheet1!$A$2:$A$7</c:f>
              <c:strCache>
                <c:ptCount val="6"/>
                <c:pt idx="0">
                  <c:v>RPA 1</c:v>
                </c:pt>
                <c:pt idx="1">
                  <c:v>RPA 2</c:v>
                </c:pt>
                <c:pt idx="2">
                  <c:v>RPA 3</c:v>
                </c:pt>
                <c:pt idx="3">
                  <c:v>RPA 4</c:v>
                </c:pt>
                <c:pt idx="4">
                  <c:v>RPA 5</c:v>
                </c:pt>
                <c:pt idx="5">
                  <c:v>RPA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</c:v>
                </c:pt>
                <c:pt idx="1">
                  <c:v>56</c:v>
                </c:pt>
                <c:pt idx="2">
                  <c:v>77</c:v>
                </c:pt>
                <c:pt idx="3">
                  <c:v>89</c:v>
                </c:pt>
                <c:pt idx="4">
                  <c:v>102</c:v>
                </c:pt>
                <c:pt idx="5">
                  <c:v>65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5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S30
22/07</c:v>
                </c:pt>
                <c:pt idx="1">
                  <c:v>S31
29/07</c:v>
                </c:pt>
                <c:pt idx="2">
                  <c:v>S32
05/08</c:v>
                </c:pt>
                <c:pt idx="3">
                  <c:v>S33
12/08</c:v>
                </c:pt>
                <c:pt idx="4">
                  <c:v>S34
19/08</c:v>
                </c:pt>
                <c:pt idx="5">
                  <c:v>S35
26/08</c:v>
                </c:pt>
                <c:pt idx="6">
                  <c:v>S36
02/09</c:v>
                </c:pt>
                <c:pt idx="7">
                  <c:v>S37
09/09</c:v>
                </c:pt>
                <c:pt idx="8">
                  <c:v>S38
16/09</c:v>
                </c:pt>
                <c:pt idx="9">
                  <c:v>S39
23/09</c:v>
                </c:pt>
                <c:pt idx="10">
                  <c:v>S40
30/09</c:v>
                </c:pt>
                <c:pt idx="11">
                  <c:v>S41
07/10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469</c:v>
                </c:pt>
                <c:pt idx="1">
                  <c:v>423</c:v>
                </c:pt>
                <c:pt idx="2">
                  <c:v>513</c:v>
                </c:pt>
                <c:pt idx="3">
                  <c:v>368</c:v>
                </c:pt>
                <c:pt idx="4">
                  <c:v>534</c:v>
                </c:pt>
                <c:pt idx="5">
                  <c:v>522</c:v>
                </c:pt>
                <c:pt idx="6">
                  <c:v>338</c:v>
                </c:pt>
                <c:pt idx="7">
                  <c:v>492</c:v>
                </c:pt>
                <c:pt idx="8">
                  <c:v>390</c:v>
                </c:pt>
                <c:pt idx="9">
                  <c:v>320</c:v>
                </c:pt>
                <c:pt idx="10">
                  <c:v>426</c:v>
                </c:pt>
                <c:pt idx="11">
                  <c:v>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S30
22/07</c:v>
                </c:pt>
                <c:pt idx="1">
                  <c:v>S31
29/07</c:v>
                </c:pt>
                <c:pt idx="2">
                  <c:v>S32
05/08</c:v>
                </c:pt>
                <c:pt idx="3">
                  <c:v>S33
12/08</c:v>
                </c:pt>
                <c:pt idx="4">
                  <c:v>S34
19/08</c:v>
                </c:pt>
                <c:pt idx="5">
                  <c:v>S35
26/08</c:v>
                </c:pt>
                <c:pt idx="6">
                  <c:v>S36
02/09</c:v>
                </c:pt>
                <c:pt idx="7">
                  <c:v>S37
09/09</c:v>
                </c:pt>
                <c:pt idx="8">
                  <c:v>S38
16/09</c:v>
                </c:pt>
                <c:pt idx="9">
                  <c:v>S39
23/09</c:v>
                </c:pt>
                <c:pt idx="10">
                  <c:v>S40
30/09</c:v>
                </c:pt>
                <c:pt idx="11">
                  <c:v>S41
07/10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191</c:v>
                </c:pt>
                <c:pt idx="1">
                  <c:v>175</c:v>
                </c:pt>
                <c:pt idx="2">
                  <c:v>140</c:v>
                </c:pt>
                <c:pt idx="3">
                  <c:v>166</c:v>
                </c:pt>
                <c:pt idx="4">
                  <c:v>102</c:v>
                </c:pt>
                <c:pt idx="5">
                  <c:v>98</c:v>
                </c:pt>
                <c:pt idx="6">
                  <c:v>170</c:v>
                </c:pt>
                <c:pt idx="7">
                  <c:v>111</c:v>
                </c:pt>
                <c:pt idx="8">
                  <c:v>162</c:v>
                </c:pt>
                <c:pt idx="9">
                  <c:v>160</c:v>
                </c:pt>
                <c:pt idx="10">
                  <c:v>171</c:v>
                </c:pt>
                <c:pt idx="11">
                  <c:v>158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S30</c:v>
                </c:pt>
                <c:pt idx="1">
                  <c:v>S31</c:v>
                </c:pt>
                <c:pt idx="2">
                  <c:v>S32</c:v>
                </c:pt>
                <c:pt idx="3">
                  <c:v>S33</c:v>
                </c:pt>
                <c:pt idx="4">
                  <c:v>S34</c:v>
                </c:pt>
                <c:pt idx="5">
                  <c:v>S35</c:v>
                </c:pt>
                <c:pt idx="6">
                  <c:v>S36</c:v>
                </c:pt>
                <c:pt idx="7">
                  <c:v>S37</c:v>
                </c:pt>
                <c:pt idx="8">
                  <c:v>S38</c:v>
                </c:pt>
                <c:pt idx="9">
                  <c:v>S39</c:v>
                </c:pt>
                <c:pt idx="10">
                  <c:v>S40</c:v>
                </c:pt>
                <c:pt idx="11">
                  <c:v>S41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82.12</c:v>
                </c:pt>
                <c:pt idx="1">
                  <c:v>85.28</c:v>
                </c:pt>
                <c:pt idx="2">
                  <c:v>23.11</c:v>
                </c:pt>
                <c:pt idx="3">
                  <c:v>56.72</c:v>
                </c:pt>
                <c:pt idx="4">
                  <c:v>15.59</c:v>
                </c:pt>
                <c:pt idx="5">
                  <c:v>32.74</c:v>
                </c:pt>
                <c:pt idx="6">
                  <c:v>37.84</c:v>
                </c:pt>
                <c:pt idx="7">
                  <c:v>18.55</c:v>
                </c:pt>
                <c:pt idx="8">
                  <c:v>12.46</c:v>
                </c:pt>
                <c:pt idx="9">
                  <c:v>18.36</c:v>
                </c:pt>
                <c:pt idx="10">
                  <c:v>21.91</c:v>
                </c:pt>
                <c:pt idx="11">
                  <c:v>2.38</c:v>
                </c:pt>
              </c:numCache>
            </c:numRef>
          </c:val>
        </c:ser>
        <c:dLbls>
          <c:numFmt formatCode="0;;&quot;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41,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20190</c:v>
                </c:pt>
                <c:pt idx="1">
                  <c:v>16501</c:v>
                </c:pt>
                <c:pt idx="2">
                  <c:v>17122</c:v>
                </c:pt>
                <c:pt idx="3">
                  <c:v>17576</c:v>
                </c:pt>
                <c:pt idx="4">
                  <c:v>16446</c:v>
                </c:pt>
                <c:pt idx="5">
                  <c:v>16162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Sheet1!$A$2:$A$42</c:f>
              <c:strCache>
                <c:ptCount val="41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  <c:pt idx="40">
                  <c:v>359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Sheet1!$A$2:$A$42</c:f>
              <c:strCache>
                <c:ptCount val="41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</c:strCache>
            </c: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  <c:pt idx="40">
                  <c:v>567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5"/>
            <c:spPr>
              <a:solidFill>
                <a:srgbClr val="0F2F86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337</c:v>
                </c:pt>
                <c:pt idx="1">
                  <c:v>417</c:v>
                </c:pt>
                <c:pt idx="2">
                  <c:v>417</c:v>
                </c:pt>
                <c:pt idx="3">
                  <c:v>328</c:v>
                </c:pt>
                <c:pt idx="4">
                  <c:v>567</c:v>
                </c:pt>
                <c:pt idx="5">
                  <c:v>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3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130</c:v>
                </c:pt>
                <c:pt idx="1">
                  <c:v>157</c:v>
                </c:pt>
                <c:pt idx="2">
                  <c:v>134</c:v>
                </c:pt>
                <c:pt idx="3">
                  <c:v>76</c:v>
                </c:pt>
                <c:pt idx="4">
                  <c:v>81</c:v>
                </c:pt>
                <c:pt idx="5">
                  <c:v>158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na semana 41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54.55</c:v>
                </c:pt>
                <c:pt idx="2">
                  <c:v>8.91</c:v>
                </c:pt>
                <c:pt idx="3">
                  <c:v>1.78</c:v>
                </c:pt>
                <c:pt idx="4">
                  <c:v>1.39</c:v>
                </c:pt>
                <c:pt idx="5">
                  <c:v>2.38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1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9.0975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Demandas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0.13675213675213677</c:v>
                </c:pt>
                <c:pt idx="1">
                  <c:v>0.07264957264957266</c:v>
                </c:pt>
                <c:pt idx="2">
                  <c:v>0.20085470085470086</c:v>
                </c:pt>
                <c:pt idx="3">
                  <c:v>0.19230769230769235</c:v>
                </c:pt>
                <c:pt idx="4">
                  <c:v>0.21367521367521367</c:v>
                </c:pt>
                <c:pt idx="5">
                  <c:v>0.18376068376068377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S34</c:v>
                </c:pt>
                <c:pt idx="1">
                  <c:v>S35</c:v>
                </c:pt>
                <c:pt idx="2">
                  <c:v>S36</c:v>
                </c:pt>
                <c:pt idx="3">
                  <c:v>S37</c:v>
                </c:pt>
                <c:pt idx="4">
                  <c:v>S38</c:v>
                </c:pt>
                <c:pt idx="5">
                  <c:v>S39</c:v>
                </c:pt>
                <c:pt idx="6">
                  <c:v>S40</c:v>
                </c:pt>
                <c:pt idx="7">
                  <c:v>S41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8.9</c:v>
                </c:pt>
                <c:pt idx="1">
                  <c:v>9.0</c:v>
                </c:pt>
                <c:pt idx="2">
                  <c:v>8.03</c:v>
                </c:pt>
                <c:pt idx="3">
                  <c:v>9.56</c:v>
                </c:pt>
                <c:pt idx="4">
                  <c:v>8.43</c:v>
                </c:pt>
                <c:pt idx="5">
                  <c:v>6.43</c:v>
                </c:pt>
                <c:pt idx="6">
                  <c:v>8.6</c:v>
                </c:pt>
                <c:pt idx="7">
                  <c:v>10.84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S34</c:v>
                </c:pt>
                <c:pt idx="1">
                  <c:v>S35</c:v>
                </c:pt>
                <c:pt idx="2">
                  <c:v>S36</c:v>
                </c:pt>
                <c:pt idx="3">
                  <c:v>S37</c:v>
                </c:pt>
                <c:pt idx="4">
                  <c:v>S38</c:v>
                </c:pt>
                <c:pt idx="5">
                  <c:v>S39</c:v>
                </c:pt>
                <c:pt idx="6">
                  <c:v>S40</c:v>
                </c:pt>
                <c:pt idx="7">
                  <c:v>S41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7.0</c:v>
                </c:pt>
                <c:pt idx="1">
                  <c:v>7.71</c:v>
                </c:pt>
                <c:pt idx="2">
                  <c:v>9.89</c:v>
                </c:pt>
                <c:pt idx="3">
                  <c:v>7.36</c:v>
                </c:pt>
                <c:pt idx="4">
                  <c:v>8.67</c:v>
                </c:pt>
                <c:pt idx="5">
                  <c:v>8.2</c:v>
                </c:pt>
                <c:pt idx="6">
                  <c:v>7.22</c:v>
                </c:pt>
                <c:pt idx="7">
                  <c:v>8.8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41 (07/10 a 13/10/2026).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41: 359 buracos tapados e saldo de 158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por RPA (planilha de frentes de serviço) e saldo a tapar por RPA (Números Emlurb), semana atual 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semana 41 em cada ano: tapados e saldo (Números Emlurb) e a chuva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  ·  12/10 N. Sra. Aparecida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2.xml"/><Relationship Id="rId6" Type="http://schemas.openxmlformats.org/officeDocument/2006/relationships/chart" Target="../charts/char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4.xml"/><Relationship Id="rId6" Type="http://schemas.openxmlformats.org/officeDocument/2006/relationships/chart" Target="../charts/chart5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8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9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07/10 a 13/10/2026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24/10/2026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359 buracos tapados na semana 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359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16%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40 (426)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394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9% abaixo da média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158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7A35B"/>
                </a:solidFill>
                <a:latin typeface="Calibri"/>
              </a:rPr>
              <a:t>▼ 8%</a:t>
            </a:r>
            <a:r>
              <a:rPr sz="1050" b="0" i="0">
                <a:solidFill>
                  <a:srgbClr val="17A35B"/>
                </a:solidFill>
                <a:latin typeface="Calibri"/>
              </a:rPr>
              <a:t>  vs semana 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69%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77840" y="4334256"/>
            <a:ext cx="1873105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2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▼ 84%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2.102 mm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16.162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41 semanas · média de 394 por semana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POR RPA · SEMANA 41 × SEMANA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RPA 3 (Noroeste) tapou mais: 96 buracos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5212080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143000"/>
                <a:gridCol w="868680"/>
                <a:gridCol w="86868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Empresa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S41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Tapados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S40</a:t>
                      </a:r>
                    </a:p>
                  </a:txBody>
                  <a:tcPr anchor="ctr" marL="54864" marR="54864" marT="18288" marB="18288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Δ tapados</a:t>
                      </a:r>
                    </a:p>
                  </a:txBody>
                  <a:tcPr anchor="ctr" marL="54864" marR="54864" marT="18288" marB="18288">
                    <a:solidFill>
                      <a:srgbClr val="0F2F8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Centro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38%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Noroeste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25%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Oeste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31%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Sudoeste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E5383B"/>
                          </a:solidFill>
                          <a:latin typeface="Calibri"/>
                        </a:rPr>
                        <a:t>▼ 64%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1000" b="1">
                          <a:solidFill>
                            <a:srgbClr val="16233F"/>
                          </a:solidFill>
                          <a:latin typeface="Calibri"/>
                        </a:rPr>
                        <a:t>Sul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33F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B6B8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8A4C"/>
                          </a:solidFill>
                          <a:latin typeface="Calibri"/>
                        </a:rPr>
                        <a:t>▲ 35%</a:t>
                      </a:r>
                    </a:p>
                  </a:txBody>
                  <a:tcPr anchor="ctr" marL="54864" marR="54864" marT="18288" marB="18288">
                    <a:solidFill>
                      <a:srgbClr val="F3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F2F86"/>
                          </a:solidFill>
                          <a:latin typeface="Calibri"/>
                        </a:rPr>
                        <a:t>▼ 16%</a:t>
                      </a:r>
                    </a:p>
                  </a:txBody>
                  <a:tcPr anchor="ctr" marL="54864" marR="54864" marT="18288" marB="18288">
                    <a:solidFill>
                      <a:srgbClr val="DCE8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0" y="1481328"/>
            <a:ext cx="574517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035040" y="1572768"/>
          <a:ext cx="5562295" cy="4434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394 buracos tapados (semanas 01 a 41)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 ANO ATÉ AQUI · ATÉ A SEMANA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16.162 buracos tapados em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16.162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2%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(16.446)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SEMANA 41 AO LONGO DOS 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359 tapados — 13% abaixo da média desta semana em 2021–2025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7619695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7345375" cy="3291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818888"/>
          <a:ext cx="7345375" cy="1216152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351215" y="1481328"/>
            <a:ext cx="3337560" cy="21488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Pie 24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10756087" y="1783080"/>
            <a:ext cx="768096" cy="768096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05570" y="2132563"/>
            <a:ext cx="69128" cy="691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25535" y="1709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C20E"/>
                </a:solidFill>
                <a:latin typeface="Calibri"/>
              </a:rPr>
              <a:t>TAPADOS · SEMANA 41/2026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35" y="193852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359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5535" y="2852928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FD7FB"/>
                </a:solidFill>
                <a:latin typeface="Calibri"/>
              </a:rPr>
              <a:t>Média da semana em anos anteriores: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413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25535" y="3172968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5535" y="31729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B3B3"/>
                </a:solidFill>
                <a:latin typeface="Calibri"/>
              </a:rPr>
              <a:t>▼ 13%</a:t>
            </a:r>
            <a:r>
              <a:rPr sz="950" b="0" i="0">
                <a:solidFill>
                  <a:srgbClr val="D7E7FF"/>
                </a:solidFill>
                <a:latin typeface="Calibri"/>
              </a:rPr>
              <a:t>  vs média dos anos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51215" y="3813048"/>
            <a:ext cx="3337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215" y="3995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5535" y="3977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5535" y="4224528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158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68535" y="43799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8535" y="437997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E5383B"/>
                </a:solidFill>
                <a:latin typeface="Calibri"/>
              </a:rPr>
              <a:t>▲ 37%</a:t>
            </a:r>
            <a:r>
              <a:rPr sz="900" b="0" i="0">
                <a:solidFill>
                  <a:srgbClr val="E5383B"/>
                </a:solidFill>
                <a:latin typeface="Calibri"/>
              </a:rPr>
              <a:t>  vs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25535" y="47731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média dos anos anteriores: 116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1215" y="5230368"/>
            <a:ext cx="3337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51215" y="5367528"/>
            <a:ext cx="73152" cy="594360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5535" y="534009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MAIS TAPADOS NESTA SEMANA</a:t>
            </a:r>
          </a:p>
          <a:p>
            <a:pPr algn="l">
              <a:spcBef>
                <a:spcPts val="200"/>
              </a:spcBef>
            </a:pPr>
            <a:r>
              <a:rPr sz="2200" b="1" i="0">
                <a:solidFill>
                  <a:srgbClr val="1546C0"/>
                </a:solidFill>
                <a:latin typeface="Calibri"/>
              </a:rPr>
              <a:t>2025</a:t>
            </a:r>
            <a:r>
              <a:rPr sz="1200" b="0" i="0">
                <a:solidFill>
                  <a:srgbClr val="5B6B82"/>
                </a:solidFill>
                <a:latin typeface="Calibri"/>
              </a:rPr>
              <a:t>   567 buracos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RPA 5 (Sudoeste) concentra 21% das demandas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618488"/>
          <a:ext cx="4572000" cy="4343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maior participação nas demandas em aberto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Engenho do Meio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0370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220370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2121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6,0%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Tejipio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2551176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2551176"/>
            <a:ext cx="2023371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8655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5,6%</a:t>
            </a:r>
          </a:p>
        </p:txBody>
      </p:sp>
      <p:sp>
        <p:nvSpPr>
          <p:cNvPr id="32" name="Oval 31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Jardim Sao Paulo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2898648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2898648"/>
            <a:ext cx="1867727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28655" y="28163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5,1%</a:t>
            </a:r>
          </a:p>
        </p:txBody>
      </p:sp>
      <p:sp>
        <p:nvSpPr>
          <p:cNvPr id="38" name="Oval 37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3246120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12480" y="3246120"/>
            <a:ext cx="171208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28655" y="31638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4,7%</a:t>
            </a:r>
          </a:p>
        </p:txBody>
      </p:sp>
      <p:sp>
        <p:nvSpPr>
          <p:cNvPr id="44" name="Oval 43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Varzea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3593592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412480" y="3593592"/>
            <a:ext cx="1556439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8655" y="3511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4,3%</a:t>
            </a:r>
          </a:p>
        </p:txBody>
      </p:sp>
      <p:sp>
        <p:nvSpPr>
          <p:cNvPr id="50" name="Oval 49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Campo Grande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3941064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0" y="3941064"/>
            <a:ext cx="140079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28655" y="38587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56" name="Oval 55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Cordeiro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4288536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412480" y="4288536"/>
            <a:ext cx="140079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728655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62" name="Oval 61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Cohab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4636008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412480" y="4636008"/>
            <a:ext cx="140079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28655" y="4553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68" name="Oval 67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Iputinga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4983480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12480" y="4983480"/>
            <a:ext cx="140079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28655" y="49011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74" name="Oval 73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Viagem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5330952"/>
            <a:ext cx="217901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412480" y="5330952"/>
            <a:ext cx="1400795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8655" y="5248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17% das demandas em aberto da cidade.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359 buracos tapados pelas frentes  ·  AGC 271  ·  LIDERMAC 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5 de 7 dias com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271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10,8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26%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35%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22%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38%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(37)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7,7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(56)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9,0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96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25%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(77)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12,0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+56%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31%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(89)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15,2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+3%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37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64%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(102)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9,2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+9%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88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35%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(65)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8,8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+22%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  ·  12/10 N. Sra. Aparecida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10,3 buracos por frente — 23% acima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07/10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08/10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09/10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10/10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11/10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12/10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N. Sra. Aparecida</a:t>
                      </a:r>
                    </a:p>
                  </a:txBody>
                  <a:tcPr marL="45720" marR="45720" marT="18288" marB="18288" anchor="ctr">
                    <a:solidFill>
                      <a:srgbClr val="B423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13/10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38%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25%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12,0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15,2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14,8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64%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35%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16%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10,3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41  ·  07/10 a 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