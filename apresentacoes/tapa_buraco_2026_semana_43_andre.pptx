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Semana 43 por RPA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Buracos tapados</c:v>
                </c:pt>
              </c:strCache>
            </c:strRef>
          </c:tx>
          <c:spPr>
            <a:solidFill>
              <a:srgbClr val="0F2F86"/>
            </a:solidFill>
          </c:spPr>
          <c:cat>
            <c:strRef>
              <c:f>Sheet1!$A$2:$A$7</c:f>
              <c:strCache>
                <c:ptCount val="6"/>
                <c:pt idx="0">
                  <c:v>RPA 1</c:v>
                </c:pt>
                <c:pt idx="1">
                  <c:v>RPA 2</c:v>
                </c:pt>
                <c:pt idx="2">
                  <c:v>RPA 3</c:v>
                </c:pt>
                <c:pt idx="3">
                  <c:v>RPA 4</c:v>
                </c:pt>
                <c:pt idx="4">
                  <c:v>RPA 5</c:v>
                </c:pt>
                <c:pt idx="5">
                  <c:v>RPA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26</c:v>
                </c:pt>
                <c:pt idx="2">
                  <c:v>57</c:v>
                </c:pt>
                <c:pt idx="3">
                  <c:v>29</c:v>
                </c:pt>
                <c:pt idx="4">
                  <c:v>38</c:v>
                </c:pt>
                <c:pt idx="5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Tapados S42</c:v>
                </c:pt>
              </c:strCache>
            </c:strRef>
          </c:tx>
          <c:spPr>
            <a:solidFill>
              <a:srgbClr val="A9B8CC"/>
            </a:solidFill>
          </c:spPr>
          <c:cat>
            <c:strRef>
              <c:f>Sheet1!$A$2:$A$7</c:f>
              <c:strCache>
                <c:ptCount val="6"/>
                <c:pt idx="0">
                  <c:v>RPA 1</c:v>
                </c:pt>
                <c:pt idx="1">
                  <c:v>RPA 2</c:v>
                </c:pt>
                <c:pt idx="2">
                  <c:v>RPA 3</c:v>
                </c:pt>
                <c:pt idx="3">
                  <c:v>RPA 4</c:v>
                </c:pt>
                <c:pt idx="4">
                  <c:v>RPA 5</c:v>
                </c:pt>
                <c:pt idx="5">
                  <c:v>RPA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</c:v>
                </c:pt>
                <c:pt idx="1">
                  <c:v>40</c:v>
                </c:pt>
                <c:pt idx="2">
                  <c:v>42</c:v>
                </c:pt>
                <c:pt idx="3">
                  <c:v>50</c:v>
                </c:pt>
                <c:pt idx="4">
                  <c:v>18</c:v>
                </c:pt>
                <c:pt idx="5">
                  <c:v>67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6233F"/>
                </a:solidFill>
              </a:rPr>
              <a:t>Buracos por frente — últimas 8 semanas</a:t>
            </a:r>
          </a:p>
        </c:rich>
      </c:tx>
      <c:layout/>
      <c:overlay val="0"/>
    </c:title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</c:v>
                </c:pt>
              </c:strCache>
            </c:strRef>
          </c:tx>
          <c:spPr>
            <a:ln w="31750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S36</c:v>
                </c:pt>
                <c:pt idx="1">
                  <c:v>S37</c:v>
                </c:pt>
                <c:pt idx="2">
                  <c:v>S38</c:v>
                </c:pt>
                <c:pt idx="3">
                  <c:v>S39</c:v>
                </c:pt>
                <c:pt idx="4">
                  <c:v>S40</c:v>
                </c:pt>
                <c:pt idx="5">
                  <c:v>S41</c:v>
                </c:pt>
                <c:pt idx="6">
                  <c:v>S42</c:v>
                </c:pt>
                <c:pt idx="7">
                  <c:v>S43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8.03</c:v>
                </c:pt>
                <c:pt idx="1">
                  <c:v>9.56</c:v>
                </c:pt>
                <c:pt idx="2">
                  <c:v>8.43</c:v>
                </c:pt>
                <c:pt idx="3">
                  <c:v>6.43</c:v>
                </c:pt>
                <c:pt idx="4">
                  <c:v>8.6</c:v>
                </c:pt>
                <c:pt idx="5">
                  <c:v>10.84</c:v>
                </c:pt>
                <c:pt idx="6">
                  <c:v>8.6</c:v>
                </c:pt>
                <c:pt idx="7">
                  <c:v>7.36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LIDERMAC</c:v>
                </c:pt>
              </c:strCache>
            </c:strRef>
          </c:tx>
          <c:spPr>
            <a:ln w="31750">
              <a:solidFill>
                <a:srgbClr val="7B4FD6"/>
              </a:solidFill>
            </a:ln>
          </c:spPr>
          <c:marker>
            <c:symbol val="circle"/>
            <c:size val="6"/>
            <c:spPr>
              <a:solidFill>
                <a:srgbClr val="7B4F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S36</c:v>
                </c:pt>
                <c:pt idx="1">
                  <c:v>S37</c:v>
                </c:pt>
                <c:pt idx="2">
                  <c:v>S38</c:v>
                </c:pt>
                <c:pt idx="3">
                  <c:v>S39</c:v>
                </c:pt>
                <c:pt idx="4">
                  <c:v>S40</c:v>
                </c:pt>
                <c:pt idx="5">
                  <c:v>S41</c:v>
                </c:pt>
                <c:pt idx="6">
                  <c:v>S42</c:v>
                </c:pt>
                <c:pt idx="7">
                  <c:v>S43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9.89</c:v>
                </c:pt>
                <c:pt idx="1">
                  <c:v>7.36</c:v>
                </c:pt>
                <c:pt idx="2">
                  <c:v>8.67</c:v>
                </c:pt>
                <c:pt idx="3">
                  <c:v>8.2</c:v>
                </c:pt>
                <c:pt idx="4">
                  <c:v>7.22</c:v>
                </c:pt>
                <c:pt idx="5">
                  <c:v>8.8</c:v>
                </c:pt>
                <c:pt idx="6">
                  <c:v>8.38</c:v>
                </c:pt>
                <c:pt idx="7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.0"/>
          <c:min val="4.0"/>
        </c:scaling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11"/>
            <c:spPr>
              <a:solidFill>
                <a:srgbClr val="0F2F86"/>
              </a:solidFill>
            </c:spPr>
          </c:dPt>
          <c:cat>
            <c:strRef>
              <c:f>Sheet1!$A$2:$A$13</c:f>
              <c:strCache>
                <c:ptCount val="12"/>
                <c:pt idx="0">
                  <c:v>S32
05/08</c:v>
                </c:pt>
                <c:pt idx="1">
                  <c:v>S33
12/08</c:v>
                </c:pt>
                <c:pt idx="2">
                  <c:v>S34
19/08</c:v>
                </c:pt>
                <c:pt idx="3">
                  <c:v>S35
26/08</c:v>
                </c:pt>
                <c:pt idx="4">
                  <c:v>S36
02/09</c:v>
                </c:pt>
                <c:pt idx="5">
                  <c:v>S37
09/09</c:v>
                </c:pt>
                <c:pt idx="6">
                  <c:v>S38
16/09</c:v>
                </c:pt>
                <c:pt idx="7">
                  <c:v>S39
23/09</c:v>
                </c:pt>
                <c:pt idx="8">
                  <c:v>S40
30/09</c:v>
                </c:pt>
                <c:pt idx="9">
                  <c:v>S41
07/10</c:v>
                </c:pt>
                <c:pt idx="10">
                  <c:v>S42
14/10</c:v>
                </c:pt>
                <c:pt idx="11">
                  <c:v>S43
21/10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513</c:v>
                </c:pt>
                <c:pt idx="1">
                  <c:v>368</c:v>
                </c:pt>
                <c:pt idx="2">
                  <c:v>534</c:v>
                </c:pt>
                <c:pt idx="3">
                  <c:v>522</c:v>
                </c:pt>
                <c:pt idx="4">
                  <c:v>338</c:v>
                </c:pt>
                <c:pt idx="5">
                  <c:v>492</c:v>
                </c:pt>
                <c:pt idx="6">
                  <c:v>390</c:v>
                </c:pt>
                <c:pt idx="7">
                  <c:v>320</c:v>
                </c:pt>
                <c:pt idx="8">
                  <c:v>426</c:v>
                </c:pt>
                <c:pt idx="9">
                  <c:v>359</c:v>
                </c:pt>
                <c:pt idx="10">
                  <c:v>239</c:v>
                </c:pt>
                <c:pt idx="11">
                  <c:v>265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2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S32
05/08</c:v>
                </c:pt>
                <c:pt idx="1">
                  <c:v>S33
12/08</c:v>
                </c:pt>
                <c:pt idx="2">
                  <c:v>S34
19/08</c:v>
                </c:pt>
                <c:pt idx="3">
                  <c:v>S35
26/08</c:v>
                </c:pt>
                <c:pt idx="4">
                  <c:v>S36
02/09</c:v>
                </c:pt>
                <c:pt idx="5">
                  <c:v>S37
09/09</c:v>
                </c:pt>
                <c:pt idx="6">
                  <c:v>S38
16/09</c:v>
                </c:pt>
                <c:pt idx="7">
                  <c:v>S39
23/09</c:v>
                </c:pt>
                <c:pt idx="8">
                  <c:v>S40
30/09</c:v>
                </c:pt>
                <c:pt idx="9">
                  <c:v>S41
07/10</c:v>
                </c:pt>
                <c:pt idx="10">
                  <c:v>S42
14/10</c:v>
                </c:pt>
                <c:pt idx="11">
                  <c:v>S43
21/10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140</c:v>
                </c:pt>
                <c:pt idx="1">
                  <c:v>166</c:v>
                </c:pt>
                <c:pt idx="2">
                  <c:v>102</c:v>
                </c:pt>
                <c:pt idx="3">
                  <c:v>98</c:v>
                </c:pt>
                <c:pt idx="4">
                  <c:v>170</c:v>
                </c:pt>
                <c:pt idx="5">
                  <c:v>111</c:v>
                </c:pt>
                <c:pt idx="6">
                  <c:v>162</c:v>
                </c:pt>
                <c:pt idx="7">
                  <c:v>160</c:v>
                </c:pt>
                <c:pt idx="8">
                  <c:v>171</c:v>
                </c:pt>
                <c:pt idx="9">
                  <c:v>158</c:v>
                </c:pt>
                <c:pt idx="10">
                  <c:v>145</c:v>
                </c:pt>
                <c:pt idx="11">
                  <c:v>169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por semana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Sheet1!$A$2:$A$13</c:f>
              <c:strCache>
                <c:ptCount val="12"/>
                <c:pt idx="0">
                  <c:v>S32</c:v>
                </c:pt>
                <c:pt idx="1">
                  <c:v>S33</c:v>
                </c:pt>
                <c:pt idx="2">
                  <c:v>S34</c:v>
                </c:pt>
                <c:pt idx="3">
                  <c:v>S35</c:v>
                </c:pt>
                <c:pt idx="4">
                  <c:v>S36</c:v>
                </c:pt>
                <c:pt idx="5">
                  <c:v>S37</c:v>
                </c:pt>
                <c:pt idx="6">
                  <c:v>S38</c:v>
                </c:pt>
                <c:pt idx="7">
                  <c:v>S39</c:v>
                </c:pt>
                <c:pt idx="8">
                  <c:v>S40</c:v>
                </c:pt>
                <c:pt idx="9">
                  <c:v>S41</c:v>
                </c:pt>
                <c:pt idx="10">
                  <c:v>S42</c:v>
                </c:pt>
                <c:pt idx="11">
                  <c:v>S43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23.11</c:v>
                </c:pt>
                <c:pt idx="1">
                  <c:v>56.72</c:v>
                </c:pt>
                <c:pt idx="2">
                  <c:v>15.59</c:v>
                </c:pt>
                <c:pt idx="3">
                  <c:v>32.74</c:v>
                </c:pt>
                <c:pt idx="4">
                  <c:v>37.84</c:v>
                </c:pt>
                <c:pt idx="5">
                  <c:v>18.55</c:v>
                </c:pt>
                <c:pt idx="6">
                  <c:v>12.46</c:v>
                </c:pt>
                <c:pt idx="7">
                  <c:v>18.36</c:v>
                </c:pt>
                <c:pt idx="8">
                  <c:v>21.91</c:v>
                </c:pt>
                <c:pt idx="9">
                  <c:v>2.38</c:v>
                </c:pt>
                <c:pt idx="10">
                  <c:v>0</c:v>
                </c:pt>
                <c:pt idx="11">
                  <c:v>9.67</c:v>
                </c:pt>
              </c:numCache>
            </c:numRef>
          </c:val>
        </c:ser>
        <c:dLbls>
          <c:numFmt formatCode="0;;&quot;0&quot;" sourceLinked="0"/>
          <c:txPr>
            <a:bodyPr/>
            <a:lstStyle/>
            <a:p>
              <a:pPr>
                <a:defRPr sz="10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.572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50" b="1">
                <a:solidFill>
                  <a:srgbClr val="16233F"/>
                </a:solidFill>
              </a:rPr>
              <a:t>Tapados até a semana 43, ano a ano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 até a semana</c:v>
                </c:pt>
              </c:strCache>
            </c:strRef>
          </c:tx>
          <c:spPr>
            <a:solidFill>
              <a:srgbClr val="9CC6F7"/>
            </a:solidFill>
          </c:spPr>
          <c:dPt>
            <c:idx val="5"/>
            <c:spPr>
              <a:solidFill>
                <a:srgbClr val="0A7BEA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20735</c:v>
                </c:pt>
                <c:pt idx="1">
                  <c:v>17324</c:v>
                </c:pt>
                <c:pt idx="2">
                  <c:v>17813</c:v>
                </c:pt>
                <c:pt idx="3">
                  <c:v>18111</c:v>
                </c:pt>
                <c:pt idx="4">
                  <c:v>17298</c:v>
                </c:pt>
                <c:pt idx="5">
                  <c:v>16666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34925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Sheet1!$A$2:$A$44</c:f>
              <c:strCache>
                <c:ptCount val="43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</c:strCache>
            </c:strRef>
          </c:cat>
          <c:val>
            <c:numRef>
              <c:f>Sheet1!$B$2:$B$44</c:f>
              <c:numCache>
                <c:formatCode>General</c:formatCode>
                <c:ptCount val="43"/>
                <c:pt idx="0">
                  <c:v>184</c:v>
                </c:pt>
                <c:pt idx="1">
                  <c:v>347</c:v>
                </c:pt>
                <c:pt idx="2">
                  <c:v>385</c:v>
                </c:pt>
                <c:pt idx="3">
                  <c:v>389</c:v>
                </c:pt>
                <c:pt idx="4">
                  <c:v>382</c:v>
                </c:pt>
                <c:pt idx="5">
                  <c:v>308</c:v>
                </c:pt>
                <c:pt idx="6">
                  <c:v>139</c:v>
                </c:pt>
                <c:pt idx="7">
                  <c:v>347</c:v>
                </c:pt>
                <c:pt idx="8">
                  <c:v>402</c:v>
                </c:pt>
                <c:pt idx="9">
                  <c:v>269</c:v>
                </c:pt>
                <c:pt idx="10">
                  <c:v>398</c:v>
                </c:pt>
                <c:pt idx="11">
                  <c:v>347</c:v>
                </c:pt>
                <c:pt idx="12">
                  <c:v>257</c:v>
                </c:pt>
                <c:pt idx="13">
                  <c:v>96</c:v>
                </c:pt>
                <c:pt idx="14">
                  <c:v>365</c:v>
                </c:pt>
                <c:pt idx="15">
                  <c:v>393</c:v>
                </c:pt>
                <c:pt idx="16">
                  <c:v>447</c:v>
                </c:pt>
                <c:pt idx="17">
                  <c:v>195</c:v>
                </c:pt>
                <c:pt idx="18">
                  <c:v>284</c:v>
                </c:pt>
                <c:pt idx="19">
                  <c:v>484</c:v>
                </c:pt>
                <c:pt idx="20">
                  <c:v>471</c:v>
                </c:pt>
                <c:pt idx="21">
                  <c:v>474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366</c:v>
                </c:pt>
                <c:pt idx="29">
                  <c:v>469</c:v>
                </c:pt>
                <c:pt idx="30">
                  <c:v>423</c:v>
                </c:pt>
                <c:pt idx="31">
                  <c:v>513</c:v>
                </c:pt>
                <c:pt idx="32">
                  <c:v>368</c:v>
                </c:pt>
                <c:pt idx="33">
                  <c:v>534</c:v>
                </c:pt>
                <c:pt idx="34">
                  <c:v>522</c:v>
                </c:pt>
                <c:pt idx="35">
                  <c:v>338</c:v>
                </c:pt>
                <c:pt idx="36">
                  <c:v>492</c:v>
                </c:pt>
                <c:pt idx="37">
                  <c:v>390</c:v>
                </c:pt>
                <c:pt idx="38">
                  <c:v>320</c:v>
                </c:pt>
                <c:pt idx="39">
                  <c:v>426</c:v>
                </c:pt>
                <c:pt idx="40">
                  <c:v>359</c:v>
                </c:pt>
                <c:pt idx="41">
                  <c:v>239</c:v>
                </c:pt>
                <c:pt idx="42">
                  <c:v>265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2225">
              <a:solidFill>
                <a:srgbClr val="A9B8CC"/>
              </a:solidFill>
            </a:ln>
          </c:spPr>
          <c:marker>
            <c:symbol val="none"/>
          </c:marker>
          <c:cat>
            <c:strRef>
              <c:f>Sheet1!$A$2:$A$44</c:f>
              <c:strCache>
                <c:ptCount val="43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</c:strCache>
            </c:strRef>
          </c:cat>
          <c:val>
            <c:numRef>
              <c:f>Sheet1!$C$2:$C$44</c:f>
              <c:numCache>
                <c:formatCode>General</c:formatCode>
                <c:ptCount val="43"/>
                <c:pt idx="0">
                  <c:v>232</c:v>
                </c:pt>
                <c:pt idx="1">
                  <c:v>180</c:v>
                </c:pt>
                <c:pt idx="2">
                  <c:v>267</c:v>
                </c:pt>
                <c:pt idx="3">
                  <c:v>236</c:v>
                </c:pt>
                <c:pt idx="4">
                  <c:v>202</c:v>
                </c:pt>
                <c:pt idx="5">
                  <c:v>285</c:v>
                </c:pt>
                <c:pt idx="6">
                  <c:v>339</c:v>
                </c:pt>
                <c:pt idx="7">
                  <c:v>382</c:v>
                </c:pt>
                <c:pt idx="8">
                  <c:v>564</c:v>
                </c:pt>
                <c:pt idx="10">
                  <c:v>326</c:v>
                </c:pt>
                <c:pt idx="11">
                  <c:v>325</c:v>
                </c:pt>
                <c:pt idx="12">
                  <c:v>284</c:v>
                </c:pt>
                <c:pt idx="13">
                  <c:v>321</c:v>
                </c:pt>
                <c:pt idx="14">
                  <c:v>285</c:v>
                </c:pt>
                <c:pt idx="15">
                  <c:v>393</c:v>
                </c:pt>
                <c:pt idx="16">
                  <c:v>243</c:v>
                </c:pt>
                <c:pt idx="17">
                  <c:v>301</c:v>
                </c:pt>
                <c:pt idx="18">
                  <c:v>284</c:v>
                </c:pt>
                <c:pt idx="19">
                  <c:v>115</c:v>
                </c:pt>
                <c:pt idx="20">
                  <c:v>471</c:v>
                </c:pt>
                <c:pt idx="21">
                  <c:v>487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527</c:v>
                </c:pt>
                <c:pt idx="29">
                  <c:v>469</c:v>
                </c:pt>
                <c:pt idx="30">
                  <c:v>423</c:v>
                </c:pt>
                <c:pt idx="31">
                  <c:v>522</c:v>
                </c:pt>
                <c:pt idx="32">
                  <c:v>397</c:v>
                </c:pt>
                <c:pt idx="33">
                  <c:v>534</c:v>
                </c:pt>
                <c:pt idx="34">
                  <c:v>552</c:v>
                </c:pt>
                <c:pt idx="35">
                  <c:v>456</c:v>
                </c:pt>
                <c:pt idx="36">
                  <c:v>670</c:v>
                </c:pt>
                <c:pt idx="37">
                  <c:v>528</c:v>
                </c:pt>
                <c:pt idx="38">
                  <c:v>548</c:v>
                </c:pt>
                <c:pt idx="39">
                  <c:v>452</c:v>
                </c:pt>
                <c:pt idx="40">
                  <c:v>567</c:v>
                </c:pt>
                <c:pt idx="41">
                  <c:v>386</c:v>
                </c:pt>
                <c:pt idx="42">
                  <c:v>466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span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5"/>
            <c:spPr>
              <a:solidFill>
                <a:srgbClr val="0F2F86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191</c:v>
                </c:pt>
                <c:pt idx="1">
                  <c:v>599</c:v>
                </c:pt>
                <c:pt idx="2">
                  <c:v>399</c:v>
                </c:pt>
                <c:pt idx="3">
                  <c:v>212</c:v>
                </c:pt>
                <c:pt idx="4">
                  <c:v>466</c:v>
                </c:pt>
                <c:pt idx="5">
                  <c:v>265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3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132</c:v>
                </c:pt>
                <c:pt idx="1">
                  <c:v>164</c:v>
                </c:pt>
                <c:pt idx="2">
                  <c:v>142</c:v>
                </c:pt>
                <c:pt idx="3">
                  <c:v>97</c:v>
                </c:pt>
                <c:pt idx="4">
                  <c:v>84</c:v>
                </c:pt>
                <c:pt idx="5">
                  <c:v>169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na semana 43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19.37</c:v>
                </c:pt>
                <c:pt idx="1">
                  <c:v>12.65</c:v>
                </c:pt>
                <c:pt idx="2">
                  <c:v>54.5</c:v>
                </c:pt>
                <c:pt idx="3">
                  <c:v>6.71</c:v>
                </c:pt>
                <c:pt idx="4">
                  <c:v>16.75</c:v>
                </c:pt>
                <c:pt idx="5">
                  <c:v>9.67</c:v>
                </c:pt>
              </c:numCache>
            </c:numRef>
          </c:val>
        </c:ser>
        <c:dLbls>
          <c:numFmt formatCode="0;;&quot;0&quot;" sourceLinked="0"/>
          <c:txPr>
            <a:bodyPr/>
            <a:lstStyle/>
            <a:p>
              <a:pPr>
                <a:defRPr sz="11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9.02499999999999"/>
          <c:min val="0.0"/>
        </c:scaling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Buracos Siga em aberto por RPA</a:t>
            </a:r>
          </a:p>
        </c:rich>
      </c:tx>
      <c:layout/>
      <c:overlay val="0"/>
    </c:title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Buracos em aberto</c:v>
                </c:pt>
              </c:strCache>
            </c:strRef>
          </c:tx>
          <c:dPt>
            <c:idx val="0"/>
            <c:spPr>
              <a:solidFill>
                <a:srgbClr val="0A7BEA"/>
              </a:solidFill>
            </c:spPr>
          </c:dPt>
          <c:dPt>
            <c:idx val="1"/>
            <c:spPr>
              <a:solidFill>
                <a:srgbClr val="12A4B6"/>
              </a:solidFill>
            </c:spPr>
          </c:dPt>
          <c:dPt>
            <c:idx val="2"/>
            <c:spPr>
              <a:solidFill>
                <a:srgbClr val="17A35B"/>
              </a:solidFill>
            </c:spPr>
          </c:dPt>
          <c:dPt>
            <c:idx val="3"/>
            <c:spPr>
              <a:solidFill>
                <a:srgbClr val="F2A900"/>
              </a:solidFill>
            </c:spPr>
          </c:dPt>
          <c:dPt>
            <c:idx val="4"/>
            <c:spPr>
              <a:solidFill>
                <a:srgbClr val="E5383B"/>
              </a:solidFill>
            </c:spPr>
          </c:dPt>
          <c:dPt>
            <c:idx val="5"/>
            <c:spPr>
              <a:solidFill>
                <a:srgbClr val="7B4FD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Calibri"/>
                      </a:rPr>
                      <a:t>20</a:t>
                    </a:r>
                  </a:p>
                  <a:p>
                    <a:r>
                      <a:rPr sz="1000" b="1">
                        <a:solidFill>
                          <a:srgbClr val="FFFFFF"/>
                        </a:solidFill>
                        <a:latin typeface="Calibri"/>
                      </a:rPr>
                      <a:t>6%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Calibri"/>
                      </a:rPr>
                      <a:t>36</a:t>
                    </a:r>
                  </a:p>
                  <a:p>
                    <a:r>
                      <a:rPr sz="1000" b="1">
                        <a:solidFill>
                          <a:srgbClr val="FFFFFF"/>
                        </a:solidFill>
                        <a:latin typeface="Calibri"/>
                      </a:rPr>
                      <a:t>11%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Calibri"/>
                      </a:rPr>
                      <a:t>91</a:t>
                    </a:r>
                  </a:p>
                  <a:p>
                    <a:r>
                      <a:rPr sz="1000" b="1">
                        <a:solidFill>
                          <a:srgbClr val="FFFFFF"/>
                        </a:solidFill>
                        <a:latin typeface="Calibri"/>
                      </a:rPr>
                      <a:t>28%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16233F"/>
                        </a:solidFill>
                        <a:latin typeface="Calibri"/>
                      </a:rPr>
                      <a:t>64</a:t>
                    </a:r>
                  </a:p>
                  <a:p>
                    <a:r>
                      <a:rPr sz="1000" b="1">
                        <a:solidFill>
                          <a:srgbClr val="16233F"/>
                        </a:solidFill>
                        <a:latin typeface="Calibri"/>
                      </a:rPr>
                      <a:t>20%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Calibri"/>
                      </a:rPr>
                      <a:t>64</a:t>
                    </a:r>
                  </a:p>
                  <a:p>
                    <a:r>
                      <a:rPr sz="1000" b="1">
                        <a:solidFill>
                          <a:srgbClr val="FFFFFF"/>
                        </a:solidFill>
                        <a:latin typeface="Calibri"/>
                      </a:rPr>
                      <a:t>20%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FFFFFF"/>
                        </a:solidFill>
                        <a:latin typeface="Calibri"/>
                      </a:rPr>
                      <a:t>45</a:t>
                    </a:r>
                  </a:p>
                  <a:p>
                    <a:r>
                      <a:rPr sz="1000" b="1">
                        <a:solidFill>
                          <a:srgbClr val="FFFFFF"/>
                        </a:solidFill>
                        <a:latin typeface="Calibri"/>
                      </a:rPr>
                      <a:t>14%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36</c:v>
                </c:pt>
                <c:pt idx="2">
                  <c:v>91</c:v>
                </c:pt>
                <c:pt idx="3">
                  <c:v>64</c:v>
                </c:pt>
                <c:pt idx="4">
                  <c:v>64</c:v>
                </c:pt>
                <c:pt idx="5">
                  <c:v>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Operação Tapa-Buraco — semana Emlurb 43 (21/10 a 27/10/2026).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43: 265 buracos tapados e saldo de 169 a tapar.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por RPA (planilha de frentes de serviço) e saldo a tapar por RPA (Números Emlurb), semana atual e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Buracos por frente = buracos tapados na semana ÷ frentes que trabalharam (cada equipe conta 1 por dia em que foi à rua). Fonte: planilha de frentes de serviço.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Frentes de serviço da semana por empresa e RPA. Quadradinhos = buracos tapados por dia (qua → ter)  ·  0 em laranja = dia útil sem frente  ·  S/D fim de semana  ·  F feriado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Buracos tapados por RPA e dia (número pequeno = frentes no dia). Total da semana × semana anterior e média de buracos por 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(azul) e saldo a tapar (amarelo) por semana; abaixo, a chuva de cada semana (0 = semana sem chuva).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Acumulado de buracos tapados até esta semana, comparado com o mesmo período dos anos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semana 43 em cada ano: tapados e saldo (Números Emlurb) e a chuva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Participação de cada RPA e bairro nas demandas de buraco em aberto ao fim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2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5.xml"/><Relationship Id="rId6" Type="http://schemas.openxmlformats.org/officeDocument/2006/relationships/chart" Target="../charts/chart6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7.xml"/><Relationship Id="rId6" Type="http://schemas.openxmlformats.org/officeDocument/2006/relationships/chart" Target="../charts/chart8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9.xml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463040"/>
            <a:ext cx="6583680" cy="658368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731520"/>
            <a:ext cx="5120640" cy="5120640"/>
          </a:xfrm>
          <a:prstGeom prst="ellipse">
            <a:avLst/>
          </a:prstGeom>
          <a:solidFill>
            <a:srgbClr val="1E6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0597" y="2998317"/>
            <a:ext cx="312724" cy="3127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23526" y="3154680"/>
            <a:ext cx="8686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ock Arc 14"/>
          <p:cNvSpPr/>
          <p:nvPr/>
        </p:nvSpPr>
        <p:spPr>
          <a:xfrm>
            <a:off x="9619488" y="4197096"/>
            <a:ext cx="390906" cy="694944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398426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C20E"/>
                </a:solidFill>
                <a:latin typeface="Calibri"/>
              </a:rPr>
              <a:t>OPERAÇÃO TAPA-BURACO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Semana 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7E7FF"/>
                </a:solidFill>
                <a:latin typeface="Calibri"/>
              </a:rPr>
              <a:t>21/10 a 27/10/2026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FD7FB"/>
                </a:solidFill>
                <a:latin typeface="Calibri"/>
              </a:rPr>
              <a:t>Buracos tapados e saldo a tapar  ·  Onde estão as demandas  ·  Frentes de serviço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081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Relatório semanal  ·  </a:t>
            </a:r>
            <a:r>
              <a:rPr sz="1300" b="1" i="0">
                <a:solidFill>
                  <a:srgbClr val="5B6B82"/>
                </a:solidFill>
                <a:latin typeface="Calibri"/>
              </a:rPr>
              <a:t>29/10/2026</a:t>
            </a:r>
          </a:p>
        </p:txBody>
      </p:sp>
      <p:pic>
        <p:nvPicPr>
          <p:cNvPr id="27" name="Picture 26" descr="logo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533" y="6099048"/>
            <a:ext cx="569242" cy="566928"/>
          </a:xfrm>
          <a:prstGeom prst="rect">
            <a:avLst/>
          </a:prstGeom>
        </p:spPr>
      </p:pic>
      <p:pic>
        <p:nvPicPr>
          <p:cNvPr id="28" name="Picture 27" descr="logo_emlu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202" y="6099048"/>
            <a:ext cx="1027291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91741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 SEMANA EM NÚMEROS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  <p:pic>
        <p:nvPicPr>
          <p:cNvPr id="12" name="Picture 11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3" name="Picture 1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4" name="Picture 13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1481328"/>
            <a:ext cx="4572000" cy="32461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e 15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5296" y="2304745"/>
            <a:ext cx="90525" cy="90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17556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20E"/>
                </a:solidFill>
                <a:latin typeface="Calibri"/>
              </a:rPr>
              <a:t>BURACOS TAPADOS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029968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265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355847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35584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7CF0B0"/>
                </a:solidFill>
                <a:latin typeface="Calibri"/>
              </a:rPr>
              <a:t>▲ 11%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semana 42 (239)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0448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FD7FB"/>
                </a:solidFill>
                <a:latin typeface="Calibri"/>
              </a:rPr>
              <a:t>Média semanal do ano: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388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BFD7FB"/>
                </a:solidFill>
                <a:latin typeface="Calibri"/>
              </a:rPr>
              <a:t>esta semana ficou 32% abaixo da média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1481328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03520" y="1709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20299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169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299008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299008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▲ 17%</a:t>
            </a:r>
            <a:r>
              <a:rPr sz="1050" b="0" i="0">
                <a:solidFill>
                  <a:srgbClr val="E5383B"/>
                </a:solidFill>
                <a:latin typeface="Calibri"/>
              </a:rPr>
              <a:t>  vs semana 42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3538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TAXA DE EXECUÇÃO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76732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546C0"/>
                </a:solidFill>
                <a:latin typeface="Calibri"/>
              </a:rPr>
              <a:t>61%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81304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 ÷ (tapados + saldo)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77840" y="4334256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577840" y="4334256"/>
            <a:ext cx="1647078" cy="146304"/>
          </a:xfrm>
          <a:prstGeom prst="roundRect">
            <a:avLst>
              <a:gd name="adj" fmla="val 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778240" y="1481328"/>
            <a:ext cx="2910535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78240" y="1709928"/>
            <a:ext cx="73152" cy="82296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7BEA"/>
                </a:solidFill>
                <a:latin typeface="Calibri"/>
              </a:rPr>
              <a:t>CHUVA NA SEMANA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202996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10</a:t>
            </a:r>
            <a:r>
              <a:rPr sz="2000" b="0" i="0">
                <a:solidFill>
                  <a:srgbClr val="5B6B82"/>
                </a:solidFill>
                <a:latin typeface="Calibri"/>
              </a:rPr>
              <a:t> mm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0" y="2990088"/>
            <a:ext cx="2361895" cy="329184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2990088"/>
            <a:ext cx="23618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546C0"/>
                </a:solidFill>
                <a:latin typeface="Calibri"/>
              </a:rPr>
              <a:t>▼ 56%</a:t>
            </a:r>
            <a:r>
              <a:rPr sz="1050" b="0" i="0">
                <a:solidFill>
                  <a:srgbClr val="1546C0"/>
                </a:solidFill>
                <a:latin typeface="Calibri"/>
              </a:rPr>
              <a:t>  vs média histórica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353872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ACUMULADO NO ANO</a:t>
            </a:r>
          </a:p>
          <a:p>
            <a:pPr algn="l">
              <a:spcBef>
                <a:spcPts val="200"/>
              </a:spcBef>
            </a:pPr>
            <a:r>
              <a:rPr sz="2600" b="1" i="0">
                <a:solidFill>
                  <a:srgbClr val="1546C0"/>
                </a:solidFill>
                <a:latin typeface="Calibri"/>
              </a:rPr>
              <a:t>2.112 mm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4928616"/>
            <a:ext cx="91440" cy="114300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TAPADOS EM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16.666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43 semanas · média de 388 por semana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0147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0147" y="4928616"/>
            <a:ext cx="91440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30187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SALDO MÉDIO DO ANO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0187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1987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não tapados por semana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91741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POR RPA · SEMANA 43 × SEMANA 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  <p:pic>
        <p:nvPicPr>
          <p:cNvPr id="12" name="Picture 11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3" name="Picture 1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4" name="Picture 13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1481328"/>
          <a:ext cx="5212080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1143000"/>
                <a:gridCol w="868680"/>
                <a:gridCol w="86868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Empresa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Tapados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S43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Tapados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S42</a:t>
                      </a:r>
                    </a:p>
                  </a:txBody>
                  <a:tcPr anchor="ctr" marL="54864" marR="54864" marT="18288" marB="18288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Δ tapados</a:t>
                      </a:r>
                    </a:p>
                  </a:txBody>
                  <a:tcPr anchor="ctr" marL="54864" marR="54864" marT="18288" marB="18288">
                    <a:solidFill>
                      <a:srgbClr val="0F2F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Centro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8A4C"/>
                          </a:solidFill>
                          <a:latin typeface="Calibri"/>
                        </a:rPr>
                        <a:t>▲ 55%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Norte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35%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Noroeste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8A4C"/>
                          </a:solidFill>
                          <a:latin typeface="Calibri"/>
                        </a:rPr>
                        <a:t>▲ 36%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Oeste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5383B"/>
                          </a:solidFill>
                          <a:latin typeface="Calibri"/>
                        </a:rPr>
                        <a:t>▼ 42%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Sudoeste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8A4C"/>
                          </a:solidFill>
                          <a:latin typeface="Calibri"/>
                        </a:rPr>
                        <a:t>▲ 111%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16233F"/>
                          </a:solidFill>
                          <a:latin typeface="Calibri"/>
                        </a:rPr>
                        <a:t>Sul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33F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B6B82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8A4C"/>
                          </a:solidFill>
                          <a:latin typeface="Calibri"/>
                        </a:rPr>
                        <a:t>▲ 21%</a:t>
                      </a:r>
                    </a:p>
                  </a:txBody>
                  <a:tcPr anchor="ctr" marL="54864" marR="54864" marT="18288" marB="18288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265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F2F86"/>
                          </a:solidFill>
                          <a:latin typeface="Calibri"/>
                        </a:rPr>
                        <a:t>▲ 11%</a:t>
                      </a:r>
                    </a:p>
                  </a:txBody>
                  <a:tcPr anchor="ctr" marL="54864" marR="54864" marT="18288" marB="18288">
                    <a:solidFill>
                      <a:srgbClr val="DCE8F8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02920" y="5276088"/>
            <a:ext cx="52120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276088"/>
            <a:ext cx="82296" cy="56692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76088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546C0"/>
                </a:solidFill>
                <a:latin typeface="Calibri"/>
              </a:rPr>
              <a:t>Observação:  </a:t>
            </a:r>
            <a:r>
              <a:rPr sz="1400" b="1" i="0">
                <a:solidFill>
                  <a:srgbClr val="16233F"/>
                </a:solidFill>
                <a:latin typeface="Calibri"/>
              </a:rPr>
              <a:t>RPA 6 (Sul) tapou mais: 81 buracos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481328"/>
            <a:ext cx="574517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035040" y="1572768"/>
          <a:ext cx="5562295" cy="4434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COMO CALCULAMOS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Buracos por frente: o que é e como é feito o cálculo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3332378" cy="14173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64592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C20E"/>
                </a:solidFill>
                <a:latin typeface="Calibri"/>
              </a:rPr>
              <a:t>BURACOS TAPADOS NA SEMANA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892808"/>
            <a:ext cx="28751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265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514599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7E7FF"/>
                </a:solidFill>
                <a:latin typeface="Calibri"/>
              </a:rPr>
              <a:t>soma de todas as RPAs, todos os dias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5298" y="1481328"/>
            <a:ext cx="59436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546C0"/>
                </a:solidFill>
                <a:latin typeface="Calibri"/>
              </a:rPr>
              <a:t>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9658" y="1481328"/>
            <a:ext cx="333237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3978" y="164592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546C0"/>
                </a:solidFill>
                <a:latin typeface="Calibri"/>
              </a:rPr>
              <a:t>FRENTES QUE TRABALHARAM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3978" y="1892808"/>
            <a:ext cx="28751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6233F"/>
                </a:solidFill>
                <a:latin typeface="Calibri"/>
              </a:rPr>
              <a:t>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3978" y="2514599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  <a:latin typeface="Calibri"/>
              </a:rPr>
              <a:t>cada equipe que foi à rua conta 1 por 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2036" y="1481328"/>
            <a:ext cx="59436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546C0"/>
                </a:solidFill>
                <a:latin typeface="Calibri"/>
              </a:rPr>
              <a:t>=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56396" y="1481328"/>
            <a:ext cx="3332378" cy="14173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F2F86"/>
              </a:gs>
              <a:gs pos="100000">
                <a:srgbClr val="0B1E4F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30716" y="1645920"/>
            <a:ext cx="28751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0716" y="1892808"/>
            <a:ext cx="28751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7,8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0716" y="2514599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7E7FF"/>
                </a:solidFill>
                <a:latin typeface="Calibri"/>
              </a:rPr>
              <a:t>quanto cada equipe tapou, em média, por dia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172968"/>
            <a:ext cx="11185855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310128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233F"/>
                </a:solidFill>
                <a:latin typeface="Calibri"/>
              </a:rPr>
              <a:t>Exemplo: </a:t>
            </a:r>
            <a:r>
              <a:rPr sz="1300" b="1" i="0">
                <a:solidFill>
                  <a:srgbClr val="7B4FD6"/>
                </a:solidFill>
                <a:latin typeface="Calibri"/>
              </a:rPr>
              <a:t>RPA 6 · Sul (LIDERMAC)</a:t>
            </a:r>
            <a:r>
              <a:rPr sz="1300" b="0" i="0">
                <a:solidFill>
                  <a:srgbClr val="5B6B82"/>
                </a:solidFill>
                <a:latin typeface="Calibri"/>
              </a:rPr>
              <a:t>  — a mesma conta vale para cada RPA, cada empresa e o total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767328"/>
            <a:ext cx="1054564" cy="960120"/>
          </a:xfrm>
          <a:prstGeom prst="roundRect">
            <a:avLst>
              <a:gd name="adj" fmla="val 12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813048"/>
            <a:ext cx="10545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270248"/>
            <a:ext cx="10545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 frentes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773168"/>
            <a:ext cx="1054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qua 21/10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04956" y="3767328"/>
            <a:ext cx="1054564" cy="960120"/>
          </a:xfrm>
          <a:prstGeom prst="roundRect">
            <a:avLst>
              <a:gd name="adj" fmla="val 12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04956" y="3813048"/>
            <a:ext cx="10545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4956" y="4270248"/>
            <a:ext cx="10545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 frentes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04956" y="4773168"/>
            <a:ext cx="1054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qui 22/10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32672" y="3767328"/>
            <a:ext cx="1054564" cy="960120"/>
          </a:xfrm>
          <a:prstGeom prst="roundRect">
            <a:avLst>
              <a:gd name="adj" fmla="val 12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32672" y="3813048"/>
            <a:ext cx="10545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32672" y="4270248"/>
            <a:ext cx="10545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 frentes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2672" y="4773168"/>
            <a:ext cx="1054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sex 23/10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60389" y="3767328"/>
            <a:ext cx="1054564" cy="960120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60389" y="3813048"/>
            <a:ext cx="10545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5B6B82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389" y="4270248"/>
            <a:ext cx="10545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6B82"/>
                </a:solidFill>
                <a:latin typeface="Calibri"/>
              </a:rPr>
              <a:t>sem frente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0389" y="4773168"/>
            <a:ext cx="1054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sáb 24/10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88105" y="3767328"/>
            <a:ext cx="1054564" cy="960120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88105" y="3813048"/>
            <a:ext cx="10545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5B6B82"/>
                </a:solidFill>
                <a:latin typeface="Calibr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88105" y="4270248"/>
            <a:ext cx="10545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6B82"/>
                </a:solidFill>
                <a:latin typeface="Calibri"/>
              </a:rPr>
              <a:t>sem frente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88105" y="4773168"/>
            <a:ext cx="1054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dom 25/10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15822" y="3767328"/>
            <a:ext cx="1054564" cy="960120"/>
          </a:xfrm>
          <a:prstGeom prst="roundRect">
            <a:avLst>
              <a:gd name="adj" fmla="val 12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15822" y="3813048"/>
            <a:ext cx="10545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5822" y="4270248"/>
            <a:ext cx="10545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1 frente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15822" y="4773168"/>
            <a:ext cx="1054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seg 26/10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43538" y="3767328"/>
            <a:ext cx="1054564" cy="960120"/>
          </a:xfrm>
          <a:prstGeom prst="roundRect">
            <a:avLst>
              <a:gd name="adj" fmla="val 12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43538" y="3813048"/>
            <a:ext cx="10545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538" y="4270248"/>
            <a:ext cx="105456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2 frentes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538" y="4773168"/>
            <a:ext cx="1054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ter 27/10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08415" y="3767328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2F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08415" y="3785616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6233F"/>
                </a:solidFill>
                <a:latin typeface="Calibri"/>
              </a:rPr>
              <a:t>81 buracos</a:t>
            </a:r>
          </a:p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16233F"/>
                </a:solidFill>
                <a:latin typeface="Calibri"/>
              </a:rPr>
              <a:t>÷ 9 frentes</a:t>
            </a:r>
          </a:p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7B4FD6"/>
                </a:solidFill>
                <a:latin typeface="Calibri"/>
              </a:rPr>
              <a:t>= 9,0 por frente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2920" y="5504688"/>
            <a:ext cx="357621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2920" y="5504688"/>
            <a:ext cx="73152" cy="71323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577840"/>
            <a:ext cx="325617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Soma tudo e divide uma vez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B6B82"/>
                </a:solidFill>
                <a:latin typeface="Calibri"/>
              </a:rPr>
              <a:t>não é a média das médias de cada dia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07738" y="5504688"/>
            <a:ext cx="357621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07738" y="5504688"/>
            <a:ext cx="73152" cy="71323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36338" y="5577840"/>
            <a:ext cx="325617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Dia sem frente não entra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B6B82"/>
                </a:solidFill>
                <a:latin typeface="Calibri"/>
              </a:rPr>
              <a:t>não puxa a média para baixo; aparece como 0 em laranja no quadro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112556" y="5504688"/>
            <a:ext cx="3576218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12556" y="5504688"/>
            <a:ext cx="73152" cy="713232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41156" y="5577840"/>
            <a:ext cx="325617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Comparação justa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5B6B82"/>
                </a:solidFill>
                <a:latin typeface="Calibri"/>
              </a:rPr>
              <a:t>a mesma conta na semana anterior; sobe se cada equipe tapou mais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AGC E LIDERMAC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265 buracos tapados pelas frentes  ·  AGC 184  ·  LIDERMAC 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ag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24" y="1636776"/>
            <a:ext cx="57927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1, RPA 2, RPA 3, RPA 4, RPA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5 de 7 dias com frente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184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7%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7,4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14%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7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7B4FD6"/>
              </a:gs>
              <a:gs pos="100000">
                <a:srgbClr val="4B2A9E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84467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liderm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921" y="1636776"/>
            <a:ext cx="1056132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84467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4467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5 de 7 dias com frente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186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186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1867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1867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21%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634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634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9,0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96347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6347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7%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2944368"/>
            <a:ext cx="82296" cy="1604772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7BEA"/>
                </a:solidFill>
                <a:latin typeface="Calibri"/>
              </a:rPr>
              <a:t>RPA 1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Centro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62986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62986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34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74520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20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55%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(22)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20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6,8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+24%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92769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2769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92769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6540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540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540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152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152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152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765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765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65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377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377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377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990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990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90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8594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8594" y="2944368"/>
            <a:ext cx="82296" cy="1604772"/>
          </a:xfrm>
          <a:prstGeom prst="rect">
            <a:avLst/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7194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8C9C"/>
                </a:solidFill>
                <a:latin typeface="Calibri"/>
              </a:rPr>
              <a:t>RPA 2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658660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8660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7194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7194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0194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70194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35%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(40)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70194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8,7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-35%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27194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27194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27194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844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844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8844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4969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4969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4969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1094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1094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1094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7219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7219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7219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83344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3344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3344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29469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9469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9469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94268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94268" y="2944368"/>
            <a:ext cx="82296" cy="1604772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22868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A35B"/>
                </a:solidFill>
                <a:latin typeface="Calibri"/>
              </a:rPr>
              <a:t>RPA 3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Noroeste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454335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454335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22868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57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22868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465868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465868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36%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(42)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65868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8,1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-3%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3228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228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228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7841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7841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841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2453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2453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453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7066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066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066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16786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16786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6786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6291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291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291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090365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090365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090365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02920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02920" y="4686300"/>
            <a:ext cx="82296" cy="160477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1520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A900"/>
                </a:solidFill>
                <a:latin typeface="Calibri"/>
              </a:rPr>
              <a:t>RPA 4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Oeste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862986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862986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1520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29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1520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874520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874520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42%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(50)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74520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5,8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-42%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1520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1520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1520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192769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92769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92769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6540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540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540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1152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1152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1152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5765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5765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765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0377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377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0377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4990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4990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4990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298594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298594" y="4686300"/>
            <a:ext cx="82296" cy="160477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27194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383B"/>
                </a:solidFill>
                <a:latin typeface="Calibri"/>
              </a:rPr>
              <a:t>RPA 5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Sudoeste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658660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58660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27194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38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527194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670194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670194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111%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(18)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70194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7,6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+27%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527194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27194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27194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98844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8844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98844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544969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44969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44969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91094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91094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91094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37219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37219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37219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83344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3344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83344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729469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29469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29469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094268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094268" y="4686300"/>
            <a:ext cx="82296" cy="1604772"/>
          </a:xfrm>
          <a:prstGeom prst="rect">
            <a:avLst/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322868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B4FD6"/>
                </a:solidFill>
                <a:latin typeface="Calibri"/>
              </a:rPr>
              <a:t>RPA 6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Sul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0454335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454335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LIDERMAC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322868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81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322868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465868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465868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21%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(67)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465868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9,0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+7%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228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3228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3228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7841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7841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7841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2453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2453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2453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7066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7066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7066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016786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16786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16786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06291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6291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6291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1090365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1090365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1090365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02920" y="62544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Quadradinhos = buracos tapados por dia (qua → ter)  ·  0 em laranja = dia útil sem frente  ·  S/D fim de semana  ·  F feriado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DIA A 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7,8 buracos por frente — 9% abaixo da semana anterior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81328"/>
          <a:ext cx="1118584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70068"/>
                <a:gridCol w="936054"/>
                <a:gridCol w="936054"/>
                <a:gridCol w="936054"/>
                <a:gridCol w="936054"/>
                <a:gridCol w="936054"/>
                <a:gridCol w="936054"/>
                <a:gridCol w="936054"/>
                <a:gridCol w="889252"/>
                <a:gridCol w="889252"/>
                <a:gridCol w="795646"/>
                <a:gridCol w="8892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 21/10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qui 22/10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 23/10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sáb 24/10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sábado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dom 25/10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domingo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seg 26/10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ter 27/10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da semana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sem. anterior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Média por frente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A7BEA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55%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5,5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2A4B6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35%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13,3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7A35B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36%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2A900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42%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5,8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10,0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5383B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111%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7,6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6,0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7B4FD6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21%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9,0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265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11%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7,8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4956048"/>
            <a:ext cx="11185855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94360" y="5001768"/>
          <a:ext cx="11002975" cy="119786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EVOLUÇÃO · ÚLTIMAS 12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Média semanal do ano: 388 buracos tapados (semanas 01 a 43)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1118585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10911535" cy="3246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773168"/>
          <a:ext cx="10911535" cy="12344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91741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O ANO ATÉ AQUI · ATÉ A SEMANA 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8</a:t>
            </a:r>
          </a:p>
        </p:txBody>
      </p:sp>
      <p:pic>
        <p:nvPicPr>
          <p:cNvPr id="12" name="Picture 11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3" name="Picture 1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4" name="Picture 13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1481328"/>
            <a:ext cx="3566160" cy="23774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7099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TAPADOS EM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9842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16.666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898648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9864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4%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2025 (17.298)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015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FD7FB"/>
                </a:solidFill>
                <a:latin typeface="Calibri"/>
              </a:rPr>
              <a:t>mesmo período: semanas 1 a 43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481328"/>
            <a:ext cx="739109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434840" y="1527048"/>
          <a:ext cx="7116775" cy="2286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502920" y="4041648"/>
            <a:ext cx="11185855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40080" y="4087368"/>
          <a:ext cx="10911535" cy="2121408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02920" y="6272784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B6B82"/>
                </a:solidFill>
                <a:latin typeface="Calibri"/>
              </a:rPr>
              <a:t>Sem Números Emlurb informados na semana 10/2025: a linha liga as semanas vizinhas.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SEMANA 43 AO LONGO DOS 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COMPARATIVO SEMANA 43 ÚLTIMOS ANOS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9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7619695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7345375" cy="3291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818888"/>
          <a:ext cx="7345375" cy="121615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351215" y="1481328"/>
            <a:ext cx="3337560" cy="21488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ie 24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Pie 26"/>
          <p:cNvSpPr/>
          <p:nvPr/>
        </p:nvSpPr>
        <p:spPr>
          <a:xfrm>
            <a:off x="10756087" y="1783080"/>
            <a:ext cx="768096" cy="768096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05570" y="2132563"/>
            <a:ext cx="69128" cy="691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5535" y="17099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C20E"/>
                </a:solidFill>
                <a:latin typeface="Calibri"/>
              </a:rPr>
              <a:t>TAPADOS · SEMANA 43/2026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5535" y="193852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265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5535" y="2852928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FD7FB"/>
                </a:solidFill>
                <a:latin typeface="Calibri"/>
              </a:rPr>
              <a:t>Média da semana em anos anteriores: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373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25535" y="3172968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5535" y="31729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B3B3"/>
                </a:solidFill>
                <a:latin typeface="Calibri"/>
              </a:rPr>
              <a:t>▼ 29%</a:t>
            </a:r>
            <a:r>
              <a:rPr sz="950" b="0" i="0">
                <a:solidFill>
                  <a:srgbClr val="D7E7FF"/>
                </a:solidFill>
                <a:latin typeface="Calibri"/>
              </a:rPr>
              <a:t>  vs média dos anos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51215" y="3813048"/>
            <a:ext cx="33375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51215" y="3995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25535" y="3977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5535" y="4224528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169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68535" y="437997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68535" y="437997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5383B"/>
                </a:solidFill>
                <a:latin typeface="Calibri"/>
              </a:rPr>
              <a:t>▲ 37%</a:t>
            </a:r>
            <a:r>
              <a:rPr sz="900" b="0" i="0">
                <a:solidFill>
                  <a:srgbClr val="E5383B"/>
                </a:solidFill>
                <a:latin typeface="Calibri"/>
              </a:rPr>
              <a:t>  vs média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5535" y="4773168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média dos anos anteriores: 124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1215" y="5230368"/>
            <a:ext cx="33375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51215" y="5367528"/>
            <a:ext cx="73152" cy="594360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25535" y="5340096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MAIS TAPADOS NESTA SEMANA</a:t>
            </a:r>
          </a:p>
          <a:p>
            <a:pPr algn="l">
              <a:spcBef>
                <a:spcPts val="200"/>
              </a:spcBef>
            </a:pPr>
            <a:r>
              <a:rPr sz="2200" b="1" i="0">
                <a:solidFill>
                  <a:srgbClr val="1546C0"/>
                </a:solidFill>
                <a:latin typeface="Calibri"/>
              </a:rPr>
              <a:t>2022</a:t>
            </a:r>
            <a:r>
              <a:rPr sz="1200" b="0" i="0">
                <a:solidFill>
                  <a:srgbClr val="5B6B82"/>
                </a:solidFill>
                <a:latin typeface="Calibri"/>
              </a:rPr>
              <a:t>   599 buracos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ONDE ESTÃO AS DEMANDAS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Buracos Siga em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43/2026  ·  21/10 a 27/10/2026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10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591056"/>
          <a:ext cx="4572000" cy="4069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pic>
        <p:nvPicPr>
          <p:cNvPr id="18" name="Picture 17" descr="logo_siga.png"/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2331720" y="3271647"/>
            <a:ext cx="1097280" cy="33299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5641848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546C0"/>
                </a:solidFill>
                <a:latin typeface="Calibri"/>
              </a:rPr>
              <a:t>Maior demanda: </a:t>
            </a:r>
            <a:r>
              <a:rPr sz="1250" b="1" i="0">
                <a:solidFill>
                  <a:srgbClr val="16233F"/>
                </a:solidFill>
                <a:latin typeface="Calibri"/>
              </a:rPr>
              <a:t>RPA 3 (Noroeste) · 91 buracos · 28%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481328"/>
            <a:ext cx="620237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664208"/>
            <a:ext cx="56537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233F"/>
                </a:solidFill>
                <a:latin typeface="Calibri"/>
              </a:rPr>
              <a:t>Bairros com mais buracos Siga em aberto</a:t>
            </a:r>
          </a:p>
        </p:txBody>
      </p:sp>
      <p:sp>
        <p:nvSpPr>
          <p:cNvPr id="22" name="Oval 21"/>
          <p:cNvSpPr/>
          <p:nvPr/>
        </p:nvSpPr>
        <p:spPr>
          <a:xfrm>
            <a:off x="5760720" y="2121408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121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1214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Iputinga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2203704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0" y="2203704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2855" y="21214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26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8,1%</a:t>
            </a:r>
          </a:p>
        </p:txBody>
      </p:sp>
      <p:sp>
        <p:nvSpPr>
          <p:cNvPr id="28" name="Oval 27"/>
          <p:cNvSpPr/>
          <p:nvPr/>
        </p:nvSpPr>
        <p:spPr>
          <a:xfrm>
            <a:off x="5760720" y="2468880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2468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468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Alto Jose Bonifacio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2551176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80" y="2551176"/>
            <a:ext cx="890766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2855" y="24688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16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5,0%</a:t>
            </a:r>
          </a:p>
        </p:txBody>
      </p:sp>
      <p:sp>
        <p:nvSpPr>
          <p:cNvPr id="34" name="Oval 33"/>
          <p:cNvSpPr/>
          <p:nvPr/>
        </p:nvSpPr>
        <p:spPr>
          <a:xfrm>
            <a:off x="5760720" y="2816352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28163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28163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Cordeiro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2898648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12480" y="2898648"/>
            <a:ext cx="890766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42855" y="281635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16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5,0%</a:t>
            </a:r>
          </a:p>
        </p:txBody>
      </p:sp>
      <p:sp>
        <p:nvSpPr>
          <p:cNvPr id="40" name="Oval 39"/>
          <p:cNvSpPr/>
          <p:nvPr/>
        </p:nvSpPr>
        <p:spPr>
          <a:xfrm>
            <a:off x="5760720" y="316382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31638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31638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Jardim Sao Paulo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0" y="3246120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12480" y="3246120"/>
            <a:ext cx="72374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2855" y="316382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13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4,1%</a:t>
            </a:r>
          </a:p>
        </p:txBody>
      </p:sp>
      <p:sp>
        <p:nvSpPr>
          <p:cNvPr id="46" name="Oval 45"/>
          <p:cNvSpPr/>
          <p:nvPr/>
        </p:nvSpPr>
        <p:spPr>
          <a:xfrm>
            <a:off x="5760720" y="351129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35112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5112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Tejipio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3593592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412480" y="3593592"/>
            <a:ext cx="723747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42855" y="351129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13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4,1%</a:t>
            </a:r>
          </a:p>
        </p:txBody>
      </p:sp>
      <p:sp>
        <p:nvSpPr>
          <p:cNvPr id="52" name="Oval 51"/>
          <p:cNvSpPr/>
          <p:nvPr/>
        </p:nvSpPr>
        <p:spPr>
          <a:xfrm>
            <a:off x="5760720" y="3858768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0" y="3858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3858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Boa Viagem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12480" y="3941064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412480" y="3941064"/>
            <a:ext cx="668074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42855" y="38587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12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3,8%</a:t>
            </a:r>
          </a:p>
        </p:txBody>
      </p:sp>
      <p:sp>
        <p:nvSpPr>
          <p:cNvPr id="58" name="Oval 57"/>
          <p:cNvSpPr/>
          <p:nvPr/>
        </p:nvSpPr>
        <p:spPr>
          <a:xfrm>
            <a:off x="5760720" y="4206240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Varzea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12480" y="4288536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412480" y="4288536"/>
            <a:ext cx="668074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42855" y="420624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12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3,8%</a:t>
            </a:r>
          </a:p>
        </p:txBody>
      </p:sp>
      <p:sp>
        <p:nvSpPr>
          <p:cNvPr id="64" name="Oval 63"/>
          <p:cNvSpPr/>
          <p:nvPr/>
        </p:nvSpPr>
        <p:spPr>
          <a:xfrm>
            <a:off x="5760720" y="4553712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0720" y="4553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7220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Arruda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412480" y="4636008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412480" y="4636008"/>
            <a:ext cx="668074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42855" y="455371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12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3,8%</a:t>
            </a:r>
          </a:p>
        </p:txBody>
      </p:sp>
      <p:sp>
        <p:nvSpPr>
          <p:cNvPr id="70" name="Oval 69"/>
          <p:cNvSpPr/>
          <p:nvPr/>
        </p:nvSpPr>
        <p:spPr>
          <a:xfrm>
            <a:off x="5760720" y="490118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60720" y="49011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2200" y="4901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Afogados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412480" y="4983480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412480" y="4983480"/>
            <a:ext cx="612401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42855" y="490118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11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3,4%</a:t>
            </a:r>
          </a:p>
        </p:txBody>
      </p:sp>
      <p:sp>
        <p:nvSpPr>
          <p:cNvPr id="76" name="Oval 75"/>
          <p:cNvSpPr/>
          <p:nvPr/>
        </p:nvSpPr>
        <p:spPr>
          <a:xfrm>
            <a:off x="5760720" y="524865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60720" y="5248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72200" y="52486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Parnamirim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412480" y="5330952"/>
            <a:ext cx="144749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412480" y="5330952"/>
            <a:ext cx="556728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042855" y="524865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6233F"/>
                </a:solidFill>
                <a:latin typeface="Calibri"/>
              </a:rPr>
              <a:t>10</a:t>
            </a:r>
            <a:r>
              <a:rPr sz="1200" b="1" i="0">
                <a:solidFill>
                  <a:srgbClr val="1546C0"/>
                </a:solidFill>
                <a:latin typeface="Calibri"/>
              </a:rPr>
              <a:t>  ·  3,1%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60720" y="5705856"/>
            <a:ext cx="5653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B82"/>
                </a:solidFill>
                <a:latin typeface="Calibri"/>
              </a:rPr>
              <a:t>Os 3 primeiros bairros somam 58 buracos (18%) dos 320 em aberto na cidade · fonte: SIGA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926080"/>
            <a:ext cx="5943600" cy="594360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4747" y="2632100"/>
            <a:ext cx="222199" cy="2221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4986" y="2743200"/>
            <a:ext cx="6172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5848959" y="3483864"/>
            <a:ext cx="277749" cy="493776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41605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Operação Tapa-Buraco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D7E7FF"/>
                </a:solidFill>
                <a:latin typeface="Calibri"/>
              </a:rPr>
              <a:t>Semana 43  ·  21/10 a 27/10/2026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31" y="6112764"/>
            <a:ext cx="1798820" cy="548640"/>
          </a:xfrm>
          <a:prstGeom prst="rect">
            <a:avLst/>
          </a:prstGeom>
        </p:spPr>
      </p:pic>
      <p:pic>
        <p:nvPicPr>
          <p:cNvPr id="23" name="Picture 2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91" y="6103620"/>
            <a:ext cx="1027291" cy="566928"/>
          </a:xfrm>
          <a:prstGeom prst="rect">
            <a:avLst/>
          </a:prstGeom>
        </p:spPr>
      </p:pic>
      <p:pic>
        <p:nvPicPr>
          <p:cNvPr id="24" name="Picture 23" descr="logo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22" y="6103620"/>
            <a:ext cx="569242" cy="566928"/>
          </a:xfrm>
          <a:prstGeom prst="rect">
            <a:avLst/>
          </a:prstGeom>
        </p:spPr>
      </p:pic>
      <p:pic>
        <p:nvPicPr>
          <p:cNvPr id="25" name="Picture 24" descr="vwaj_s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1847" y="610362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VWAJ</dc:creator>
  <cp:keywords/>
  <dc:description>generated using python-pptx</dc:description>
  <cp:lastModifiedBy>VWAJ</cp:lastModifiedBy>
  <cp:revision>1</cp:revision>
  <dcterms:created xsi:type="dcterms:W3CDTF">2013-01-27T09:14:16Z</dcterms:created>
  <dcterms:modified xsi:type="dcterms:W3CDTF">2013-01-27T09:15:58Z</dcterms:modified>
  <cp:category/>
</cp:coreProperties>
</file>