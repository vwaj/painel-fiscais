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6233F"/>
                </a:solidFill>
              </a:rPr>
              <a:t>Semana 40 por RPA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Buracos tapados</c:v>
                </c:pt>
              </c:strCache>
            </c:strRef>
          </c:tx>
          <c:spPr>
            <a:solidFill>
              <a:srgbClr val="0F2F86"/>
            </a:solidFill>
          </c:spPr>
          <c:cat>
            <c:strRef>
              <c:f>Sheet1!$A$2:$A$7</c:f>
              <c:strCache>
                <c:ptCount val="6"/>
                <c:pt idx="0">
                  <c:v>RPA 1</c:v>
                </c:pt>
                <c:pt idx="1">
                  <c:v>RPA 2</c:v>
                </c:pt>
                <c:pt idx="2">
                  <c:v>RPA 3</c:v>
                </c:pt>
                <c:pt idx="3">
                  <c:v>RPA 4</c:v>
                </c:pt>
                <c:pt idx="4">
                  <c:v>RPA 5</c:v>
                </c:pt>
                <c:pt idx="5">
                  <c:v>RPA 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</c:v>
                </c:pt>
                <c:pt idx="1">
                  <c:v>56</c:v>
                </c:pt>
                <c:pt idx="2">
                  <c:v>77</c:v>
                </c:pt>
                <c:pt idx="3">
                  <c:v>89</c:v>
                </c:pt>
                <c:pt idx="4">
                  <c:v>102</c:v>
                </c:pt>
                <c:pt idx="5">
                  <c:v>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Tapados S39</c:v>
                </c:pt>
              </c:strCache>
            </c:strRef>
          </c:tx>
          <c:spPr>
            <a:solidFill>
              <a:srgbClr val="A9B8CC"/>
            </a:solidFill>
          </c:spPr>
          <c:cat>
            <c:strRef>
              <c:f>Sheet1!$A$2:$A$7</c:f>
              <c:strCache>
                <c:ptCount val="6"/>
                <c:pt idx="0">
                  <c:v>RPA 1</c:v>
                </c:pt>
                <c:pt idx="1">
                  <c:v>RPA 2</c:v>
                </c:pt>
                <c:pt idx="2">
                  <c:v>RPA 3</c:v>
                </c:pt>
                <c:pt idx="3">
                  <c:v>RPA 4</c:v>
                </c:pt>
                <c:pt idx="4">
                  <c:v>RPA 5</c:v>
                </c:pt>
                <c:pt idx="5">
                  <c:v>RPA 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33</c:v>
                </c:pt>
                <c:pt idx="1">
                  <c:v>66</c:v>
                </c:pt>
                <c:pt idx="2">
                  <c:v>39</c:v>
                </c:pt>
                <c:pt idx="3">
                  <c:v>59</c:v>
                </c:pt>
                <c:pt idx="4">
                  <c:v>41</c:v>
                </c:pt>
                <c:pt idx="5">
                  <c:v>82</c:v>
                </c:pt>
              </c:numCache>
            </c:numRef>
          </c:val>
        </c:ser>
        <c:dLbls>
          <c:numFmt formatCode="#,##0;;&quot;&quot;" sourceLinked="0"/>
          <c:txPr>
            <a:bodyPr/>
            <a:lstStyle/>
            <a:p>
              <a:pPr>
                <a:defRPr sz="1100" b="1">
                  <a:solidFill>
                    <a:srgbClr val="16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50"/>
          </a:pPr>
        </a:p>
      </c:txPr>
    </c:legend>
    <c:dispBlanksAs val="gap"/>
  </c:chart>
  <c:txPr>
    <a:bodyPr/>
    <a:lstStyle/>
    <a:p>
      <a:pPr>
        <a:defRPr sz="11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16233F"/>
                </a:solidFill>
              </a:rPr>
              <a:t>Buracos por frente — últimas 8 semanas</a:t>
            </a:r>
          </a:p>
        </c:rich>
      </c:tx>
      <c:layout/>
      <c:overlay val="0"/>
    </c:title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AGC</c:v>
                </c:pt>
              </c:strCache>
            </c:strRef>
          </c:tx>
          <c:spPr>
            <a:ln w="31750">
              <a:solidFill>
                <a:srgbClr val="0A7BEA"/>
              </a:solidFill>
            </a:ln>
          </c:spPr>
          <c:marker>
            <c:symbol val="circle"/>
            <c:size val="6"/>
            <c:spPr>
              <a:solidFill>
                <a:srgbClr val="0A7BE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S33</c:v>
                </c:pt>
                <c:pt idx="1">
                  <c:v>S34</c:v>
                </c:pt>
                <c:pt idx="2">
                  <c:v>S35</c:v>
                </c:pt>
                <c:pt idx="3">
                  <c:v>S36</c:v>
                </c:pt>
                <c:pt idx="4">
                  <c:v>S37</c:v>
                </c:pt>
                <c:pt idx="5">
                  <c:v>S38</c:v>
                </c:pt>
                <c:pt idx="6">
                  <c:v>S39</c:v>
                </c:pt>
                <c:pt idx="7">
                  <c:v>S40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7.78</c:v>
                </c:pt>
                <c:pt idx="1">
                  <c:v>8.9</c:v>
                </c:pt>
                <c:pt idx="2">
                  <c:v>9.0</c:v>
                </c:pt>
                <c:pt idx="3">
                  <c:v>8.03</c:v>
                </c:pt>
                <c:pt idx="4">
                  <c:v>9.56</c:v>
                </c:pt>
                <c:pt idx="5">
                  <c:v>8.43</c:v>
                </c:pt>
                <c:pt idx="6">
                  <c:v>6.43</c:v>
                </c:pt>
                <c:pt idx="7">
                  <c:v>8.6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LIDERMAC</c:v>
                </c:pt>
              </c:strCache>
            </c:strRef>
          </c:tx>
          <c:spPr>
            <a:ln w="31750">
              <a:solidFill>
                <a:srgbClr val="7B4FD6"/>
              </a:solidFill>
            </a:ln>
          </c:spPr>
          <c:marker>
            <c:symbol val="circle"/>
            <c:size val="6"/>
            <c:spPr>
              <a:solidFill>
                <a:srgbClr val="7B4FD6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S33</c:v>
                </c:pt>
                <c:pt idx="1">
                  <c:v>S34</c:v>
                </c:pt>
                <c:pt idx="2">
                  <c:v>S35</c:v>
                </c:pt>
                <c:pt idx="3">
                  <c:v>S36</c:v>
                </c:pt>
                <c:pt idx="4">
                  <c:v>S37</c:v>
                </c:pt>
                <c:pt idx="5">
                  <c:v>S38</c:v>
                </c:pt>
                <c:pt idx="6">
                  <c:v>S39</c:v>
                </c:pt>
                <c:pt idx="7">
                  <c:v>S40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8.14</c:v>
                </c:pt>
                <c:pt idx="1">
                  <c:v>7.0</c:v>
                </c:pt>
                <c:pt idx="2">
                  <c:v>7.71</c:v>
                </c:pt>
                <c:pt idx="3">
                  <c:v>9.89</c:v>
                </c:pt>
                <c:pt idx="4">
                  <c:v>7.36</c:v>
                </c:pt>
                <c:pt idx="5">
                  <c:v>8.67</c:v>
                </c:pt>
                <c:pt idx="6">
                  <c:v>8.2</c:v>
                </c:pt>
                <c:pt idx="7">
                  <c:v>7.22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1.0"/>
          <c:min val="4.0"/>
        </c:scaling>
        <c:delete val="0"/>
        <c:axPos val="l"/>
        <c:majorGridlines>
          <c:spPr>
            <a:ln>
              <a:solidFill>
                <a:srgbClr val="E3E9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gap"/>
    <c:showDLblsOverMax val="0"/>
  </c:chart>
  <c:txPr>
    <a:bodyPr/>
    <a:lstStyle/>
    <a:p>
      <a:pPr>
        <a:defRPr sz="105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Tapados</c:v>
                </c:pt>
              </c:strCache>
            </c:strRef>
          </c:tx>
          <c:spPr>
            <a:solidFill>
              <a:srgbClr val="0A7BEA"/>
            </a:solidFill>
          </c:spPr>
          <c:dPt>
            <c:idx val="11"/>
            <c:spPr>
              <a:solidFill>
                <a:srgbClr val="0F2F86"/>
              </a:solidFill>
            </c:spPr>
          </c:dPt>
          <c:cat>
            <c:strRef>
              <c:f>Sheet1!$A$2:$A$13</c:f>
              <c:strCache>
                <c:ptCount val="12"/>
                <c:pt idx="0">
                  <c:v>S29
15/07</c:v>
                </c:pt>
                <c:pt idx="1">
                  <c:v>S30
22/07</c:v>
                </c:pt>
                <c:pt idx="2">
                  <c:v>S31
29/07</c:v>
                </c:pt>
                <c:pt idx="3">
                  <c:v>S32
05/08</c:v>
                </c:pt>
                <c:pt idx="4">
                  <c:v>S33
12/08</c:v>
                </c:pt>
                <c:pt idx="5">
                  <c:v>S34
19/08</c:v>
                </c:pt>
                <c:pt idx="6">
                  <c:v>S35
26/08</c:v>
                </c:pt>
                <c:pt idx="7">
                  <c:v>S36
02/09</c:v>
                </c:pt>
                <c:pt idx="8">
                  <c:v>S37
09/09</c:v>
                </c:pt>
                <c:pt idx="9">
                  <c:v>S38
16/09</c:v>
                </c:pt>
                <c:pt idx="10">
                  <c:v>S39
23/09</c:v>
                </c:pt>
                <c:pt idx="11">
                  <c:v>S40
30/09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366</c:v>
                </c:pt>
                <c:pt idx="1">
                  <c:v>469</c:v>
                </c:pt>
                <c:pt idx="2">
                  <c:v>423</c:v>
                </c:pt>
                <c:pt idx="3">
                  <c:v>513</c:v>
                </c:pt>
                <c:pt idx="4">
                  <c:v>368</c:v>
                </c:pt>
                <c:pt idx="5">
                  <c:v>534</c:v>
                </c:pt>
                <c:pt idx="6">
                  <c:v>522</c:v>
                </c:pt>
                <c:pt idx="7">
                  <c:v>338</c:v>
                </c:pt>
                <c:pt idx="8">
                  <c:v>492</c:v>
                </c:pt>
                <c:pt idx="9">
                  <c:v>390</c:v>
                </c:pt>
                <c:pt idx="10">
                  <c:v>320</c:v>
                </c:pt>
                <c:pt idx="11">
                  <c:v>426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Não tapados (saldo)</c:v>
                </c:pt>
              </c:strCache>
            </c:strRef>
          </c:tx>
          <c:spPr>
            <a:solidFill>
              <a:srgbClr val="FFC20E"/>
            </a:solidFill>
          </c:spPr>
          <c:dLbls>
            <c:numFmt formatCode="#,##0;;&quot;&quot;" sourceLinked="0"/>
            <c:txPr>
              <a:bodyPr/>
              <a:lstStyle/>
              <a:p>
                <a:pPr>
                  <a:defRPr sz="1200" b="1">
                    <a:solidFill>
                      <a:srgbClr val="16233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S29
15/07</c:v>
                </c:pt>
                <c:pt idx="1">
                  <c:v>S30
22/07</c:v>
                </c:pt>
                <c:pt idx="2">
                  <c:v>S31
29/07</c:v>
                </c:pt>
                <c:pt idx="3">
                  <c:v>S32
05/08</c:v>
                </c:pt>
                <c:pt idx="4">
                  <c:v>S33
12/08</c:v>
                </c:pt>
                <c:pt idx="5">
                  <c:v>S34
19/08</c:v>
                </c:pt>
                <c:pt idx="6">
                  <c:v>S35
26/08</c:v>
                </c:pt>
                <c:pt idx="7">
                  <c:v>S36
02/09</c:v>
                </c:pt>
                <c:pt idx="8">
                  <c:v>S37
09/09</c:v>
                </c:pt>
                <c:pt idx="9">
                  <c:v>S38
16/09</c:v>
                </c:pt>
                <c:pt idx="10">
                  <c:v>S39
23/09</c:v>
                </c:pt>
                <c:pt idx="11">
                  <c:v>S40
30/09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194</c:v>
                </c:pt>
                <c:pt idx="1">
                  <c:v>191</c:v>
                </c:pt>
                <c:pt idx="2">
                  <c:v>175</c:v>
                </c:pt>
                <c:pt idx="3">
                  <c:v>140</c:v>
                </c:pt>
                <c:pt idx="4">
                  <c:v>166</c:v>
                </c:pt>
                <c:pt idx="5">
                  <c:v>102</c:v>
                </c:pt>
                <c:pt idx="6">
                  <c:v>98</c:v>
                </c:pt>
                <c:pt idx="7">
                  <c:v>170</c:v>
                </c:pt>
                <c:pt idx="8">
                  <c:v>111</c:v>
                </c:pt>
                <c:pt idx="9">
                  <c:v>162</c:v>
                </c:pt>
                <c:pt idx="10">
                  <c:v>160</c:v>
                </c:pt>
                <c:pt idx="11">
                  <c:v>171</c:v>
                </c:pt>
              </c:numCache>
            </c:numRef>
          </c:val>
        </c:ser>
        <c:dLbls>
          <c:numFmt formatCode="#,##0;;&quot;&quot;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1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6233F"/>
                </a:solidFill>
              </a:rPr>
              <a:t>Chuva por semana (mm)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Chuva (mm)</c:v>
                </c:pt>
              </c:strCache>
            </c:strRef>
          </c:tx>
          <c:spPr>
            <a:solidFill>
              <a:srgbClr val="5FA3F0"/>
            </a:solidFill>
          </c:spPr>
          <c:cat>
            <c:strRef>
              <c:f>Sheet1!$A$2:$A$13</c:f>
              <c:strCache>
                <c:ptCount val="12"/>
                <c:pt idx="0">
                  <c:v>S29</c:v>
                </c:pt>
                <c:pt idx="1">
                  <c:v>S30</c:v>
                </c:pt>
                <c:pt idx="2">
                  <c:v>S31</c:v>
                </c:pt>
                <c:pt idx="3">
                  <c:v>S32</c:v>
                </c:pt>
                <c:pt idx="4">
                  <c:v>S33</c:v>
                </c:pt>
                <c:pt idx="5">
                  <c:v>S34</c:v>
                </c:pt>
                <c:pt idx="6">
                  <c:v>S35</c:v>
                </c:pt>
                <c:pt idx="7">
                  <c:v>S36</c:v>
                </c:pt>
                <c:pt idx="8">
                  <c:v>S37</c:v>
                </c:pt>
                <c:pt idx="9">
                  <c:v>S38</c:v>
                </c:pt>
                <c:pt idx="10">
                  <c:v>S39</c:v>
                </c:pt>
                <c:pt idx="11">
                  <c:v>S40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70.75</c:v>
                </c:pt>
                <c:pt idx="1">
                  <c:v>82.12</c:v>
                </c:pt>
                <c:pt idx="2">
                  <c:v>85.28</c:v>
                </c:pt>
                <c:pt idx="3">
                  <c:v>23.11</c:v>
                </c:pt>
                <c:pt idx="4">
                  <c:v>56.72</c:v>
                </c:pt>
                <c:pt idx="5">
                  <c:v>15.59</c:v>
                </c:pt>
                <c:pt idx="6">
                  <c:v>32.74</c:v>
                </c:pt>
                <c:pt idx="7">
                  <c:v>37.84</c:v>
                </c:pt>
                <c:pt idx="8">
                  <c:v>18.55</c:v>
                </c:pt>
                <c:pt idx="9">
                  <c:v>12.46</c:v>
                </c:pt>
                <c:pt idx="10">
                  <c:v>18.36</c:v>
                </c:pt>
                <c:pt idx="11">
                  <c:v>21.91</c:v>
                </c:pt>
              </c:numCache>
            </c:numRef>
          </c:val>
        </c:ser>
        <c:dLbls>
          <c:numFmt formatCode="0;;&quot;0&quot;" sourceLinked="0"/>
          <c:txPr>
            <a:bodyPr/>
            <a:lstStyle/>
            <a:p>
              <a:pPr>
                <a:defRPr sz="1000" b="1">
                  <a:solidFill>
                    <a:srgbClr val="0F2F8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12800000000001"/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50" b="1">
                <a:solidFill>
                  <a:srgbClr val="16233F"/>
                </a:solidFill>
              </a:rPr>
              <a:t>Tapados até a semana 40, ano a ano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Tapados até a semana</c:v>
                </c:pt>
              </c:strCache>
            </c:strRef>
          </c:tx>
          <c:spPr>
            <a:solidFill>
              <a:srgbClr val="9CC6F7"/>
            </a:solidFill>
          </c:spPr>
          <c:dPt>
            <c:idx val="5"/>
            <c:spPr>
              <a:solidFill>
                <a:srgbClr val="0A7BEA"/>
              </a:solidFill>
            </c:spPr>
          </c:dPt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19853</c:v>
                </c:pt>
                <c:pt idx="1">
                  <c:v>16084</c:v>
                </c:pt>
                <c:pt idx="2">
                  <c:v>16705</c:v>
                </c:pt>
                <c:pt idx="3">
                  <c:v>17248</c:v>
                </c:pt>
                <c:pt idx="4">
                  <c:v>15879</c:v>
                </c:pt>
                <c:pt idx="5">
                  <c:v>15803</c:v>
                </c:pt>
              </c:numCache>
            </c:numRef>
          </c:val>
        </c:ser>
        <c:dLbls>
          <c:numFmt formatCode="#,##0;;&quot;&quot;" sourceLinked="0"/>
          <c:txPr>
            <a:bodyPr/>
            <a:lstStyle/>
            <a:p>
              <a:pPr>
                <a:defRPr sz="1100" b="1">
                  <a:solidFill>
                    <a:srgbClr val="16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ln w="34925">
              <a:solidFill>
                <a:srgbClr val="0A7BEA"/>
              </a:solidFill>
            </a:ln>
          </c:spPr>
          <c:marker>
            <c:symbol val="circle"/>
            <c:size val="6"/>
            <c:spPr>
              <a:solidFill>
                <a:srgbClr val="0A7BE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Sheet1!$A$2:$A$41</c:f>
              <c:strCache>
                <c:ptCount val="40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184</c:v>
                </c:pt>
                <c:pt idx="1">
                  <c:v>347</c:v>
                </c:pt>
                <c:pt idx="2">
                  <c:v>385</c:v>
                </c:pt>
                <c:pt idx="3">
                  <c:v>389</c:v>
                </c:pt>
                <c:pt idx="4">
                  <c:v>382</c:v>
                </c:pt>
                <c:pt idx="5">
                  <c:v>308</c:v>
                </c:pt>
                <c:pt idx="6">
                  <c:v>139</c:v>
                </c:pt>
                <c:pt idx="7">
                  <c:v>347</c:v>
                </c:pt>
                <c:pt idx="8">
                  <c:v>402</c:v>
                </c:pt>
                <c:pt idx="9">
                  <c:v>269</c:v>
                </c:pt>
                <c:pt idx="10">
                  <c:v>398</c:v>
                </c:pt>
                <c:pt idx="11">
                  <c:v>347</c:v>
                </c:pt>
                <c:pt idx="12">
                  <c:v>257</c:v>
                </c:pt>
                <c:pt idx="13">
                  <c:v>96</c:v>
                </c:pt>
                <c:pt idx="14">
                  <c:v>365</c:v>
                </c:pt>
                <c:pt idx="15">
                  <c:v>393</c:v>
                </c:pt>
                <c:pt idx="16">
                  <c:v>447</c:v>
                </c:pt>
                <c:pt idx="17">
                  <c:v>195</c:v>
                </c:pt>
                <c:pt idx="18">
                  <c:v>284</c:v>
                </c:pt>
                <c:pt idx="19">
                  <c:v>484</c:v>
                </c:pt>
                <c:pt idx="20">
                  <c:v>471</c:v>
                </c:pt>
                <c:pt idx="21">
                  <c:v>474</c:v>
                </c:pt>
                <c:pt idx="22">
                  <c:v>414</c:v>
                </c:pt>
                <c:pt idx="23">
                  <c:v>663</c:v>
                </c:pt>
                <c:pt idx="24">
                  <c:v>411</c:v>
                </c:pt>
                <c:pt idx="25">
                  <c:v>303</c:v>
                </c:pt>
                <c:pt idx="26">
                  <c:v>757</c:v>
                </c:pt>
                <c:pt idx="27">
                  <c:v>731</c:v>
                </c:pt>
                <c:pt idx="28">
                  <c:v>366</c:v>
                </c:pt>
                <c:pt idx="29">
                  <c:v>469</c:v>
                </c:pt>
                <c:pt idx="30">
                  <c:v>423</c:v>
                </c:pt>
                <c:pt idx="31">
                  <c:v>513</c:v>
                </c:pt>
                <c:pt idx="32">
                  <c:v>368</c:v>
                </c:pt>
                <c:pt idx="33">
                  <c:v>534</c:v>
                </c:pt>
                <c:pt idx="34">
                  <c:v>522</c:v>
                </c:pt>
                <c:pt idx="35">
                  <c:v>338</c:v>
                </c:pt>
                <c:pt idx="36">
                  <c:v>492</c:v>
                </c:pt>
                <c:pt idx="37">
                  <c:v>390</c:v>
                </c:pt>
                <c:pt idx="38">
                  <c:v>320</c:v>
                </c:pt>
                <c:pt idx="39">
                  <c:v>426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ln w="22225">
              <a:solidFill>
                <a:srgbClr val="A9B8C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232</c:v>
                </c:pt>
                <c:pt idx="1">
                  <c:v>180</c:v>
                </c:pt>
                <c:pt idx="2">
                  <c:v>267</c:v>
                </c:pt>
                <c:pt idx="3">
                  <c:v>236</c:v>
                </c:pt>
                <c:pt idx="4">
                  <c:v>202</c:v>
                </c:pt>
                <c:pt idx="5">
                  <c:v>285</c:v>
                </c:pt>
                <c:pt idx="6">
                  <c:v>339</c:v>
                </c:pt>
                <c:pt idx="7">
                  <c:v>382</c:v>
                </c:pt>
                <c:pt idx="8">
                  <c:v>564</c:v>
                </c:pt>
                <c:pt idx="10">
                  <c:v>326</c:v>
                </c:pt>
                <c:pt idx="11">
                  <c:v>325</c:v>
                </c:pt>
                <c:pt idx="12">
                  <c:v>284</c:v>
                </c:pt>
                <c:pt idx="13">
                  <c:v>321</c:v>
                </c:pt>
                <c:pt idx="14">
                  <c:v>285</c:v>
                </c:pt>
                <c:pt idx="15">
                  <c:v>393</c:v>
                </c:pt>
                <c:pt idx="16">
                  <c:v>243</c:v>
                </c:pt>
                <c:pt idx="17">
                  <c:v>301</c:v>
                </c:pt>
                <c:pt idx="18">
                  <c:v>284</c:v>
                </c:pt>
                <c:pt idx="19">
                  <c:v>115</c:v>
                </c:pt>
                <c:pt idx="20">
                  <c:v>471</c:v>
                </c:pt>
                <c:pt idx="21">
                  <c:v>487</c:v>
                </c:pt>
                <c:pt idx="22">
                  <c:v>414</c:v>
                </c:pt>
                <c:pt idx="23">
                  <c:v>663</c:v>
                </c:pt>
                <c:pt idx="24">
                  <c:v>411</c:v>
                </c:pt>
                <c:pt idx="25">
                  <c:v>303</c:v>
                </c:pt>
                <c:pt idx="26">
                  <c:v>757</c:v>
                </c:pt>
                <c:pt idx="27">
                  <c:v>731</c:v>
                </c:pt>
                <c:pt idx="28">
                  <c:v>527</c:v>
                </c:pt>
                <c:pt idx="29">
                  <c:v>469</c:v>
                </c:pt>
                <c:pt idx="30">
                  <c:v>423</c:v>
                </c:pt>
                <c:pt idx="31">
                  <c:v>522</c:v>
                </c:pt>
                <c:pt idx="32">
                  <c:v>397</c:v>
                </c:pt>
                <c:pt idx="33">
                  <c:v>534</c:v>
                </c:pt>
                <c:pt idx="34">
                  <c:v>552</c:v>
                </c:pt>
                <c:pt idx="35">
                  <c:v>456</c:v>
                </c:pt>
                <c:pt idx="36">
                  <c:v>670</c:v>
                </c:pt>
                <c:pt idx="37">
                  <c:v>528</c:v>
                </c:pt>
                <c:pt idx="38">
                  <c:v>548</c:v>
                </c:pt>
                <c:pt idx="39">
                  <c:v>452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3E9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span"/>
    <c:showDLblsOverMax val="0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Tapados</c:v>
                </c:pt>
              </c:strCache>
            </c:strRef>
          </c:tx>
          <c:spPr>
            <a:solidFill>
              <a:srgbClr val="0A7BEA"/>
            </a:solidFill>
          </c:spPr>
          <c:dPt>
            <c:idx val="5"/>
            <c:spPr>
              <a:solidFill>
                <a:srgbClr val="0F2F86"/>
              </a:solidFill>
            </c:spPr>
          </c:dPt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272</c:v>
                </c:pt>
                <c:pt idx="1">
                  <c:v>651</c:v>
                </c:pt>
                <c:pt idx="2">
                  <c:v>464</c:v>
                </c:pt>
                <c:pt idx="3">
                  <c:v>399</c:v>
                </c:pt>
                <c:pt idx="4">
                  <c:v>452</c:v>
                </c:pt>
                <c:pt idx="5">
                  <c:v>426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Não tapados (saldo)</c:v>
                </c:pt>
              </c:strCache>
            </c:strRef>
          </c:tx>
          <c:spPr>
            <a:solidFill>
              <a:srgbClr val="FFC20E"/>
            </a:solidFill>
          </c:spPr>
          <c:dLbls>
            <c:numFmt formatCode="#,##0;;&quot;&quot;" sourceLinked="0"/>
            <c:txPr>
              <a:bodyPr/>
              <a:lstStyle/>
              <a:p>
                <a:pPr>
                  <a:defRPr sz="1300" b="1">
                    <a:solidFill>
                      <a:srgbClr val="16233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171</c:v>
                </c:pt>
                <c:pt idx="1">
                  <c:v>171</c:v>
                </c:pt>
                <c:pt idx="2">
                  <c:v>171</c:v>
                </c:pt>
                <c:pt idx="3">
                  <c:v>171</c:v>
                </c:pt>
                <c:pt idx="4">
                  <c:v>171</c:v>
                </c:pt>
                <c:pt idx="5">
                  <c:v>171</c:v>
                </c:pt>
              </c:numCache>
            </c:numRef>
          </c:val>
        </c:ser>
        <c:dLbls>
          <c:numFmt formatCode="#,##0;;&quot;&quot;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6233F"/>
                </a:solidFill>
              </a:rPr>
              <a:t>Chuva na semana 40 (mm)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Chuva (mm)</c:v>
                </c:pt>
              </c:strCache>
            </c:strRef>
          </c:tx>
          <c:spPr>
            <a:solidFill>
              <a:srgbClr val="5FA3F0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4.92</c:v>
                </c:pt>
                <c:pt idx="1">
                  <c:v>7.69</c:v>
                </c:pt>
                <c:pt idx="2">
                  <c:v>1.19</c:v>
                </c:pt>
                <c:pt idx="3">
                  <c:v>5.74</c:v>
                </c:pt>
                <c:pt idx="4">
                  <c:v>39.18</c:v>
                </c:pt>
                <c:pt idx="5">
                  <c:v>21.91</c:v>
                </c:pt>
              </c:numCache>
            </c:numRef>
          </c:val>
        </c:ser>
        <c:dLbls>
          <c:numFmt formatCode="0;;&quot;0&quot;" sourceLinked="0"/>
          <c:txPr>
            <a:bodyPr/>
            <a:lstStyle/>
            <a:p>
              <a:pPr>
                <a:defRPr sz="1100" b="1">
                  <a:solidFill>
                    <a:srgbClr val="0F2F8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811"/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200" b="1">
                <a:solidFill>
                  <a:srgbClr val="16233F"/>
                </a:solidFill>
              </a:rPr>
              <a:t>Buracos Siga em aberto por RPA</a:t>
            </a:r>
          </a:p>
        </c:rich>
      </c:tx>
      <c:layout/>
      <c:overlay val="0"/>
    </c:title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Buracos em aberto</c:v>
                </c:pt>
              </c:strCache>
            </c:strRef>
          </c:tx>
          <c:dPt>
            <c:idx val="0"/>
            <c:spPr>
              <a:solidFill>
                <a:srgbClr val="0A7BEA"/>
              </a:solidFill>
            </c:spPr>
          </c:dPt>
          <c:dPt>
            <c:idx val="1"/>
            <c:spPr>
              <a:solidFill>
                <a:srgbClr val="12A4B6"/>
              </a:solidFill>
            </c:spPr>
          </c:dPt>
          <c:dPt>
            <c:idx val="2"/>
            <c:spPr>
              <a:solidFill>
                <a:srgbClr val="17A35B"/>
              </a:solidFill>
            </c:spPr>
          </c:dPt>
          <c:dPt>
            <c:idx val="3"/>
            <c:spPr>
              <a:solidFill>
                <a:srgbClr val="F2A900"/>
              </a:solidFill>
            </c:spPr>
          </c:dPt>
          <c:dPt>
            <c:idx val="4"/>
            <c:spPr>
              <a:solidFill>
                <a:srgbClr val="E5383B"/>
              </a:solidFill>
            </c:spPr>
          </c:dPt>
          <c:dPt>
            <c:idx val="5"/>
            <c:spPr>
              <a:solidFill>
                <a:srgbClr val="7B4FD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FFFFFF"/>
                        </a:solidFill>
                        <a:latin typeface="Calibri"/>
                      </a:rPr>
                      <a:t>19</a:t>
                    </a:r>
                  </a:p>
                  <a:p>
                    <a:r>
                      <a:rPr sz="1000" b="1">
                        <a:solidFill>
                          <a:srgbClr val="FFFFFF"/>
                        </a:solidFill>
                        <a:latin typeface="Calibri"/>
                      </a:rPr>
                      <a:t>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FFFFFF"/>
                        </a:solidFill>
                        <a:latin typeface="Calibri"/>
                      </a:rPr>
                      <a:t>52</a:t>
                    </a:r>
                  </a:p>
                  <a:p>
                    <a:r>
                      <a:rPr sz="1000" b="1">
                        <a:solidFill>
                          <a:srgbClr val="FFFFFF"/>
                        </a:solidFill>
                        <a:latin typeface="Calibri"/>
                      </a:rPr>
                      <a:t>15%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FFFFFF"/>
                        </a:solidFill>
                        <a:latin typeface="Calibri"/>
                      </a:rPr>
                      <a:t>87</a:t>
                    </a:r>
                  </a:p>
                  <a:p>
                    <a:r>
                      <a:rPr sz="1000" b="1">
                        <a:solidFill>
                          <a:srgbClr val="FFFFFF"/>
                        </a:solidFill>
                        <a:latin typeface="Calibri"/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6233F"/>
                        </a:solidFill>
                        <a:latin typeface="Calibri"/>
                      </a:rPr>
                      <a:t>46</a:t>
                    </a:r>
                  </a:p>
                  <a:p>
                    <a:r>
                      <a:rPr sz="1000" b="1">
                        <a:solidFill>
                          <a:srgbClr val="16233F"/>
                        </a:solidFill>
                        <a:latin typeface="Calibri"/>
                      </a:rPr>
                      <a:t>13%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FFFFFF"/>
                        </a:solidFill>
                        <a:latin typeface="Calibri"/>
                      </a:rPr>
                      <a:t>69</a:t>
                    </a:r>
                  </a:p>
                  <a:p>
                    <a:r>
                      <a:rPr sz="1000" b="1">
                        <a:solidFill>
                          <a:srgbClr val="FFFFFF"/>
                        </a:solidFill>
                        <a:latin typeface="Calibri"/>
                      </a:rPr>
                      <a:t>19%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FFFFFF"/>
                        </a:solidFill>
                        <a:latin typeface="Calibri"/>
                      </a:rPr>
                      <a:t>84</a:t>
                    </a:r>
                  </a:p>
                  <a:p>
                    <a:r>
                      <a:rPr sz="1000" b="1">
                        <a:solidFill>
                          <a:srgbClr val="FFFFFF"/>
                        </a:solidFill>
                        <a:latin typeface="Calibri"/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RPA 1 · Centro</c:v>
                </c:pt>
                <c:pt idx="1">
                  <c:v>RPA 2 · Norte</c:v>
                </c:pt>
                <c:pt idx="2">
                  <c:v>RPA 3 · Noroeste</c:v>
                </c:pt>
                <c:pt idx="3">
                  <c:v>RPA 4 · Oeste</c:v>
                </c:pt>
                <c:pt idx="4">
                  <c:v>RPA 5 · Sudoeste</c:v>
                </c:pt>
                <c:pt idx="5">
                  <c:v>RPA 6 · Sul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</c:v>
                </c:pt>
                <c:pt idx="1">
                  <c:v>52</c:v>
                </c:pt>
                <c:pt idx="2">
                  <c:v>87</c:v>
                </c:pt>
                <c:pt idx="3">
                  <c:v>46</c:v>
                </c:pt>
                <c:pt idx="4">
                  <c:v>69</c:v>
                </c:pt>
                <c:pt idx="5">
                  <c:v>84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Operação Tapa-Buraco — semana Emlurb 40 (30/09 a 06/10/2026).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Semana 40: 426 buracos tapados e saldo de 171 a tapar.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Tapados por RPA (planilha de frentes de serviço) e saldo a tapar por RPA (Números Emlurb), semana atual e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Buracos por frente = buracos tapados na semana ÷ frentes que trabalharam (cada equipe conta 1 por dia em que foi à rua). Fonte: planilha de frentes de serviço.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Frentes de serviço da semana por empresa e RPA. Quadradinhos = buracos tapados por dia (qua → ter)  ·  0 em laranja = dia útil sem frente  ·  S/D fim de semana  ·  F feriado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Buracos tapados por RPA e dia (número pequeno = frentes no dia). Total da semana × semana anterior e média de buracos por frente.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Tapados (azul) e saldo a tapar (amarelo) por semana; abaixo, a chuva de cada semana (0 = semana sem chuva).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Acumulado de buracos tapados até esta semana, comparado com o mesmo período dos anos anteriores.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semana 40 em cada ano: tapados e saldo (Números Emlurb) e a chuva da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Participação de cada RPA e bairro nas demandas de buraco em aberto ao fim da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2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3.xml"/><Relationship Id="rId6" Type="http://schemas.openxmlformats.org/officeDocument/2006/relationships/chart" Target="../charts/chart4.xml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7.xml"/><Relationship Id="rId6" Type="http://schemas.openxmlformats.org/officeDocument/2006/relationships/chart" Target="../charts/chart8.xml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9.xml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7B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-1463040"/>
            <a:ext cx="6583680" cy="6583680"/>
          </a:xfrm>
          <a:prstGeom prst="ellipse">
            <a:avLst/>
          </a:prstGeom>
          <a:solidFill>
            <a:srgbClr val="2F8F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321040" y="-731520"/>
            <a:ext cx="5120640" cy="5120640"/>
          </a:xfrm>
          <a:prstGeom prst="ellipse">
            <a:avLst/>
          </a:prstGeom>
          <a:solidFill>
            <a:srgbClr val="1E6F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ie 4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ie 5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ie 7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ie 8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Pie 9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ie 10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Pie 11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10597" y="2998317"/>
            <a:ext cx="312724" cy="3127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23526" y="3154680"/>
            <a:ext cx="86868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Block Arc 14"/>
          <p:cNvSpPr/>
          <p:nvPr/>
        </p:nvSpPr>
        <p:spPr>
          <a:xfrm>
            <a:off x="9619488" y="4197096"/>
            <a:ext cx="390906" cy="694944"/>
          </a:xfrm>
          <a:prstGeom prst="blockArc">
            <a:avLst>
              <a:gd name="adj1" fmla="val 0"/>
              <a:gd name="adj2" fmla="val 10800000"/>
              <a:gd name="adj3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prefei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02920"/>
            <a:ext cx="2398426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2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C20E"/>
                </a:solidFill>
                <a:latin typeface="Calibri"/>
              </a:rPr>
              <a:t>OPERAÇÃO TAPA-BURACO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Semana 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2900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D7E7FF"/>
                </a:solidFill>
                <a:latin typeface="Calibri"/>
              </a:rPr>
              <a:t>30/09 a 06/10/2026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023360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BFD7FB"/>
                </a:solidFill>
                <a:latin typeface="Calibri"/>
              </a:rPr>
              <a:t>Buracos tapados e saldo a tapar  ·  Onde estão as demandas  ·  Frentes de serviço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833872"/>
            <a:ext cx="3047924" cy="82296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47923" y="5833872"/>
            <a:ext cx="3047924" cy="82296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5847" y="5833872"/>
            <a:ext cx="3047924" cy="82296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3771" y="5833872"/>
            <a:ext cx="3047924" cy="82296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5916168"/>
            <a:ext cx="12191695" cy="9418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108192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Relatório semanal  ·  </a:t>
            </a:r>
            <a:r>
              <a:rPr sz="1300" b="1" i="0">
                <a:solidFill>
                  <a:srgbClr val="5B6B82"/>
                </a:solidFill>
                <a:latin typeface="Calibri"/>
              </a:rPr>
              <a:t>29/10/2026</a:t>
            </a:r>
          </a:p>
        </p:txBody>
      </p:sp>
      <p:pic>
        <p:nvPicPr>
          <p:cNvPr id="27" name="Picture 26" descr="logo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9533" y="6099048"/>
            <a:ext cx="569242" cy="566928"/>
          </a:xfrm>
          <a:prstGeom prst="rect">
            <a:avLst/>
          </a:prstGeom>
        </p:spPr>
      </p:pic>
      <p:pic>
        <p:nvPicPr>
          <p:cNvPr id="28" name="Picture 27" descr="logo_emlur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2202" y="6099048"/>
            <a:ext cx="1027291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7432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A SEMANA EM NÚMEROS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40/2026  ·  30/09 a 06/10/2026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2</a:t>
            </a:r>
          </a:p>
        </p:txBody>
      </p:sp>
      <p:pic>
        <p:nvPicPr>
          <p:cNvPr id="12" name="Picture 11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3" name="Picture 12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4" name="Picture 13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02920" y="1481328"/>
            <a:ext cx="4572000" cy="324612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Pie 15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Pie 16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Pie 17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Pie 18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Pie 19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Pie 20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Pie 21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Pie 22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35296" y="2304745"/>
            <a:ext cx="90525" cy="90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175564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C20E"/>
                </a:solidFill>
                <a:latin typeface="Calibri"/>
              </a:rPr>
              <a:t>BURACOS TAPADOS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20299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426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3355847"/>
            <a:ext cx="2926080" cy="365760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35584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7CF0B0"/>
                </a:solidFill>
                <a:latin typeface="Calibri"/>
              </a:rPr>
              <a:t>▲ 33%</a:t>
            </a:r>
            <a:r>
              <a:rPr sz="1100" b="0" i="0">
                <a:solidFill>
                  <a:srgbClr val="D7E7FF"/>
                </a:solidFill>
                <a:latin typeface="Calibri"/>
              </a:rPr>
              <a:t>  vs semana 39 (320)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904488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BFD7FB"/>
                </a:solidFill>
                <a:latin typeface="Calibri"/>
              </a:rPr>
              <a:t>Média semanal do ano: </a:t>
            </a:r>
            <a:r>
              <a:rPr sz="1250" b="1" i="0">
                <a:solidFill>
                  <a:srgbClr val="FFFFFF"/>
                </a:solidFill>
                <a:latin typeface="Calibri"/>
              </a:rPr>
              <a:t>395</a:t>
            </a:r>
          </a:p>
          <a:p>
            <a:pPr algn="l">
              <a:spcBef>
                <a:spcPts val="400"/>
              </a:spcBef>
            </a:pPr>
            <a:r>
              <a:rPr sz="1250" b="0" i="0">
                <a:solidFill>
                  <a:srgbClr val="BFD7FB"/>
                </a:solidFill>
                <a:latin typeface="Calibri"/>
              </a:rPr>
              <a:t>esta semana ficou 8% acima da média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1481328"/>
            <a:ext cx="324612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03520" y="1709928"/>
            <a:ext cx="73152" cy="82296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77840" y="1755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8C28"/>
                </a:solidFill>
                <a:latin typeface="Calibri"/>
              </a:rPr>
              <a:t>NÃO TAPADOS (SALDO)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2029968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16233F"/>
                </a:solidFill>
                <a:latin typeface="Calibri"/>
              </a:rPr>
              <a:t>171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2990088"/>
            <a:ext cx="2697480" cy="329184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299008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E5383B"/>
                </a:solidFill>
                <a:latin typeface="Calibri"/>
              </a:rPr>
              <a:t>▲ 7%</a:t>
            </a:r>
            <a:r>
              <a:rPr sz="1050" b="0" i="0">
                <a:solidFill>
                  <a:srgbClr val="E5383B"/>
                </a:solidFill>
                <a:latin typeface="Calibri"/>
              </a:rPr>
              <a:t>  vs semana 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353872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TAXA DE EXECUÇÃO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3767328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546C0"/>
                </a:solidFill>
                <a:latin typeface="Calibri"/>
              </a:rPr>
              <a:t>71%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3813048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 ÷ (tapados + saldo)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334256"/>
            <a:ext cx="2697480" cy="146304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577840" y="4334256"/>
            <a:ext cx="1924834" cy="146304"/>
          </a:xfrm>
          <a:prstGeom prst="roundRect">
            <a:avLst>
              <a:gd name="adj" fmla="val 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778240" y="1481328"/>
            <a:ext cx="2910535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78240" y="1709928"/>
            <a:ext cx="73152" cy="822960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52560" y="1755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A7BEA"/>
                </a:solidFill>
                <a:latin typeface="Calibri"/>
              </a:rPr>
              <a:t>CHUVA NA SEMANA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202996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16233F"/>
                </a:solidFill>
                <a:latin typeface="Calibri"/>
              </a:rPr>
              <a:t>22</a:t>
            </a:r>
            <a:r>
              <a:rPr sz="2000" b="0" i="0">
                <a:solidFill>
                  <a:srgbClr val="5B6B82"/>
                </a:solidFill>
                <a:latin typeface="Calibri"/>
              </a:rPr>
              <a:t> mm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52560" y="2990088"/>
            <a:ext cx="2361895" cy="329184"/>
          </a:xfrm>
          <a:prstGeom prst="roundRect">
            <a:avLst>
              <a:gd name="adj" fmla="val 50000"/>
            </a:avLst>
          </a:prstGeom>
          <a:solidFill>
            <a:srgbClr val="E3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52560" y="2990088"/>
            <a:ext cx="236189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546C0"/>
                </a:solidFill>
                <a:latin typeface="Calibri"/>
              </a:rPr>
              <a:t>▲ 87%</a:t>
            </a:r>
            <a:r>
              <a:rPr sz="1050" b="0" i="0">
                <a:solidFill>
                  <a:srgbClr val="1546C0"/>
                </a:solidFill>
                <a:latin typeface="Calibri"/>
              </a:rPr>
              <a:t>  vs média histórica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52560" y="35387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ACUMULADO NO ANO</a:t>
            </a:r>
          </a:p>
          <a:p>
            <a:pPr algn="l">
              <a:spcBef>
                <a:spcPts val="200"/>
              </a:spcBef>
            </a:pPr>
            <a:r>
              <a:rPr sz="2600" b="1" i="0">
                <a:solidFill>
                  <a:srgbClr val="1546C0"/>
                </a:solidFill>
                <a:latin typeface="Calibri"/>
              </a:rPr>
              <a:t>2.100 mm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4928616"/>
            <a:ext cx="5478627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928616"/>
            <a:ext cx="91440" cy="1143000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05663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6B82"/>
                </a:solidFill>
                <a:latin typeface="Calibri"/>
              </a:rPr>
              <a:t>TAPADOS EM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5312664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6233F"/>
                </a:solidFill>
                <a:latin typeface="Calibri"/>
              </a:rPr>
              <a:t>15.803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4760" y="5111496"/>
            <a:ext cx="200390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40 semanas · média de 395 por semana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10147" y="4928616"/>
            <a:ext cx="5478627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10147" y="4928616"/>
            <a:ext cx="91440" cy="1143000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30187" y="505663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6B82"/>
                </a:solidFill>
                <a:latin typeface="Calibri"/>
              </a:rPr>
              <a:t>SALDO MÉDIO DO ANO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30187" y="5312664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6233F"/>
                </a:solidFill>
                <a:latin typeface="Calibri"/>
              </a:rPr>
              <a:t>120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1987" y="5111496"/>
            <a:ext cx="200390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não tapados por semana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7432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POR RPA · SEMANA 40 × SEMANA 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40/2026  ·  30/09 a 06/10/2026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3</a:t>
            </a:r>
          </a:p>
        </p:txBody>
      </p:sp>
      <p:pic>
        <p:nvPicPr>
          <p:cNvPr id="12" name="Picture 11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3" name="Picture 12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4" name="Picture 13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1481328"/>
          <a:ext cx="5212080" cy="3657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7320"/>
                <a:gridCol w="1143000"/>
                <a:gridCol w="868680"/>
                <a:gridCol w="86868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RPA</a:t>
                      </a:r>
                    </a:p>
                  </a:txBody>
                  <a:tcPr anchor="ctr" marL="54864" marR="54864" marT="18288" marB="18288">
                    <a:solidFill>
                      <a:srgbClr val="0F2F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Empresa</a:t>
                      </a:r>
                    </a:p>
                  </a:txBody>
                  <a:tcPr anchor="ctr" marL="54864" marR="54864" marT="18288" marB="18288">
                    <a:solidFill>
                      <a:srgbClr val="0F2F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Tapados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S40</a:t>
                      </a:r>
                    </a:p>
                  </a:txBody>
                  <a:tcPr anchor="ctr" marL="54864" marR="54864" marT="18288" marB="18288">
                    <a:solidFill>
                      <a:srgbClr val="0F2F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Tapados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S39</a:t>
                      </a:r>
                    </a:p>
                  </a:txBody>
                  <a:tcPr anchor="ctr" marL="54864" marR="54864" marT="18288" marB="18288">
                    <a:solidFill>
                      <a:srgbClr val="5B6B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Δ tapados</a:t>
                      </a:r>
                    </a:p>
                  </a:txBody>
                  <a:tcPr anchor="ctr" marL="54864" marR="54864" marT="18288" marB="18288">
                    <a:solidFill>
                      <a:srgbClr val="0F2F8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RPA 1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16233F"/>
                          </a:solidFill>
                          <a:latin typeface="Calibri"/>
                        </a:rPr>
                        <a:t>Centro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33F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B6B82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8A4C"/>
                          </a:solidFill>
                          <a:latin typeface="Calibri"/>
                        </a:rPr>
                        <a:t>▲ 12%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RPA 2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16233F"/>
                          </a:solidFill>
                          <a:latin typeface="Calibri"/>
                        </a:rPr>
                        <a:t>Norte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33F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B6B82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E5383B"/>
                          </a:solidFill>
                          <a:latin typeface="Calibri"/>
                        </a:rPr>
                        <a:t>▼ 15%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RPA 3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16233F"/>
                          </a:solidFill>
                          <a:latin typeface="Calibri"/>
                        </a:rPr>
                        <a:t>Noroeste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33F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B6B82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8A4C"/>
                          </a:solidFill>
                          <a:latin typeface="Calibri"/>
                        </a:rPr>
                        <a:t>▲ 97%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RPA 4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16233F"/>
                          </a:solidFill>
                          <a:latin typeface="Calibri"/>
                        </a:rPr>
                        <a:t>Oeste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33F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B6B82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8A4C"/>
                          </a:solidFill>
                          <a:latin typeface="Calibri"/>
                        </a:rPr>
                        <a:t>▲ 51%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RPA 5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16233F"/>
                          </a:solidFill>
                          <a:latin typeface="Calibri"/>
                        </a:rPr>
                        <a:t>Sudoeste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33F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B6B82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8A4C"/>
                          </a:solidFill>
                          <a:latin typeface="Calibri"/>
                        </a:rPr>
                        <a:t>▲ 149%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RPA 6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16233F"/>
                          </a:solidFill>
                          <a:latin typeface="Calibri"/>
                        </a:rPr>
                        <a:t>Sul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33F"/>
                          </a:solidFill>
                          <a:latin typeface="Calibri"/>
                        </a:rPr>
                        <a:t>LIDERMAC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B6B82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E5383B"/>
                          </a:solidFill>
                          <a:latin typeface="Calibri"/>
                        </a:rPr>
                        <a:t>▼ 21%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F2F8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54864" marR="54864" marT="18288" marB="18288"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F2F86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54864" marR="54864" marT="18288" marB="18288"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F2F86"/>
                          </a:solidFill>
                          <a:latin typeface="Calibri"/>
                        </a:rPr>
                        <a:t>426</a:t>
                      </a:r>
                    </a:p>
                  </a:txBody>
                  <a:tcPr anchor="ctr" marL="54864" marR="54864" marT="18288" marB="18288"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F2F86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4864" marR="54864" marT="18288" marB="18288"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F2F86"/>
                          </a:solidFill>
                          <a:latin typeface="Calibri"/>
                        </a:rPr>
                        <a:t>▲ 33%</a:t>
                      </a:r>
                    </a:p>
                  </a:txBody>
                  <a:tcPr anchor="ctr" marL="54864" marR="54864" marT="18288" marB="18288">
                    <a:solidFill>
                      <a:srgbClr val="DCE8F8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502920" y="5276088"/>
            <a:ext cx="52120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276088"/>
            <a:ext cx="82296" cy="56692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276088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546C0"/>
                </a:solidFill>
                <a:latin typeface="Calibri"/>
              </a:rPr>
              <a:t>Observação:  </a:t>
            </a:r>
            <a:r>
              <a:rPr sz="1400" b="1" i="0">
                <a:solidFill>
                  <a:srgbClr val="16233F"/>
                </a:solidFill>
                <a:latin typeface="Calibri"/>
              </a:rPr>
              <a:t>RPA 5 (Sudoeste) tapou mais: 102 buracos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1481328"/>
            <a:ext cx="5745175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6035040" y="1572768"/>
          <a:ext cx="5562295" cy="4434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FRENTES DE SERVIÇO · COMO CALCULAMOS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Buracos por frente: o que é e como é feito o cálculo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40/2026  ·  30/09 a 06/10/2026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4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3332378" cy="141732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645920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C20E"/>
                </a:solidFill>
                <a:latin typeface="Calibri"/>
              </a:rPr>
              <a:t>BURACOS TAPADOS NA SEMANA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892808"/>
            <a:ext cx="28751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426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514599"/>
            <a:ext cx="287517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D7E7FF"/>
                </a:solidFill>
                <a:latin typeface="Calibri"/>
              </a:rPr>
              <a:t>soma de todas as RPAs, todos os dias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35298" y="1481328"/>
            <a:ext cx="59436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 i="0">
                <a:solidFill>
                  <a:srgbClr val="1546C0"/>
                </a:solidFill>
                <a:latin typeface="Calibri"/>
              </a:rPr>
              <a:t>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9658" y="1481328"/>
            <a:ext cx="333237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3978" y="1645920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546C0"/>
                </a:solidFill>
                <a:latin typeface="Calibri"/>
              </a:rPr>
              <a:t>FRENTES QUE TRABALHARAM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3978" y="1892808"/>
            <a:ext cx="28751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6233F"/>
                </a:solidFill>
                <a:latin typeface="Calibri"/>
              </a:rPr>
              <a:t>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3978" y="2514599"/>
            <a:ext cx="287517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82"/>
                </a:solidFill>
                <a:latin typeface="Calibri"/>
              </a:rPr>
              <a:t>cada equipe que foi à rua conta 1 por dia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2036" y="1481328"/>
            <a:ext cx="59436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 i="0">
                <a:solidFill>
                  <a:srgbClr val="1546C0"/>
                </a:solidFill>
                <a:latin typeface="Calibri"/>
              </a:rPr>
              <a:t>=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56396" y="1481328"/>
            <a:ext cx="3332378" cy="141732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F2F86"/>
              </a:gs>
              <a:gs pos="100000">
                <a:srgbClr val="0B1E4F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30716" y="1645920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C20E"/>
                </a:solidFill>
                <a:latin typeface="Calibri"/>
              </a:rPr>
              <a:t>BURACOS POR FRENTE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0716" y="1892808"/>
            <a:ext cx="287517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8,3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0716" y="2514599"/>
            <a:ext cx="287517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D7E7FF"/>
                </a:solidFill>
                <a:latin typeface="Calibri"/>
              </a:rPr>
              <a:t>quanto cada equipe tapou, em média, por dia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172968"/>
            <a:ext cx="11185855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310128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6233F"/>
                </a:solidFill>
                <a:latin typeface="Calibri"/>
              </a:rPr>
              <a:t>Exemplo: </a:t>
            </a:r>
            <a:r>
              <a:rPr sz="1300" b="1" i="0">
                <a:solidFill>
                  <a:srgbClr val="E5383B"/>
                </a:solidFill>
                <a:latin typeface="Calibri"/>
              </a:rPr>
              <a:t>RPA 5 · Sudoeste (AGC)</a:t>
            </a:r>
            <a:r>
              <a:rPr sz="1300" b="0" i="0">
                <a:solidFill>
                  <a:srgbClr val="5B6B82"/>
                </a:solidFill>
                <a:latin typeface="Calibri"/>
              </a:rPr>
              <a:t>  — a mesma conta vale para cada RPA, cada empresa e o total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3767328"/>
            <a:ext cx="1054564" cy="960120"/>
          </a:xfrm>
          <a:prstGeom prst="roundRect">
            <a:avLst>
              <a:gd name="adj" fmla="val 12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813048"/>
            <a:ext cx="10545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270248"/>
            <a:ext cx="105456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2 frentes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773168"/>
            <a:ext cx="10545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B6B82"/>
                </a:solidFill>
                <a:latin typeface="Calibri"/>
              </a:rPr>
              <a:t>qua 30/09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04956" y="3767328"/>
            <a:ext cx="1054564" cy="960120"/>
          </a:xfrm>
          <a:prstGeom prst="roundRect">
            <a:avLst>
              <a:gd name="adj" fmla="val 12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04956" y="3813048"/>
            <a:ext cx="10545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04956" y="4270248"/>
            <a:ext cx="105456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3 frentes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04956" y="4773168"/>
            <a:ext cx="10545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B6B82"/>
                </a:solidFill>
                <a:latin typeface="Calibri"/>
              </a:rPr>
              <a:t>qui 01/10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32672" y="3767328"/>
            <a:ext cx="1054564" cy="960120"/>
          </a:xfrm>
          <a:prstGeom prst="roundRect">
            <a:avLst>
              <a:gd name="adj" fmla="val 12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32672" y="3813048"/>
            <a:ext cx="10545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32672" y="4270248"/>
            <a:ext cx="105456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3 frentes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2672" y="4773168"/>
            <a:ext cx="10545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B6B82"/>
                </a:solidFill>
                <a:latin typeface="Calibri"/>
              </a:rPr>
              <a:t>sex 02/10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60389" y="3767328"/>
            <a:ext cx="1054564" cy="960120"/>
          </a:xfrm>
          <a:prstGeom prst="roundRect">
            <a:avLst>
              <a:gd name="adj" fmla="val 12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60389" y="3813048"/>
            <a:ext cx="10545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60389" y="4270248"/>
            <a:ext cx="105456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2 frentes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60389" y="4773168"/>
            <a:ext cx="10545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B6B82"/>
                </a:solidFill>
                <a:latin typeface="Calibri"/>
              </a:rPr>
              <a:t>sáb 03/10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288105" y="3767328"/>
            <a:ext cx="1054564" cy="960120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88105" y="3813048"/>
            <a:ext cx="10545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5B6B82"/>
                </a:solidFill>
                <a:latin typeface="Calibr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88105" y="4270248"/>
            <a:ext cx="105456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5B6B82"/>
                </a:solidFill>
                <a:latin typeface="Calibri"/>
              </a:rPr>
              <a:t>sem frente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8105" y="4773168"/>
            <a:ext cx="10545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B6B82"/>
                </a:solidFill>
                <a:latin typeface="Calibri"/>
              </a:rPr>
              <a:t>dom 04/10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15822" y="3767328"/>
            <a:ext cx="1054564" cy="960120"/>
          </a:xfrm>
          <a:prstGeom prst="roundRect">
            <a:avLst>
              <a:gd name="adj" fmla="val 12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15822" y="3813048"/>
            <a:ext cx="10545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15822" y="4270248"/>
            <a:ext cx="105456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1 frente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15822" y="4773168"/>
            <a:ext cx="10545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B6B82"/>
                </a:solidFill>
                <a:latin typeface="Calibri"/>
              </a:rPr>
              <a:t>seg 05/10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543538" y="3767328"/>
            <a:ext cx="1054564" cy="960120"/>
          </a:xfrm>
          <a:prstGeom prst="roundRect">
            <a:avLst>
              <a:gd name="adj" fmla="val 12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43538" y="3813048"/>
            <a:ext cx="10545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43538" y="4270248"/>
            <a:ext cx="105456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1 frente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43538" y="4773168"/>
            <a:ext cx="10545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B6B82"/>
                </a:solidFill>
                <a:latin typeface="Calibri"/>
              </a:rPr>
              <a:t>ter 06/10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808415" y="3767328"/>
            <a:ext cx="2651760" cy="960120"/>
          </a:xfrm>
          <a:prstGeom prst="roundRect">
            <a:avLst>
              <a:gd name="adj" fmla="val 6000"/>
            </a:avLst>
          </a:prstGeom>
          <a:solidFill>
            <a:srgbClr val="F2F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808415" y="3785616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6233F"/>
                </a:solidFill>
                <a:latin typeface="Calibri"/>
              </a:rPr>
              <a:t>102 buracos</a:t>
            </a:r>
          </a:p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16233F"/>
                </a:solidFill>
                <a:latin typeface="Calibri"/>
              </a:rPr>
              <a:t>÷ 12 frentes</a:t>
            </a:r>
          </a:p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E5383B"/>
                </a:solidFill>
                <a:latin typeface="Calibri"/>
              </a:rPr>
              <a:t>= 8,5 por frente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02920" y="5504688"/>
            <a:ext cx="357621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2920" y="5504688"/>
            <a:ext cx="73152" cy="71323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" y="5577840"/>
            <a:ext cx="325617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Soma tudo e divide uma vez</a:t>
            </a:r>
          </a:p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5B6B82"/>
                </a:solidFill>
                <a:latin typeface="Calibri"/>
              </a:rPr>
              <a:t>não é a média das médias de cada dia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07738" y="5504688"/>
            <a:ext cx="357621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307738" y="5504688"/>
            <a:ext cx="73152" cy="71323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36338" y="5577840"/>
            <a:ext cx="325617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Dia sem frente não entra</a:t>
            </a:r>
          </a:p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5B6B82"/>
                </a:solidFill>
                <a:latin typeface="Calibri"/>
              </a:rPr>
              <a:t>não puxa a média para baixo; aparece como 0 em laranja no quadro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112556" y="5504688"/>
            <a:ext cx="357621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112556" y="5504688"/>
            <a:ext cx="73152" cy="71323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41156" y="5577840"/>
            <a:ext cx="325617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Comparação justa</a:t>
            </a:r>
          </a:p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5B6B82"/>
                </a:solidFill>
                <a:latin typeface="Calibri"/>
              </a:rPr>
              <a:t>a mesma conta na semana anterior; sobe se cada equipe tapou mais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FRENTES DE SERVIÇO · AGC E LIDERMAC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426 buracos tapados pelas frentes  ·  AGC 361  ·  LIDERMAC 65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40/2026  ·  30/09 a 06/10/2026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5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5478627" cy="12984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1572768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ag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124" y="1636776"/>
            <a:ext cx="579272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19568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RPA 1, RPA 2, RPA 3, RPA 4, RPA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23113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6 de 7 dias com frente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TAPADOS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361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2377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34640" y="23774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7CF0B0"/>
                </a:solidFill>
                <a:latin typeface="Calibri"/>
              </a:rPr>
              <a:t>▲ 52%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BURACOS POR FRENTE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8,6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23774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23774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7CF0B0"/>
                </a:solidFill>
                <a:latin typeface="Calibri"/>
              </a:rPr>
              <a:t>▲ 34%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anterior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0147" y="1481328"/>
            <a:ext cx="5478627" cy="12984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7B4FD6"/>
              </a:gs>
              <a:gs pos="100000">
                <a:srgbClr val="4B2A9E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84467" y="1572768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liderma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7921" y="1636776"/>
            <a:ext cx="1056132" cy="2560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84467" y="19568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RPA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84467" y="223113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5 de 7 dias com frente · 1 dia(s) útil(eis) sem nenhuma frente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1867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TAPADOS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1867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65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1867" y="2377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1867" y="23774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B3B3"/>
                </a:solidFill>
                <a:latin typeface="Calibri"/>
              </a:rPr>
              <a:t>▼ 21%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96347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BURACOS POR FRENTE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96347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7,2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96347" y="23774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96347" y="23774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B3B3"/>
                </a:solidFill>
                <a:latin typeface="Calibri"/>
              </a:rPr>
              <a:t>▼ 12%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anterior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2944368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2944368"/>
            <a:ext cx="82296" cy="1604772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3035808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7BEA"/>
                </a:solidFill>
                <a:latin typeface="Calibri"/>
              </a:rPr>
              <a:t>RPA 1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Centro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62986" y="3054096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62986" y="3054096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3328416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379476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74520" y="3401568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DF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874520" y="3401568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7A35B"/>
                </a:solidFill>
                <a:latin typeface="Calibri"/>
              </a:rPr>
              <a:t>▲ 12%</a:t>
            </a:r>
            <a:r>
              <a:rPr sz="850" b="0" i="0">
                <a:solidFill>
                  <a:srgbClr val="17A35B"/>
                </a:solidFill>
                <a:latin typeface="Calibri"/>
              </a:rPr>
              <a:t>  vs sem. ant. (33)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74520" y="3749040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7,4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+12%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92769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92769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2769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65401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65401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5401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1526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11526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1526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57651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7651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7651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03776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3776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3776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499016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499016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9016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98594" y="2944368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98594" y="2944368"/>
            <a:ext cx="82296" cy="1604772"/>
          </a:xfrm>
          <a:prstGeom prst="rect">
            <a:avLst/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27194" y="3035808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E8C9C"/>
                </a:solidFill>
                <a:latin typeface="Calibri"/>
              </a:rPr>
              <a:t>RPA 2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Norte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658660" y="3054096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8660" y="3054096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7194" y="3328416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27194" y="379476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670194" y="3401568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70194" y="3401568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15%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(66)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70194" y="3749040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6,2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+4%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27194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27194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27194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988443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988443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88443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49693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449693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49693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910942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910942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10942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2192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72192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372192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833441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33441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33441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294691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294691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94691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094268" y="2944368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094268" y="2944368"/>
            <a:ext cx="82296" cy="1604772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22868" y="3035808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A35B"/>
                </a:solidFill>
                <a:latin typeface="Calibri"/>
              </a:rPr>
              <a:t>RPA 3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Noroeste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0454335" y="3054096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454335" y="3054096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322868" y="3328416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77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322868" y="379476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9465868" y="3401568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DF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465868" y="3401568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7A35B"/>
                </a:solidFill>
                <a:latin typeface="Calibri"/>
              </a:rPr>
              <a:t>▲ 97%</a:t>
            </a:r>
            <a:r>
              <a:rPr sz="850" b="0" i="0">
                <a:solidFill>
                  <a:srgbClr val="17A35B"/>
                </a:solidFill>
                <a:latin typeface="Calibri"/>
              </a:rPr>
              <a:t>  vs sem. ant. (39)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65868" y="3749040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7,7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+18%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32286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32286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32286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78411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78411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78411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924536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24536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24536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970661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70661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70661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0167866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167866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167866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0629116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629116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29116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11090365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1090365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090365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0" y="4686300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02920" y="4686300"/>
            <a:ext cx="82296" cy="1604772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31520" y="4777740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A900"/>
                </a:solidFill>
                <a:latin typeface="Calibri"/>
              </a:rPr>
              <a:t>RPA 4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Oeste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862986" y="4796028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2862986" y="4796028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31520" y="50703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89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1520" y="553669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874520" y="5143500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DF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874520" y="5143500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7A35B"/>
                </a:solidFill>
                <a:latin typeface="Calibri"/>
              </a:rPr>
              <a:t>▲ 51%</a:t>
            </a:r>
            <a:r>
              <a:rPr sz="850" b="0" i="0">
                <a:solidFill>
                  <a:srgbClr val="17A35B"/>
                </a:solidFill>
                <a:latin typeface="Calibri"/>
              </a:rPr>
              <a:t>  vs sem. ant. (59)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874520" y="5490972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14,8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+126%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731520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31520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27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31520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192769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192769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192769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65401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5401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65401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11526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11526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11526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7651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57651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57651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03776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303776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03776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499016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499016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499016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298594" y="4686300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298594" y="4686300"/>
            <a:ext cx="82296" cy="1604772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27194" y="4777740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5383B"/>
                </a:solidFill>
                <a:latin typeface="Calibri"/>
              </a:rPr>
              <a:t>RPA 5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Sudoeste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658660" y="4796028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658660" y="4796028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27194" y="50703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102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527194" y="553669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670194" y="5143500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DF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670194" y="5143500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7A35B"/>
                </a:solidFill>
                <a:latin typeface="Calibri"/>
              </a:rPr>
              <a:t>▲ 149%</a:t>
            </a:r>
            <a:r>
              <a:rPr sz="850" b="0" i="0">
                <a:solidFill>
                  <a:srgbClr val="17A35B"/>
                </a:solidFill>
                <a:latin typeface="Calibri"/>
              </a:rPr>
              <a:t>  vs sem. ant. (41)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670194" y="5490972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8,5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+24%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4527194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527194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527194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4988443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988443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988443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5449693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449693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449693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5910942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910942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910942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6372192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372192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372192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833441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833441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833441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7294691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7294691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294691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8094268" y="4686300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8094268" y="4686300"/>
            <a:ext cx="82296" cy="1604772"/>
          </a:xfrm>
          <a:prstGeom prst="rect">
            <a:avLst/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8322868" y="4777740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B4FD6"/>
                </a:solidFill>
                <a:latin typeface="Calibri"/>
              </a:rPr>
              <a:t>RPA 6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Sul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10454335" y="4796028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10454335" y="4796028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LIDERMAC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322868" y="50703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65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22868" y="553669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9465868" y="5143500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9465868" y="5143500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21%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(82)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465868" y="5490972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7,2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E5383B"/>
                </a:solidFill>
                <a:latin typeface="Calibri"/>
              </a:rPr>
              <a:t>-12%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832286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832286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832286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878411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878411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878411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924536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924536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4536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970661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970661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970661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10167866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10167866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167866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10629116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629116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0629116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225" name="Rounded Rectangle 224"/>
          <p:cNvSpPr/>
          <p:nvPr/>
        </p:nvSpPr>
        <p:spPr>
          <a:xfrm>
            <a:off x="11090365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1090365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1090365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02920" y="6254496"/>
            <a:ext cx="11185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Quadradinhos = buracos tapados por dia (qua → ter)  ·  0 em laranja = dia útil sem frente  ·  S/D fim de semana  ·  F feriado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FRENTES DE SERVIÇO · DIA A 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8,3 buracos por frente — 23% acima da semana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40/2026  ·  30/09 a 06/10/2026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6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2920" y="1481328"/>
          <a:ext cx="11185848" cy="3291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0068"/>
                <a:gridCol w="936054"/>
                <a:gridCol w="936054"/>
                <a:gridCol w="936054"/>
                <a:gridCol w="936054"/>
                <a:gridCol w="936054"/>
                <a:gridCol w="936054"/>
                <a:gridCol w="936054"/>
                <a:gridCol w="889252"/>
                <a:gridCol w="889252"/>
                <a:gridCol w="795646"/>
                <a:gridCol w="889252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RPA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qua 30/09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qui 01/10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sex 02/10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sáb 03/10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E3A3"/>
                          </a:solidFill>
                          <a:latin typeface="Calibri"/>
                        </a:rPr>
                        <a:t>sábado</a:t>
                      </a:r>
                    </a:p>
                  </a:txBody>
                  <a:tcPr marL="45720" marR="45720" marT="18288" marB="18288" anchor="ctr">
                    <a:solidFill>
                      <a:srgbClr val="5B6B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dom 04/10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E3A3"/>
                          </a:solidFill>
                          <a:latin typeface="Calibri"/>
                        </a:rPr>
                        <a:t>domingo</a:t>
                      </a:r>
                    </a:p>
                  </a:txBody>
                  <a:tcPr marL="45720" marR="45720" marT="18288" marB="18288" anchor="ctr">
                    <a:solidFill>
                      <a:srgbClr val="5B6B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seg 05/10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ter 06/10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Total da semana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Total sem. anterior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Média por frente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A7BEA"/>
                          </a:solidFill>
                          <a:latin typeface="Calibri"/>
                        </a:rPr>
                        <a:t>RPA 1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3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D7E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11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11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D7E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7A35B"/>
                          </a:solidFill>
                          <a:latin typeface="Calibri"/>
                        </a:rPr>
                        <a:t>▲ 12%</a:t>
                      </a:r>
                    </a:p>
                  </a:txBody>
                  <a:tcPr marL="45720" marR="45720" marT="18288" marB="18288" anchor="ctr">
                    <a:solidFill>
                      <a:srgbClr val="DFF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7,4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6,6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2A4B6"/>
                          </a:solidFill>
                          <a:latin typeface="Calibri"/>
                        </a:rPr>
                        <a:t>RPA 2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14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15%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6,2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6,0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7A35B"/>
                          </a:solidFill>
                          <a:latin typeface="Calibri"/>
                        </a:rPr>
                        <a:t>RPA 3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11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D7E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14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7A35B"/>
                          </a:solidFill>
                          <a:latin typeface="Calibri"/>
                        </a:rPr>
                        <a:t>▲ 97%</a:t>
                      </a:r>
                    </a:p>
                  </a:txBody>
                  <a:tcPr marL="45720" marR="45720" marT="18288" marB="18288" anchor="ctr">
                    <a:solidFill>
                      <a:srgbClr val="DFF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7,7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6,5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2A900"/>
                          </a:solidFill>
                          <a:latin typeface="Calibri"/>
                        </a:rPr>
                        <a:t>RPA 4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7A35B"/>
                          </a:solidFill>
                          <a:latin typeface="Calibri"/>
                        </a:rPr>
                        <a:t>▲ 51%</a:t>
                      </a:r>
                    </a:p>
                  </a:txBody>
                  <a:tcPr marL="45720" marR="45720" marT="18288" marB="18288" anchor="ctr">
                    <a:solidFill>
                      <a:srgbClr val="DFF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14,8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6,6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E5383B"/>
                          </a:solidFill>
                          <a:latin typeface="Calibri"/>
                        </a:rPr>
                        <a:t>RPA 5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30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3,0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3,0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4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D7E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4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D7E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7A35B"/>
                          </a:solidFill>
                          <a:latin typeface="Calibri"/>
                        </a:rPr>
                        <a:t>▲ 149%</a:t>
                      </a:r>
                    </a:p>
                  </a:txBody>
                  <a:tcPr marL="45720" marR="45720" marT="18288" marB="18288" anchor="ctr">
                    <a:solidFill>
                      <a:srgbClr val="DFF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8,5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6,8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7B4FD6"/>
                          </a:solidFill>
                          <a:latin typeface="Calibri"/>
                        </a:rPr>
                        <a:t>RPA 6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LIDERMAC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D7E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21%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7,2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8,2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426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7A35B"/>
                          </a:solidFill>
                          <a:latin typeface="Calibri"/>
                        </a:rPr>
                        <a:t>▲ 33%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8,3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02920" y="4956048"/>
            <a:ext cx="111858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94360" y="5001768"/>
          <a:ext cx="11002975" cy="1197864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EVOLUÇÃO · ÚLTIMAS 12 SEMANAS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Média semanal do ano: 395 buracos tapados (semanas 01 a 40)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40/2026  ·  30/09 a 06/10/2026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7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11185855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40080" y="1572768"/>
          <a:ext cx="10911535" cy="32461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40080" y="4773168"/>
          <a:ext cx="10911535" cy="123444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74320"/>
            <a:ext cx="917417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O ANO ATÉ AQUI · ATÉ A SEMANA 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40/2026  ·  30/09 a 06/10/2026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8</a:t>
            </a:r>
          </a:p>
        </p:txBody>
      </p:sp>
      <p:pic>
        <p:nvPicPr>
          <p:cNvPr id="12" name="Picture 11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3" name="Picture 12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4" name="Picture 13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02920" y="1481328"/>
            <a:ext cx="3566160" cy="237744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70992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TAPADOS EM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984248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15.803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2898648"/>
            <a:ext cx="3017520" cy="38404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89864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B3B3"/>
                </a:solidFill>
                <a:latin typeface="Calibri"/>
              </a:rPr>
              <a:t>▼ 0%</a:t>
            </a:r>
            <a:r>
              <a:rPr sz="1100" b="0" i="0">
                <a:solidFill>
                  <a:srgbClr val="D7E7FF"/>
                </a:solidFill>
                <a:latin typeface="Calibri"/>
              </a:rPr>
              <a:t>  vs 2025 (15.879)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0156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FD7FB"/>
                </a:solidFill>
                <a:latin typeface="Calibri"/>
              </a:rPr>
              <a:t>mesmo período: semanas 1 a 40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1481328"/>
            <a:ext cx="7391095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434840" y="1527048"/>
          <a:ext cx="7116775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502920" y="4041648"/>
            <a:ext cx="11185855" cy="22128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640080" y="4087368"/>
          <a:ext cx="10911535" cy="2121408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02920" y="6272784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5B6B82"/>
                </a:solidFill>
                <a:latin typeface="Calibri"/>
              </a:rPr>
              <a:t>Sem Números Emlurb informados na semana 10/2025: a linha liga as semanas vizinhas.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SEMANA 40 AO LONGO DOS ANOS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COMPARATIVO SEMANA 40 ÚLTIMOS ANOS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40/2026  ·  30/09 a 06/10/2026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9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7619695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40080" y="1572768"/>
          <a:ext cx="7345375" cy="3291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40080" y="4818888"/>
          <a:ext cx="7345375" cy="1216152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8351215" y="1481328"/>
            <a:ext cx="3337560" cy="214884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Pie 19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Pie 20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Pie 21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Pie 22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Pie 23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Pie 24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Pie 25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Pie 26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105570" y="2132563"/>
            <a:ext cx="69128" cy="691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25535" y="17099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C20E"/>
                </a:solidFill>
                <a:latin typeface="Calibri"/>
              </a:rPr>
              <a:t>TAPADOS · SEMANA 40/2026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25535" y="1938528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426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25535" y="2852928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BFD7FB"/>
                </a:solidFill>
                <a:latin typeface="Calibri"/>
              </a:rPr>
              <a:t>Média da semana em anos anteriores: </a:t>
            </a:r>
            <a:r>
              <a:rPr sz="1200" b="1" i="0">
                <a:solidFill>
                  <a:srgbClr val="FFFFFF"/>
                </a:solidFill>
                <a:latin typeface="Calibri"/>
              </a:rPr>
              <a:t>448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25535" y="3172968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25535" y="31729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B3B3"/>
                </a:solidFill>
                <a:latin typeface="Calibri"/>
              </a:rPr>
              <a:t>▼ 5%</a:t>
            </a:r>
            <a:r>
              <a:rPr sz="950" b="0" i="0">
                <a:solidFill>
                  <a:srgbClr val="D7E7FF"/>
                </a:solidFill>
                <a:latin typeface="Calibri"/>
              </a:rPr>
              <a:t>  vs média dos anos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51215" y="3813048"/>
            <a:ext cx="3337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1215" y="3995928"/>
            <a:ext cx="73152" cy="82296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25535" y="39776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28C28"/>
                </a:solidFill>
                <a:latin typeface="Calibri"/>
              </a:rPr>
              <a:t>NÃO TAPADOS (SALDO)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25535" y="4224528"/>
            <a:ext cx="1280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6233F"/>
                </a:solidFill>
                <a:latin typeface="Calibri"/>
              </a:rPr>
              <a:t>171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68535" y="4379976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68535" y="437997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5B6B82"/>
                </a:solidFill>
                <a:latin typeface="Calibri"/>
              </a:rPr>
              <a:t>● 0%</a:t>
            </a:r>
            <a:r>
              <a:rPr sz="900" b="0" i="0">
                <a:solidFill>
                  <a:srgbClr val="5B6B82"/>
                </a:solidFill>
                <a:latin typeface="Calibri"/>
              </a:rPr>
              <a:t>  vs média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25535" y="4773168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média dos anos anteriores: 171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51215" y="5230368"/>
            <a:ext cx="333756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351215" y="5367528"/>
            <a:ext cx="73152" cy="594360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25535" y="5340096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MAIS TAPADOS NESTA SEMANA</a:t>
            </a:r>
          </a:p>
          <a:p>
            <a:pPr algn="l">
              <a:spcBef>
                <a:spcPts val="200"/>
              </a:spcBef>
            </a:pPr>
            <a:r>
              <a:rPr sz="2200" b="1" i="0">
                <a:solidFill>
                  <a:srgbClr val="1546C0"/>
                </a:solidFill>
                <a:latin typeface="Calibri"/>
              </a:rPr>
              <a:t>2022</a:t>
            </a:r>
            <a:r>
              <a:rPr sz="1200" b="0" i="0">
                <a:solidFill>
                  <a:srgbClr val="5B6B82"/>
                </a:solidFill>
                <a:latin typeface="Calibri"/>
              </a:rPr>
              <a:t>   651 buracos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ONDE ESTÃO AS DEMANDAS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Buracos Siga em aberto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40/2026  ·  30/09 a 06/10/2026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10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4754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94360" y="1591056"/>
          <a:ext cx="4572000" cy="40690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pic>
        <p:nvPicPr>
          <p:cNvPr id="18" name="Picture 17" descr="logo_siga.png"/>
          <p:cNvPicPr>
            <a:picLocks noChangeAspect="1"/>
          </p:cNvPicPr>
          <p:nvPr/>
        </p:nvPicPr>
        <p:blipFill>
          <a:blip r:embed="rId6">
            <a:alphaModFix amt="35000"/>
          </a:blip>
          <a:stretch>
            <a:fillRect/>
          </a:stretch>
        </p:blipFill>
        <p:spPr>
          <a:xfrm>
            <a:off x="2331720" y="3271647"/>
            <a:ext cx="1097280" cy="33299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1520" y="5641848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i="0">
                <a:solidFill>
                  <a:srgbClr val="1546C0"/>
                </a:solidFill>
                <a:latin typeface="Calibri"/>
              </a:rPr>
              <a:t>Maior demanda: </a:t>
            </a:r>
            <a:r>
              <a:rPr sz="1250" b="1" i="0">
                <a:solidFill>
                  <a:srgbClr val="16233F"/>
                </a:solidFill>
                <a:latin typeface="Calibri"/>
              </a:rPr>
              <a:t>RPA 3 (Noroeste) · 87 buracos · 24%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0" y="1481328"/>
            <a:ext cx="6202375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0" y="1664208"/>
            <a:ext cx="56537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6233F"/>
                </a:solidFill>
                <a:latin typeface="Calibri"/>
              </a:rPr>
              <a:t>Bairros com mais buracos Siga em aberto</a:t>
            </a:r>
          </a:p>
        </p:txBody>
      </p:sp>
      <p:sp>
        <p:nvSpPr>
          <p:cNvPr id="22" name="Oval 21"/>
          <p:cNvSpPr/>
          <p:nvPr/>
        </p:nvSpPr>
        <p:spPr>
          <a:xfrm>
            <a:off x="5760720" y="2121408"/>
            <a:ext cx="274320" cy="274320"/>
          </a:xfrm>
          <a:prstGeom prst="ellipse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0" y="21214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1214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Imbiribeira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2203704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412480" y="2203704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2855" y="212140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39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10,9%</a:t>
            </a:r>
          </a:p>
        </p:txBody>
      </p:sp>
      <p:sp>
        <p:nvSpPr>
          <p:cNvPr id="28" name="Oval 27"/>
          <p:cNvSpPr/>
          <p:nvPr/>
        </p:nvSpPr>
        <p:spPr>
          <a:xfrm>
            <a:off x="5760720" y="2468880"/>
            <a:ext cx="274320" cy="274320"/>
          </a:xfrm>
          <a:prstGeom prst="ellipse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0" y="2468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468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Alto Jose Bonifacio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0" y="2551176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12480" y="2551176"/>
            <a:ext cx="705189" cy="128016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42855" y="24688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19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5,3%</a:t>
            </a:r>
          </a:p>
        </p:txBody>
      </p:sp>
      <p:sp>
        <p:nvSpPr>
          <p:cNvPr id="34" name="Oval 33"/>
          <p:cNvSpPr/>
          <p:nvPr/>
        </p:nvSpPr>
        <p:spPr>
          <a:xfrm>
            <a:off x="5760720" y="2816352"/>
            <a:ext cx="274320" cy="274320"/>
          </a:xfrm>
          <a:prstGeom prst="ellipse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281635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Vasco da Gama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12480" y="2898648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412480" y="2898648"/>
            <a:ext cx="556728" cy="128016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42855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15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4,2%</a:t>
            </a:r>
          </a:p>
        </p:txBody>
      </p:sp>
      <p:sp>
        <p:nvSpPr>
          <p:cNvPr id="40" name="Oval 39"/>
          <p:cNvSpPr/>
          <p:nvPr/>
        </p:nvSpPr>
        <p:spPr>
          <a:xfrm>
            <a:off x="5760720" y="3163824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60720" y="31638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1638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Campo Grande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12480" y="3246120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412480" y="3246120"/>
            <a:ext cx="556728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42855" y="316382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15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4,2%</a:t>
            </a:r>
          </a:p>
        </p:txBody>
      </p:sp>
      <p:sp>
        <p:nvSpPr>
          <p:cNvPr id="46" name="Oval 45"/>
          <p:cNvSpPr/>
          <p:nvPr/>
        </p:nvSpPr>
        <p:spPr>
          <a:xfrm>
            <a:off x="5760720" y="3511296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0" y="35112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72200" y="351129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Engenho do Meio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12480" y="3593592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412480" y="3593592"/>
            <a:ext cx="519613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42855" y="351129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14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3,9%</a:t>
            </a:r>
          </a:p>
        </p:txBody>
      </p:sp>
      <p:sp>
        <p:nvSpPr>
          <p:cNvPr id="52" name="Oval 51"/>
          <p:cNvSpPr/>
          <p:nvPr/>
        </p:nvSpPr>
        <p:spPr>
          <a:xfrm>
            <a:off x="5760720" y="3858768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60720" y="3858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38587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Curado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412480" y="3941064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412480" y="3941064"/>
            <a:ext cx="482498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042855" y="38587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13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3,6%</a:t>
            </a:r>
          </a:p>
        </p:txBody>
      </p:sp>
      <p:sp>
        <p:nvSpPr>
          <p:cNvPr id="58" name="Oval 57"/>
          <p:cNvSpPr/>
          <p:nvPr/>
        </p:nvSpPr>
        <p:spPr>
          <a:xfrm>
            <a:off x="5760720" y="4206240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60720" y="42062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42062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Boa Viagem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12480" y="4288536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8412480" y="4288536"/>
            <a:ext cx="371152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42855" y="420624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10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2,8%</a:t>
            </a:r>
          </a:p>
        </p:txBody>
      </p:sp>
      <p:sp>
        <p:nvSpPr>
          <p:cNvPr id="64" name="Oval 63"/>
          <p:cNvSpPr/>
          <p:nvPr/>
        </p:nvSpPr>
        <p:spPr>
          <a:xfrm>
            <a:off x="5760720" y="4553712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760720" y="4553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72200" y="45537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Ipsep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12480" y="4636008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8412480" y="4636008"/>
            <a:ext cx="371152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042855" y="455371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10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2,8%</a:t>
            </a:r>
          </a:p>
        </p:txBody>
      </p:sp>
      <p:sp>
        <p:nvSpPr>
          <p:cNvPr id="70" name="Oval 69"/>
          <p:cNvSpPr/>
          <p:nvPr/>
        </p:nvSpPr>
        <p:spPr>
          <a:xfrm>
            <a:off x="5760720" y="4901184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760720" y="49011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72200" y="490118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Afogados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412480" y="4983480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412480" y="4983480"/>
            <a:ext cx="371152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042855" y="490118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10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2,8%</a:t>
            </a:r>
          </a:p>
        </p:txBody>
      </p:sp>
      <p:sp>
        <p:nvSpPr>
          <p:cNvPr id="76" name="Oval 75"/>
          <p:cNvSpPr/>
          <p:nvPr/>
        </p:nvSpPr>
        <p:spPr>
          <a:xfrm>
            <a:off x="5760720" y="5248656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60720" y="52486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10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72200" y="52486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Pina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412480" y="5330952"/>
            <a:ext cx="14474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8412480" y="5330952"/>
            <a:ext cx="334037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042855" y="524865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6233F"/>
                </a:solidFill>
                <a:latin typeface="Calibri"/>
              </a:rPr>
              <a:t>9</a:t>
            </a:r>
            <a:r>
              <a:rPr sz="1200" b="1" i="0">
                <a:solidFill>
                  <a:srgbClr val="1546C0"/>
                </a:solidFill>
                <a:latin typeface="Calibri"/>
              </a:rPr>
              <a:t>  ·  2,5%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760720" y="5705856"/>
            <a:ext cx="565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B6B82"/>
                </a:solidFill>
                <a:latin typeface="Calibri"/>
              </a:rPr>
              <a:t>Os 3 primeiros bairros somam 73 buracos (20%) dos 357 em aberto na cidade · fonte: SIGA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7B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2926080"/>
            <a:ext cx="5943600" cy="5943600"/>
          </a:xfrm>
          <a:prstGeom prst="ellipse">
            <a:avLst/>
          </a:prstGeom>
          <a:solidFill>
            <a:srgbClr val="2F8F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ie 3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ie 4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ie 5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ie 7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ie 8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Pie 9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ie 10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84747" y="2632100"/>
            <a:ext cx="222199" cy="22219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64986" y="2743200"/>
            <a:ext cx="61722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Block Arc 13"/>
          <p:cNvSpPr/>
          <p:nvPr/>
        </p:nvSpPr>
        <p:spPr>
          <a:xfrm>
            <a:off x="5848959" y="3483864"/>
            <a:ext cx="277749" cy="493776"/>
          </a:xfrm>
          <a:prstGeom prst="blockArc">
            <a:avLst>
              <a:gd name="adj1" fmla="val 0"/>
              <a:gd name="adj2" fmla="val 10800000"/>
              <a:gd name="adj3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41605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Operação Tapa-Buraco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47548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D7E7FF"/>
                </a:solidFill>
                <a:latin typeface="Calibri"/>
              </a:rPr>
              <a:t>Semana 40  ·  30/09 a 06/10/2026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5833872"/>
            <a:ext cx="3047924" cy="82296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47923" y="5833872"/>
            <a:ext cx="3047924" cy="82296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5847" y="5833872"/>
            <a:ext cx="3047924" cy="82296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3771" y="5833872"/>
            <a:ext cx="3047924" cy="82296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5916168"/>
            <a:ext cx="12191695" cy="9418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logo_prefei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31" y="6112764"/>
            <a:ext cx="1798820" cy="548640"/>
          </a:xfrm>
          <a:prstGeom prst="rect">
            <a:avLst/>
          </a:prstGeom>
        </p:spPr>
      </p:pic>
      <p:pic>
        <p:nvPicPr>
          <p:cNvPr id="23" name="Picture 22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991" y="6103620"/>
            <a:ext cx="1027291" cy="566928"/>
          </a:xfrm>
          <a:prstGeom prst="rect">
            <a:avLst/>
          </a:prstGeom>
        </p:spPr>
      </p:pic>
      <p:pic>
        <p:nvPicPr>
          <p:cNvPr id="24" name="Picture 23" descr="logo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922" y="6103620"/>
            <a:ext cx="569242" cy="566928"/>
          </a:xfrm>
          <a:prstGeom prst="rect">
            <a:avLst/>
          </a:prstGeom>
        </p:spPr>
      </p:pic>
      <p:pic>
        <p:nvPicPr>
          <p:cNvPr id="25" name="Picture 24" descr="vwaj_se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21847" y="610362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VWAJ</dc:creator>
  <cp:keywords/>
  <dc:description>generated using python-pptx</dc:description>
  <cp:lastModifiedBy>VWAJ</cp:lastModifiedBy>
  <cp:revision>1</cp:revision>
  <dcterms:created xsi:type="dcterms:W3CDTF">2013-01-27T09:14:16Z</dcterms:created>
  <dcterms:modified xsi:type="dcterms:W3CDTF">2013-01-27T09:15:58Z</dcterms:modified>
  <cp:category/>
</cp:coreProperties>
</file>