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Semana 40 por RPA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Buracos tapados</c:v>
                </c:pt>
              </c:strCache>
            </c:strRef>
          </c:tx>
          <c:spPr>
            <a:solidFill>
              <a:srgbClr val="0F2F86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</c:v>
                </c:pt>
                <c:pt idx="1">
                  <c:v>56</c:v>
                </c:pt>
                <c:pt idx="2">
                  <c:v>77</c:v>
                </c:pt>
                <c:pt idx="3">
                  <c:v>89</c:v>
                </c:pt>
                <c:pt idx="4">
                  <c:v>102</c:v>
                </c:pt>
                <c:pt idx="5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Tapados S39</c:v>
                </c:pt>
              </c:strCache>
            </c:strRef>
          </c:tx>
          <c:spPr>
            <a:solidFill>
              <a:srgbClr val="A9B8CC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</c:v>
                </c:pt>
                <c:pt idx="1">
                  <c:v>66</c:v>
                </c:pt>
                <c:pt idx="2">
                  <c:v>39</c:v>
                </c:pt>
                <c:pt idx="3">
                  <c:v>59</c:v>
                </c:pt>
                <c:pt idx="4">
                  <c:v>41</c:v>
                </c:pt>
                <c:pt idx="5">
                  <c:v>82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S29
15/07</c:v>
                </c:pt>
                <c:pt idx="1">
                  <c:v>S30
22/07</c:v>
                </c:pt>
                <c:pt idx="2">
                  <c:v>S31
29/07</c:v>
                </c:pt>
                <c:pt idx="3">
                  <c:v>S32
05/08</c:v>
                </c:pt>
                <c:pt idx="4">
                  <c:v>S33
12/08</c:v>
                </c:pt>
                <c:pt idx="5">
                  <c:v>S34
19/08</c:v>
                </c:pt>
                <c:pt idx="6">
                  <c:v>S35
26/08</c:v>
                </c:pt>
                <c:pt idx="7">
                  <c:v>S36
02/09</c:v>
                </c:pt>
                <c:pt idx="8">
                  <c:v>S37
09/09</c:v>
                </c:pt>
                <c:pt idx="9">
                  <c:v>S38
16/09</c:v>
                </c:pt>
                <c:pt idx="10">
                  <c:v>S39
23/09</c:v>
                </c:pt>
                <c:pt idx="11">
                  <c:v>S40
30/09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366</c:v>
                </c:pt>
                <c:pt idx="1">
                  <c:v>469</c:v>
                </c:pt>
                <c:pt idx="2">
                  <c:v>423</c:v>
                </c:pt>
                <c:pt idx="3">
                  <c:v>513</c:v>
                </c:pt>
                <c:pt idx="4">
                  <c:v>368</c:v>
                </c:pt>
                <c:pt idx="5">
                  <c:v>534</c:v>
                </c:pt>
                <c:pt idx="6">
                  <c:v>522</c:v>
                </c:pt>
                <c:pt idx="7">
                  <c:v>338</c:v>
                </c:pt>
                <c:pt idx="8">
                  <c:v>492</c:v>
                </c:pt>
                <c:pt idx="9">
                  <c:v>390</c:v>
                </c:pt>
                <c:pt idx="10">
                  <c:v>320</c:v>
                </c:pt>
                <c:pt idx="11">
                  <c:v>426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S29
15/07</c:v>
                </c:pt>
                <c:pt idx="1">
                  <c:v>S30
22/07</c:v>
                </c:pt>
                <c:pt idx="2">
                  <c:v>S31
29/07</c:v>
                </c:pt>
                <c:pt idx="3">
                  <c:v>S32
05/08</c:v>
                </c:pt>
                <c:pt idx="4">
                  <c:v>S33
12/08</c:v>
                </c:pt>
                <c:pt idx="5">
                  <c:v>S34
19/08</c:v>
                </c:pt>
                <c:pt idx="6">
                  <c:v>S35
26/08</c:v>
                </c:pt>
                <c:pt idx="7">
                  <c:v>S36
02/09</c:v>
                </c:pt>
                <c:pt idx="8">
                  <c:v>S37
09/09</c:v>
                </c:pt>
                <c:pt idx="9">
                  <c:v>S38
16/09</c:v>
                </c:pt>
                <c:pt idx="10">
                  <c:v>S39
23/09</c:v>
                </c:pt>
                <c:pt idx="11">
                  <c:v>S40
30/09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194</c:v>
                </c:pt>
                <c:pt idx="1">
                  <c:v>191</c:v>
                </c:pt>
                <c:pt idx="2">
                  <c:v>175</c:v>
                </c:pt>
                <c:pt idx="3">
                  <c:v>140</c:v>
                </c:pt>
                <c:pt idx="4">
                  <c:v>166</c:v>
                </c:pt>
                <c:pt idx="5">
                  <c:v>102</c:v>
                </c:pt>
                <c:pt idx="6">
                  <c:v>98</c:v>
                </c:pt>
                <c:pt idx="7">
                  <c:v>170</c:v>
                </c:pt>
                <c:pt idx="8">
                  <c:v>111</c:v>
                </c:pt>
                <c:pt idx="9">
                  <c:v>162</c:v>
                </c:pt>
                <c:pt idx="10">
                  <c:v>160</c:v>
                </c:pt>
                <c:pt idx="11">
                  <c:v>171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S29</c:v>
                </c:pt>
                <c:pt idx="1">
                  <c:v>S30</c:v>
                </c:pt>
                <c:pt idx="2">
                  <c:v>S31</c:v>
                </c:pt>
                <c:pt idx="3">
                  <c:v>S32</c:v>
                </c:pt>
                <c:pt idx="4">
                  <c:v>S33</c:v>
                </c:pt>
                <c:pt idx="5">
                  <c:v>S34</c:v>
                </c:pt>
                <c:pt idx="6">
                  <c:v>S35</c:v>
                </c:pt>
                <c:pt idx="7">
                  <c:v>S36</c:v>
                </c:pt>
                <c:pt idx="8">
                  <c:v>S37</c:v>
                </c:pt>
                <c:pt idx="9">
                  <c:v>S38</c:v>
                </c:pt>
                <c:pt idx="10">
                  <c:v>S39</c:v>
                </c:pt>
                <c:pt idx="11">
                  <c:v>S40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70.75</c:v>
                </c:pt>
                <c:pt idx="1">
                  <c:v>82.12</c:v>
                </c:pt>
                <c:pt idx="2">
                  <c:v>85.28</c:v>
                </c:pt>
                <c:pt idx="3">
                  <c:v>23.11</c:v>
                </c:pt>
                <c:pt idx="4">
                  <c:v>56.72</c:v>
                </c:pt>
                <c:pt idx="5">
                  <c:v>15.59</c:v>
                </c:pt>
                <c:pt idx="6">
                  <c:v>32.74</c:v>
                </c:pt>
                <c:pt idx="7">
                  <c:v>37.84</c:v>
                </c:pt>
                <c:pt idx="8">
                  <c:v>18.55</c:v>
                </c:pt>
                <c:pt idx="9">
                  <c:v>12.46</c:v>
                </c:pt>
                <c:pt idx="10">
                  <c:v>18.36</c:v>
                </c:pt>
                <c:pt idx="11">
                  <c:v>21.91</c:v>
                </c:pt>
              </c:numCache>
            </c:numRef>
          </c:val>
        </c:ser>
        <c:dLbls>
          <c:numFmt formatCode="0;;&quot;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40,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19853</c:v>
                </c:pt>
                <c:pt idx="1">
                  <c:v>16084</c:v>
                </c:pt>
                <c:pt idx="2">
                  <c:v>16705</c:v>
                </c:pt>
                <c:pt idx="3">
                  <c:v>17248</c:v>
                </c:pt>
                <c:pt idx="4">
                  <c:v>15879</c:v>
                </c:pt>
                <c:pt idx="5">
                  <c:v>15803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Sheet1!$A$2:$A$41</c:f>
              <c:strCache>
                <c:ptCount val="4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  <c:pt idx="39">
                  <c:v>426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  <c:pt idx="39">
                  <c:v>452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5"/>
            <c:spPr>
              <a:solidFill>
                <a:srgbClr val="0F2F86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272</c:v>
                </c:pt>
                <c:pt idx="1">
                  <c:v>651</c:v>
                </c:pt>
                <c:pt idx="2">
                  <c:v>464</c:v>
                </c:pt>
                <c:pt idx="3">
                  <c:v>399</c:v>
                </c:pt>
                <c:pt idx="4">
                  <c:v>452</c:v>
                </c:pt>
                <c:pt idx="5">
                  <c:v>426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3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171</c:v>
                </c:pt>
                <c:pt idx="1">
                  <c:v>171</c:v>
                </c:pt>
                <c:pt idx="2">
                  <c:v>171</c:v>
                </c:pt>
                <c:pt idx="3">
                  <c:v>171</c:v>
                </c:pt>
                <c:pt idx="4">
                  <c:v>171</c:v>
                </c:pt>
                <c:pt idx="5">
                  <c:v>171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na semana 40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4.92</c:v>
                </c:pt>
                <c:pt idx="1">
                  <c:v>7.69</c:v>
                </c:pt>
                <c:pt idx="2">
                  <c:v>1.19</c:v>
                </c:pt>
                <c:pt idx="3">
                  <c:v>5.74</c:v>
                </c:pt>
                <c:pt idx="4">
                  <c:v>39.18</c:v>
                </c:pt>
                <c:pt idx="5">
                  <c:v>21.91</c:v>
                </c:pt>
              </c:numCache>
            </c:numRef>
          </c:val>
        </c:ser>
        <c:dLbls>
          <c:numFmt formatCode="0;;&quot;0&quot;" sourceLinked="0"/>
          <c:txPr>
            <a:bodyPr/>
            <a:lstStyle/>
            <a:p>
              <a:pPr>
                <a:defRPr sz="11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811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Demandas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0.053370786516853924</c:v>
                </c:pt>
                <c:pt idx="1">
                  <c:v>0.14606741573033707</c:v>
                </c:pt>
                <c:pt idx="2">
                  <c:v>0.24157303370786518</c:v>
                </c:pt>
                <c:pt idx="3">
                  <c:v>0.12921348314606743</c:v>
                </c:pt>
                <c:pt idx="4">
                  <c:v>0.19382022471910113</c:v>
                </c:pt>
                <c:pt idx="5">
                  <c:v>0.23595505617977527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S33</c:v>
                </c:pt>
                <c:pt idx="1">
                  <c:v>S34</c:v>
                </c:pt>
                <c:pt idx="2">
                  <c:v>S35</c:v>
                </c:pt>
                <c:pt idx="3">
                  <c:v>S36</c:v>
                </c:pt>
                <c:pt idx="4">
                  <c:v>S37</c:v>
                </c:pt>
                <c:pt idx="5">
                  <c:v>S38</c:v>
                </c:pt>
                <c:pt idx="6">
                  <c:v>S39</c:v>
                </c:pt>
                <c:pt idx="7">
                  <c:v>S40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7.78</c:v>
                </c:pt>
                <c:pt idx="1">
                  <c:v>8.9</c:v>
                </c:pt>
                <c:pt idx="2">
                  <c:v>9.0</c:v>
                </c:pt>
                <c:pt idx="3">
                  <c:v>8.03</c:v>
                </c:pt>
                <c:pt idx="4">
                  <c:v>9.56</c:v>
                </c:pt>
                <c:pt idx="5">
                  <c:v>8.43</c:v>
                </c:pt>
                <c:pt idx="6">
                  <c:v>6.43</c:v>
                </c:pt>
                <c:pt idx="7">
                  <c:v>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S33</c:v>
                </c:pt>
                <c:pt idx="1">
                  <c:v>S34</c:v>
                </c:pt>
                <c:pt idx="2">
                  <c:v>S35</c:v>
                </c:pt>
                <c:pt idx="3">
                  <c:v>S36</c:v>
                </c:pt>
                <c:pt idx="4">
                  <c:v>S37</c:v>
                </c:pt>
                <c:pt idx="5">
                  <c:v>S38</c:v>
                </c:pt>
                <c:pt idx="6">
                  <c:v>S39</c:v>
                </c:pt>
                <c:pt idx="7">
                  <c:v>S40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8.14</c:v>
                </c:pt>
                <c:pt idx="1">
                  <c:v>7.0</c:v>
                </c:pt>
                <c:pt idx="2">
                  <c:v>7.71</c:v>
                </c:pt>
                <c:pt idx="3">
                  <c:v>9.89</c:v>
                </c:pt>
                <c:pt idx="4">
                  <c:v>7.36</c:v>
                </c:pt>
                <c:pt idx="5">
                  <c:v>8.67</c:v>
                </c:pt>
                <c:pt idx="6">
                  <c:v>8.2</c:v>
                </c:pt>
                <c:pt idx="7">
                  <c:v>7.22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40 (30/09 a 06/10/2026).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40: 426 buracos tapados e saldo de 171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por RPA (planilha de frentes de serviço) e saldo a tapar por RPA (Números Emlurb), semana atual 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semana 40 em cada ano: tapados e saldo (Números Emlurb) e a chuva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8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9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30/09 a 06/10/2026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24/10/2026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426 buracos tapados na semana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426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7CF0B0"/>
                </a:solidFill>
                <a:latin typeface="Calibri"/>
              </a:rPr>
              <a:t>▲ 33%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39 (320)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395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8% acima da média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171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▲ 7%</a:t>
            </a:r>
            <a:r>
              <a:rPr sz="1050" b="0" i="0">
                <a:solidFill>
                  <a:srgbClr val="E5383B"/>
                </a:solidFill>
                <a:latin typeface="Calibri"/>
              </a:rPr>
              <a:t>  vs semana 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71%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7840" y="4334256"/>
            <a:ext cx="1924834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22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▲ 87%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2.100 mm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15.803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40 semanas · média de 395 por semana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POR RPA · SEMANA 40 × SEMANA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5 (Sudoeste) tapou mais: 102 buracos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5212080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1143000"/>
                <a:gridCol w="868680"/>
                <a:gridCol w="8686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Empresa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S40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S39</a:t>
                      </a:r>
                    </a:p>
                  </a:txBody>
                  <a:tcPr anchor="ctr" marL="54864" marR="54864" marT="18288" marB="18288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 tapados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Centro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12%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15%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97%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Oeste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51%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Sudoeste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149%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Sul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21%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426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▲ 33%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943600" y="1481328"/>
            <a:ext cx="574517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035040" y="1572768"/>
          <a:ext cx="5562295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395 buracos tapados (semanas 01 a 40)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 ANO ATÉ AQUI · ATÉ A SEMANA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15.803 buracos tapados em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15.803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0%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(15.879)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40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SEMANA 40 AO LONGO DOS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426 tapados — 5% abaixo da média desta semana em 2021–2025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761969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7345375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818888"/>
          <a:ext cx="7345375" cy="121615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51215" y="1481328"/>
            <a:ext cx="3337560" cy="21488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ie 26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05570" y="2132563"/>
            <a:ext cx="69128" cy="691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5535" y="1709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20E"/>
                </a:solidFill>
                <a:latin typeface="Calibri"/>
              </a:rPr>
              <a:t>TAPADOS · SEMANA 40/2026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5535" y="193852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426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5535" y="285292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FD7FB"/>
                </a:solidFill>
                <a:latin typeface="Calibri"/>
              </a:rPr>
              <a:t>Média da semana em anos anteriores: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448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25535" y="3172968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5535" y="31729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B3B3"/>
                </a:solidFill>
                <a:latin typeface="Calibri"/>
              </a:rPr>
              <a:t>▼ 5%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média dos anos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51215" y="3813048"/>
            <a:ext cx="3337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51215" y="3995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25535" y="3977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5535" y="422452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68535" y="43799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8535" y="437997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5B6B82"/>
                </a:solidFill>
                <a:latin typeface="Calibri"/>
              </a:rPr>
              <a:t>● 0%</a:t>
            </a:r>
            <a:r>
              <a:rPr sz="900" b="0" i="0">
                <a:solidFill>
                  <a:srgbClr val="5B6B82"/>
                </a:solidFill>
                <a:latin typeface="Calibri"/>
              </a:rPr>
              <a:t>  vs média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5535" y="477316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média dos anos anteriores: 171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1215" y="5230368"/>
            <a:ext cx="33375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51215" y="5367528"/>
            <a:ext cx="73152" cy="594360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5535" y="5340096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MAIS TAPADOS NESTA SEMANA</a:t>
            </a:r>
          </a:p>
          <a:p>
            <a:pPr algn="l">
              <a:spcBef>
                <a:spcPts val="200"/>
              </a:spcBef>
            </a:pPr>
            <a:r>
              <a:rPr sz="2200" b="1" i="0">
                <a:solidFill>
                  <a:srgbClr val="1546C0"/>
                </a:solidFill>
                <a:latin typeface="Calibri"/>
              </a:rPr>
              <a:t>2022</a:t>
            </a:r>
            <a:r>
              <a:rPr sz="1200" b="0" i="0">
                <a:solidFill>
                  <a:srgbClr val="5B6B82"/>
                </a:solidFill>
                <a:latin typeface="Calibri"/>
              </a:rPr>
              <a:t>   651 buracos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3 (Noroeste) concentra 24% das demandas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618488"/>
          <a:ext cx="4572000" cy="4343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maior participação nas demandas em aberto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21214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11,0%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Alto Jose Bonifacio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55117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2551176"/>
            <a:ext cx="1061571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8655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5,3%</a:t>
            </a:r>
          </a:p>
        </p:txBody>
      </p:sp>
      <p:sp>
        <p:nvSpPr>
          <p:cNvPr id="32" name="Oval 31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Vasco da Gama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89864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0" y="2898648"/>
            <a:ext cx="838082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655" y="28163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Campo Grande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24612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3246120"/>
            <a:ext cx="838082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28655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44" name="Oval 43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Engenho do Meio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59359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0" y="3593592"/>
            <a:ext cx="782210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8655" y="3511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3,9%</a:t>
            </a:r>
          </a:p>
        </p:txBody>
      </p:sp>
      <p:sp>
        <p:nvSpPr>
          <p:cNvPr id="50" name="Oval 49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Curado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94106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0" y="3941064"/>
            <a:ext cx="72633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8655" y="38587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3,7%</a:t>
            </a:r>
          </a:p>
        </p:txBody>
      </p:sp>
      <p:sp>
        <p:nvSpPr>
          <p:cNvPr id="56" name="Oval 55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428853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0" y="4288536"/>
            <a:ext cx="558721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8655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2,8%</a:t>
            </a:r>
          </a:p>
        </p:txBody>
      </p:sp>
      <p:sp>
        <p:nvSpPr>
          <p:cNvPr id="62" name="Oval 61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Ipsep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463600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12480" y="4636008"/>
            <a:ext cx="558721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28655" y="4553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2,8%</a:t>
            </a:r>
          </a:p>
        </p:txBody>
      </p:sp>
      <p:sp>
        <p:nvSpPr>
          <p:cNvPr id="68" name="Oval 67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Afogados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498348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4983480"/>
            <a:ext cx="558721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8655" y="4901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2,8%</a:t>
            </a:r>
          </a:p>
        </p:txBody>
      </p:sp>
      <p:sp>
        <p:nvSpPr>
          <p:cNvPr id="74" name="Oval 73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Pina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533095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12480" y="5330952"/>
            <a:ext cx="502849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8655" y="5248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2,5%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21% das demandas em aberto da cidade.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426 buracos tapados pelas frentes  ·  AGC 361  ·  LIDERMAC 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6 de 7 dias com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361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52%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34%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 · 1 dia(s) útil(eis) sem nenhuma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65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21%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7,2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12%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12%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(33)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7,4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+12%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15%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(66)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77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97%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(39)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7,7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+18%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89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51%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(59)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14,8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+126%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27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102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149%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(41)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8,5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+24%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65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21%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(82)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-12%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8,3 buracos por frente — 23% acima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40/2026  ·  30/09 a 06/10/2026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9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30/09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01/10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02/10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03/10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04/10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05/10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06/10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12%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15%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97%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51%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14,8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30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149%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21%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426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33%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8,3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40  ·  30/09 a 06/10/2026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