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11"/>
            <c:spPr>
              <a:solidFill>
                <a:srgbClr val="0F2F86"/>
              </a:solidFill>
            </c:spPr>
          </c:dPt>
          <c:cat>
            <c:strRef>
              <c:f>Sheet1!$A$2:$A$13</c:f>
              <c:strCache>
                <c:ptCount val="12"/>
                <c:pt idx="0">
                  <c:v>S29
15/07</c:v>
                </c:pt>
                <c:pt idx="1">
                  <c:v>S30
22/07</c:v>
                </c:pt>
                <c:pt idx="2">
                  <c:v>S31
29/07</c:v>
                </c:pt>
                <c:pt idx="3">
                  <c:v>S32
05/08</c:v>
                </c:pt>
                <c:pt idx="4">
                  <c:v>S33
12/08</c:v>
                </c:pt>
                <c:pt idx="5">
                  <c:v>S34
19/08</c:v>
                </c:pt>
                <c:pt idx="6">
                  <c:v>S35
26/08</c:v>
                </c:pt>
                <c:pt idx="7">
                  <c:v>S36
02/09</c:v>
                </c:pt>
                <c:pt idx="8">
                  <c:v>S37
09/09</c:v>
                </c:pt>
                <c:pt idx="9">
                  <c:v>S38
16/09</c:v>
                </c:pt>
                <c:pt idx="10">
                  <c:v>S39
23/09</c:v>
                </c:pt>
                <c:pt idx="11">
                  <c:v>S40
30/09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366</c:v>
                </c:pt>
                <c:pt idx="1">
                  <c:v>469</c:v>
                </c:pt>
                <c:pt idx="2">
                  <c:v>423</c:v>
                </c:pt>
                <c:pt idx="3">
                  <c:v>513</c:v>
                </c:pt>
                <c:pt idx="4">
                  <c:v>368</c:v>
                </c:pt>
                <c:pt idx="5">
                  <c:v>534</c:v>
                </c:pt>
                <c:pt idx="6">
                  <c:v>522</c:v>
                </c:pt>
                <c:pt idx="7">
                  <c:v>338</c:v>
                </c:pt>
                <c:pt idx="8">
                  <c:v>492</c:v>
                </c:pt>
                <c:pt idx="9">
                  <c:v>390</c:v>
                </c:pt>
                <c:pt idx="10">
                  <c:v>320</c:v>
                </c:pt>
                <c:pt idx="11">
                  <c:v>426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2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S29
15/07</c:v>
                </c:pt>
                <c:pt idx="1">
                  <c:v>S30
22/07</c:v>
                </c:pt>
                <c:pt idx="2">
                  <c:v>S31
29/07</c:v>
                </c:pt>
                <c:pt idx="3">
                  <c:v>S32
05/08</c:v>
                </c:pt>
                <c:pt idx="4">
                  <c:v>S33
12/08</c:v>
                </c:pt>
                <c:pt idx="5">
                  <c:v>S34
19/08</c:v>
                </c:pt>
                <c:pt idx="6">
                  <c:v>S35
26/08</c:v>
                </c:pt>
                <c:pt idx="7">
                  <c:v>S36
02/09</c:v>
                </c:pt>
                <c:pt idx="8">
                  <c:v>S37
09/09</c:v>
                </c:pt>
                <c:pt idx="9">
                  <c:v>S38
16/09</c:v>
                </c:pt>
                <c:pt idx="10">
                  <c:v>S39
23/09</c:v>
                </c:pt>
                <c:pt idx="11">
                  <c:v>S40
30/09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194</c:v>
                </c:pt>
                <c:pt idx="1">
                  <c:v>191</c:v>
                </c:pt>
                <c:pt idx="2">
                  <c:v>175</c:v>
                </c:pt>
                <c:pt idx="3">
                  <c:v>140</c:v>
                </c:pt>
                <c:pt idx="4">
                  <c:v>166</c:v>
                </c:pt>
                <c:pt idx="5">
                  <c:v>102</c:v>
                </c:pt>
                <c:pt idx="6">
                  <c:v>98</c:v>
                </c:pt>
                <c:pt idx="7">
                  <c:v>170</c:v>
                </c:pt>
                <c:pt idx="8">
                  <c:v>111</c:v>
                </c:pt>
                <c:pt idx="9">
                  <c:v>162</c:v>
                </c:pt>
                <c:pt idx="10">
                  <c:v>160</c:v>
                </c:pt>
                <c:pt idx="11">
                  <c:v>171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por semana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Sheet1!$A$2:$A$13</c:f>
              <c:strCache>
                <c:ptCount val="12"/>
                <c:pt idx="0">
                  <c:v>S29</c:v>
                </c:pt>
                <c:pt idx="1">
                  <c:v>S30</c:v>
                </c:pt>
                <c:pt idx="2">
                  <c:v>S31</c:v>
                </c:pt>
                <c:pt idx="3">
                  <c:v>S32</c:v>
                </c:pt>
                <c:pt idx="4">
                  <c:v>S33</c:v>
                </c:pt>
                <c:pt idx="5">
                  <c:v>S34</c:v>
                </c:pt>
                <c:pt idx="6">
                  <c:v>S35</c:v>
                </c:pt>
                <c:pt idx="7">
                  <c:v>S36</c:v>
                </c:pt>
                <c:pt idx="8">
                  <c:v>S37</c:v>
                </c:pt>
                <c:pt idx="9">
                  <c:v>S38</c:v>
                </c:pt>
                <c:pt idx="10">
                  <c:v>S39</c:v>
                </c:pt>
                <c:pt idx="11">
                  <c:v>S40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70.75</c:v>
                </c:pt>
                <c:pt idx="1">
                  <c:v>82.12</c:v>
                </c:pt>
                <c:pt idx="2">
                  <c:v>85.28</c:v>
                </c:pt>
                <c:pt idx="3">
                  <c:v>23.11</c:v>
                </c:pt>
                <c:pt idx="4">
                  <c:v>56.72</c:v>
                </c:pt>
                <c:pt idx="5">
                  <c:v>15.59</c:v>
                </c:pt>
                <c:pt idx="6">
                  <c:v>32.74</c:v>
                </c:pt>
                <c:pt idx="7">
                  <c:v>37.84</c:v>
                </c:pt>
                <c:pt idx="8">
                  <c:v>18.55</c:v>
                </c:pt>
                <c:pt idx="9">
                  <c:v>12.46</c:v>
                </c:pt>
                <c:pt idx="10">
                  <c:v>18.36</c:v>
                </c:pt>
                <c:pt idx="11">
                  <c:v>21.91</c:v>
                </c:pt>
              </c:numCache>
            </c:numRef>
          </c:val>
        </c:ser>
        <c:dLbls>
          <c:numFmt formatCode="0;;&quot;0&quot;" sourceLinked="0"/>
          <c:txPr>
            <a:bodyPr/>
            <a:lstStyle/>
            <a:p>
              <a:pPr>
                <a:defRPr sz="10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12800000000001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16233F"/>
                </a:solidFill>
              </a:rPr>
              <a:t>Tapados até a semana 40, ano a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 até a semana</c:v>
                </c:pt>
              </c:strCache>
            </c:strRef>
          </c:tx>
          <c:spPr>
            <a:solidFill>
              <a:srgbClr val="9CC6F7"/>
            </a:solidFill>
          </c:spPr>
          <c:dPt>
            <c:idx val="5"/>
            <c:spPr>
              <a:solidFill>
                <a:srgbClr val="0A7BEA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19853</c:v>
                </c:pt>
                <c:pt idx="1">
                  <c:v>16084</c:v>
                </c:pt>
                <c:pt idx="2">
                  <c:v>16705</c:v>
                </c:pt>
                <c:pt idx="3">
                  <c:v>17248</c:v>
                </c:pt>
                <c:pt idx="4">
                  <c:v>15879</c:v>
                </c:pt>
                <c:pt idx="5">
                  <c:v>15803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34925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Sheet1!$A$2:$A$41</c:f>
              <c:strCache>
                <c:ptCount val="4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184</c:v>
                </c:pt>
                <c:pt idx="1">
                  <c:v>347</c:v>
                </c:pt>
                <c:pt idx="2">
                  <c:v>385</c:v>
                </c:pt>
                <c:pt idx="3">
                  <c:v>389</c:v>
                </c:pt>
                <c:pt idx="4">
                  <c:v>382</c:v>
                </c:pt>
                <c:pt idx="5">
                  <c:v>308</c:v>
                </c:pt>
                <c:pt idx="6">
                  <c:v>139</c:v>
                </c:pt>
                <c:pt idx="7">
                  <c:v>347</c:v>
                </c:pt>
                <c:pt idx="8">
                  <c:v>402</c:v>
                </c:pt>
                <c:pt idx="9">
                  <c:v>269</c:v>
                </c:pt>
                <c:pt idx="10">
                  <c:v>398</c:v>
                </c:pt>
                <c:pt idx="11">
                  <c:v>347</c:v>
                </c:pt>
                <c:pt idx="12">
                  <c:v>257</c:v>
                </c:pt>
                <c:pt idx="13">
                  <c:v>96</c:v>
                </c:pt>
                <c:pt idx="14">
                  <c:v>365</c:v>
                </c:pt>
                <c:pt idx="15">
                  <c:v>393</c:v>
                </c:pt>
                <c:pt idx="16">
                  <c:v>447</c:v>
                </c:pt>
                <c:pt idx="17">
                  <c:v>195</c:v>
                </c:pt>
                <c:pt idx="18">
                  <c:v>284</c:v>
                </c:pt>
                <c:pt idx="19">
                  <c:v>484</c:v>
                </c:pt>
                <c:pt idx="20">
                  <c:v>471</c:v>
                </c:pt>
                <c:pt idx="21">
                  <c:v>474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366</c:v>
                </c:pt>
                <c:pt idx="29">
                  <c:v>469</c:v>
                </c:pt>
                <c:pt idx="30">
                  <c:v>423</c:v>
                </c:pt>
                <c:pt idx="31">
                  <c:v>513</c:v>
                </c:pt>
                <c:pt idx="32">
                  <c:v>368</c:v>
                </c:pt>
                <c:pt idx="33">
                  <c:v>534</c:v>
                </c:pt>
                <c:pt idx="34">
                  <c:v>522</c:v>
                </c:pt>
                <c:pt idx="35">
                  <c:v>338</c:v>
                </c:pt>
                <c:pt idx="36">
                  <c:v>492</c:v>
                </c:pt>
                <c:pt idx="37">
                  <c:v>390</c:v>
                </c:pt>
                <c:pt idx="38">
                  <c:v>320</c:v>
                </c:pt>
                <c:pt idx="39">
                  <c:v>426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2225">
              <a:solidFill>
                <a:srgbClr val="A9B8CC"/>
              </a:solidFill>
            </a:ln>
          </c:spPr>
          <c:marker>
            <c:symbol val="none"/>
          </c:marker>
          <c:cat>
            <c:strRef>
              <c:f>Sheet1!$A$2:$A$41</c:f>
              <c:strCache>
                <c:ptCount val="4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strCache>
            </c:str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232</c:v>
                </c:pt>
                <c:pt idx="1">
                  <c:v>180</c:v>
                </c:pt>
                <c:pt idx="2">
                  <c:v>267</c:v>
                </c:pt>
                <c:pt idx="3">
                  <c:v>236</c:v>
                </c:pt>
                <c:pt idx="4">
                  <c:v>202</c:v>
                </c:pt>
                <c:pt idx="5">
                  <c:v>285</c:v>
                </c:pt>
                <c:pt idx="6">
                  <c:v>339</c:v>
                </c:pt>
                <c:pt idx="7">
                  <c:v>382</c:v>
                </c:pt>
                <c:pt idx="8">
                  <c:v>564</c:v>
                </c:pt>
                <c:pt idx="10">
                  <c:v>326</c:v>
                </c:pt>
                <c:pt idx="11">
                  <c:v>325</c:v>
                </c:pt>
                <c:pt idx="12">
                  <c:v>284</c:v>
                </c:pt>
                <c:pt idx="13">
                  <c:v>321</c:v>
                </c:pt>
                <c:pt idx="14">
                  <c:v>285</c:v>
                </c:pt>
                <c:pt idx="15">
                  <c:v>393</c:v>
                </c:pt>
                <c:pt idx="16">
                  <c:v>243</c:v>
                </c:pt>
                <c:pt idx="17">
                  <c:v>301</c:v>
                </c:pt>
                <c:pt idx="18">
                  <c:v>284</c:v>
                </c:pt>
                <c:pt idx="19">
                  <c:v>115</c:v>
                </c:pt>
                <c:pt idx="20">
                  <c:v>471</c:v>
                </c:pt>
                <c:pt idx="21">
                  <c:v>487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527</c:v>
                </c:pt>
                <c:pt idx="29">
                  <c:v>469</c:v>
                </c:pt>
                <c:pt idx="30">
                  <c:v>423</c:v>
                </c:pt>
                <c:pt idx="31">
                  <c:v>522</c:v>
                </c:pt>
                <c:pt idx="32">
                  <c:v>397</c:v>
                </c:pt>
                <c:pt idx="33">
                  <c:v>534</c:v>
                </c:pt>
                <c:pt idx="34">
                  <c:v>552</c:v>
                </c:pt>
                <c:pt idx="35">
                  <c:v>456</c:v>
                </c:pt>
                <c:pt idx="36">
                  <c:v>670</c:v>
                </c:pt>
                <c:pt idx="37">
                  <c:v>528</c:v>
                </c:pt>
                <c:pt idx="38">
                  <c:v>548</c:v>
                </c:pt>
                <c:pt idx="39">
                  <c:v>452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span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Demandas em aberto por RPA</a:t>
            </a:r>
          </a:p>
        </c:rich>
      </c:tx>
      <c:layout/>
      <c:overlay val="0"/>
    </c:title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dPt>
            <c:idx val="0"/>
            <c:spPr>
              <a:solidFill>
                <a:srgbClr val="0A7BEA"/>
              </a:solidFill>
            </c:spPr>
          </c:dPt>
          <c:dPt>
            <c:idx val="1"/>
            <c:spPr>
              <a:solidFill>
                <a:srgbClr val="12A4B6"/>
              </a:solidFill>
            </c:spPr>
          </c:dPt>
          <c:dPt>
            <c:idx val="2"/>
            <c:spPr>
              <a:solidFill>
                <a:srgbClr val="17A35B"/>
              </a:solidFill>
            </c:spPr>
          </c:dPt>
          <c:dPt>
            <c:idx val="3"/>
            <c:spPr>
              <a:solidFill>
                <a:srgbClr val="F2A900"/>
              </a:solidFill>
            </c:spPr>
          </c:dPt>
          <c:dPt>
            <c:idx val="4"/>
            <c:spPr>
              <a:solidFill>
                <a:srgbClr val="E5383B"/>
              </a:solidFill>
            </c:spPr>
          </c:dPt>
          <c:dPt>
            <c:idx val="5"/>
            <c:spPr>
              <a:solidFill>
                <a:srgbClr val="7B4FD6"/>
              </a:solidFill>
            </c:spPr>
          </c:dPt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0.05322128851540616</c:v>
                </c:pt>
                <c:pt idx="1">
                  <c:v>0.14565826330532214</c:v>
                </c:pt>
                <c:pt idx="2">
                  <c:v>0.24369747899159663</c:v>
                </c:pt>
                <c:pt idx="3">
                  <c:v>0.12885154061624648</c:v>
                </c:pt>
                <c:pt idx="4">
                  <c:v>0.19327731092436978</c:v>
                </c:pt>
                <c:pt idx="5">
                  <c:v>0.2352941176470588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6233F"/>
                </a:solidFill>
              </a:rPr>
              <a:t>Buracos por frente — últimas 8 semanas</a:t>
            </a: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</c:v>
                </c:pt>
              </c:strCache>
            </c:strRef>
          </c:tx>
          <c:spPr>
            <a:ln w="31750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S33</c:v>
                </c:pt>
                <c:pt idx="1">
                  <c:v>S34</c:v>
                </c:pt>
                <c:pt idx="2">
                  <c:v>S35</c:v>
                </c:pt>
                <c:pt idx="3">
                  <c:v>S36</c:v>
                </c:pt>
                <c:pt idx="4">
                  <c:v>S37</c:v>
                </c:pt>
                <c:pt idx="5">
                  <c:v>S38</c:v>
                </c:pt>
                <c:pt idx="6">
                  <c:v>S39</c:v>
                </c:pt>
                <c:pt idx="7">
                  <c:v>S40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7.78</c:v>
                </c:pt>
                <c:pt idx="1">
                  <c:v>8.9</c:v>
                </c:pt>
                <c:pt idx="2">
                  <c:v>9.0</c:v>
                </c:pt>
                <c:pt idx="3">
                  <c:v>8.03</c:v>
                </c:pt>
                <c:pt idx="4">
                  <c:v>9.56</c:v>
                </c:pt>
                <c:pt idx="5">
                  <c:v>8.43</c:v>
                </c:pt>
                <c:pt idx="6">
                  <c:v>6.43</c:v>
                </c:pt>
                <c:pt idx="7">
                  <c:v>8.6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LIDERMAC</c:v>
                </c:pt>
              </c:strCache>
            </c:strRef>
          </c:tx>
          <c:spPr>
            <a:ln w="31750">
              <a:solidFill>
                <a:srgbClr val="7B4FD6"/>
              </a:solidFill>
            </a:ln>
          </c:spPr>
          <c:marker>
            <c:symbol val="circle"/>
            <c:size val="6"/>
            <c:spPr>
              <a:solidFill>
                <a:srgbClr val="7B4F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S33</c:v>
                </c:pt>
                <c:pt idx="1">
                  <c:v>S34</c:v>
                </c:pt>
                <c:pt idx="2">
                  <c:v>S35</c:v>
                </c:pt>
                <c:pt idx="3">
                  <c:v>S36</c:v>
                </c:pt>
                <c:pt idx="4">
                  <c:v>S37</c:v>
                </c:pt>
                <c:pt idx="5">
                  <c:v>S38</c:v>
                </c:pt>
                <c:pt idx="6">
                  <c:v>S39</c:v>
                </c:pt>
                <c:pt idx="7">
                  <c:v>S40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8.14</c:v>
                </c:pt>
                <c:pt idx="1">
                  <c:v>7.0</c:v>
                </c:pt>
                <c:pt idx="2">
                  <c:v>7.71</c:v>
                </c:pt>
                <c:pt idx="3">
                  <c:v>9.89</c:v>
                </c:pt>
                <c:pt idx="4">
                  <c:v>7.36</c:v>
                </c:pt>
                <c:pt idx="5">
                  <c:v>8.67</c:v>
                </c:pt>
                <c:pt idx="6">
                  <c:v>8.2</c:v>
                </c:pt>
                <c:pt idx="7">
                  <c:v>7.22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.0"/>
          <c:min val="4.0"/>
        </c:scaling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Operação Tapa-Buraco — semana Emlurb 40 (30/09 a 06/10/2026).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40: 426 buracos tapados e saldo de 171 a tapar.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(azul) e saldo a tapar (amarelo) por semana; abaixo, a chuva de cada semana (0 = semana sem chuva).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Acumulado de buracos tapados até esta semana, comparado com o mesmo período dos anos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Participação de cada RPA e bairro nas demandas de buraco em aberto ao fim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Frentes de serviço da semana por empresa e RPA. Quadradinhos = buracos tapados por dia (qua → ter)  ·  0 em laranja = dia útil sem frente  ·  S/D fim de semana  ·  F feriado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Buracos tapados por RPA e dia (número pequeno = frentes no dia). Total da semana × semana anterior e média de buracos por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1.xml"/><Relationship Id="rId6" Type="http://schemas.openxmlformats.org/officeDocument/2006/relationships/chart" Target="../charts/chart2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5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6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463040"/>
            <a:ext cx="6583680" cy="658368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731520"/>
            <a:ext cx="5120640" cy="5120640"/>
          </a:xfrm>
          <a:prstGeom prst="ellipse">
            <a:avLst/>
          </a:prstGeom>
          <a:solidFill>
            <a:srgbClr val="1E6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0597" y="2998317"/>
            <a:ext cx="312724" cy="3127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3526" y="3154680"/>
            <a:ext cx="8686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9619488" y="4197096"/>
            <a:ext cx="390906" cy="694944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398426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20E"/>
                </a:solidFill>
                <a:latin typeface="Calibri"/>
              </a:rPr>
              <a:t>OPERAÇÃO TAPA-BURACO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Semana 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7E7FF"/>
                </a:solidFill>
                <a:latin typeface="Calibri"/>
              </a:rPr>
              <a:t>30/09 a 06/10/2026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D7FB"/>
                </a:solidFill>
                <a:latin typeface="Calibri"/>
              </a:rPr>
              <a:t>Buracos tapados e saldo a tapar  ·  Onde estão as demandas  ·  Frentes de serviço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Relatório semanal  ·  </a:t>
            </a:r>
            <a:r>
              <a:rPr sz="1300" b="1" i="0">
                <a:solidFill>
                  <a:srgbClr val="5B6B82"/>
                </a:solidFill>
                <a:latin typeface="Calibri"/>
              </a:rPr>
              <a:t>29/10/2026</a:t>
            </a:r>
          </a:p>
        </p:txBody>
      </p:sp>
      <p:pic>
        <p:nvPicPr>
          <p:cNvPr id="27" name="Picture 26" descr="logo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533" y="6099048"/>
            <a:ext cx="569242" cy="566928"/>
          </a:xfrm>
          <a:prstGeom prst="rect">
            <a:avLst/>
          </a:prstGeom>
        </p:spPr>
      </p:pic>
      <p:pic>
        <p:nvPicPr>
          <p:cNvPr id="28" name="Picture 27" descr="logo_emlu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202" y="6099048"/>
            <a:ext cx="102729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A SEMANA EM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426 buracos tapados na semana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572000" cy="32461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5296" y="230474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17556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20E"/>
                </a:solidFill>
                <a:latin typeface="Calibri"/>
              </a:rPr>
              <a:t>BURACOS TAPADOS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02996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426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355847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35584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7CF0B0"/>
                </a:solidFill>
                <a:latin typeface="Calibri"/>
              </a:rPr>
              <a:t>▲ 33%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semana 39 (320)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0448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FD7FB"/>
                </a:solidFill>
                <a:latin typeface="Calibri"/>
              </a:rPr>
              <a:t>Média semanal do ano: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395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BFD7FB"/>
                </a:solidFill>
                <a:latin typeface="Calibri"/>
              </a:rPr>
              <a:t>esta semana ficou 8% acima da média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1481328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1709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0299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171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299008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299008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▲ 7%</a:t>
            </a:r>
            <a:r>
              <a:rPr sz="1050" b="0" i="0">
                <a:solidFill>
                  <a:srgbClr val="E5383B"/>
                </a:solidFill>
                <a:latin typeface="Calibri"/>
              </a:rPr>
              <a:t>  vs semana 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538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TAXA DE EXECUÇÃO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76732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546C0"/>
                </a:solidFill>
                <a:latin typeface="Calibri"/>
              </a:rPr>
              <a:t>71%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81304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 ÷ (tapados + saldo)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4334256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577840" y="4334256"/>
            <a:ext cx="1924834" cy="146304"/>
          </a:xfrm>
          <a:prstGeom prst="roundRect">
            <a:avLst>
              <a:gd name="adj" fmla="val 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78240" y="1481328"/>
            <a:ext cx="2910535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1709928"/>
            <a:ext cx="73152" cy="82296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7BEA"/>
                </a:solidFill>
                <a:latin typeface="Calibri"/>
              </a:rPr>
              <a:t>CHUVA NA SEMANA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02996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22</a:t>
            </a:r>
            <a:r>
              <a:rPr sz="2000" b="0" i="0">
                <a:solidFill>
                  <a:srgbClr val="5B6B82"/>
                </a:solidFill>
                <a:latin typeface="Calibri"/>
              </a:rPr>
              <a:t> mm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990088"/>
            <a:ext cx="2361895" cy="329184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2990088"/>
            <a:ext cx="23618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546C0"/>
                </a:solidFill>
                <a:latin typeface="Calibri"/>
              </a:rPr>
              <a:t>▲ 87%</a:t>
            </a:r>
            <a:r>
              <a:rPr sz="1050" b="0" i="0">
                <a:solidFill>
                  <a:srgbClr val="1546C0"/>
                </a:solidFill>
                <a:latin typeface="Calibri"/>
              </a:rPr>
              <a:t>  vs média histórica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35387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ACUMULADO NO ANO</a:t>
            </a:r>
          </a:p>
          <a:p>
            <a:pPr algn="l">
              <a:spcBef>
                <a:spcPts val="200"/>
              </a:spcBef>
            </a:pPr>
            <a:r>
              <a:rPr sz="2600" b="1" i="0">
                <a:solidFill>
                  <a:srgbClr val="1546C0"/>
                </a:solidFill>
                <a:latin typeface="Calibri"/>
              </a:rPr>
              <a:t>2.100 mm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928616"/>
            <a:ext cx="91440" cy="114300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TAPADOS EM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15.803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40 semanas · média de 395 por semana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0147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0147" y="4928616"/>
            <a:ext cx="91440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0187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SALDO MÉDIO DO ANO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0187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1987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não tapados por semana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EVOLUÇÃO · ÚLTIMAS 12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Média semanal do ano: 395 buracos tapados (semanas 01 a 40)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1118585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10911535" cy="3246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773168"/>
          <a:ext cx="10911535" cy="12344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 ANO ATÉ AQUI · ATÉ A SEMANA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15.803 buracos tapados em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3566160" cy="23774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7099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TAPADOS EM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15.803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98648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9864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0%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2025 (15.879)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FD7FB"/>
                </a:solidFill>
                <a:latin typeface="Calibri"/>
              </a:rPr>
              <a:t>mesmo período: semanas 1 a 40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481328"/>
            <a:ext cx="739109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434840" y="1527048"/>
          <a:ext cx="7116775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02920" y="4041648"/>
            <a:ext cx="11185855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40080" y="4087368"/>
          <a:ext cx="10911535" cy="212140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02920" y="6272784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6B82"/>
                </a:solidFill>
                <a:latin typeface="Calibri"/>
              </a:rPr>
              <a:t>Sem Números Emlurb informados na semana 10/2025: a linha liga as semanas vizinhas.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ONDE ESTÃO AS DEMANDAS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3 (Noroeste) concentra 24% das demandas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591056"/>
          <a:ext cx="4572000" cy="4343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0" y="1481328"/>
            <a:ext cx="620237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664208"/>
            <a:ext cx="56537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233F"/>
                </a:solidFill>
                <a:latin typeface="Calibri"/>
              </a:rPr>
              <a:t>Bairros com maior participação nas demandas em aberto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0" y="2121408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121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Imbiribeira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203704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2203704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21214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10,9%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0" y="2468880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68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68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Alto Jose Bonifacio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551176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0" y="2551176"/>
            <a:ext cx="1039297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28655" y="2468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5,3%</a:t>
            </a:r>
          </a:p>
        </p:txBody>
      </p:sp>
      <p:sp>
        <p:nvSpPr>
          <p:cNvPr id="32" name="Oval 31"/>
          <p:cNvSpPr/>
          <p:nvPr/>
        </p:nvSpPr>
        <p:spPr>
          <a:xfrm>
            <a:off x="5760720" y="2816352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816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Vasco da Gama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2898648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0" y="2898648"/>
            <a:ext cx="820498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8655" y="28163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4,2%</a:t>
            </a:r>
          </a:p>
        </p:txBody>
      </p:sp>
      <p:sp>
        <p:nvSpPr>
          <p:cNvPr id="38" name="Oval 37"/>
          <p:cNvSpPr/>
          <p:nvPr/>
        </p:nvSpPr>
        <p:spPr>
          <a:xfrm>
            <a:off x="5760720" y="316382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1638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1638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Campo Grande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3246120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3246120"/>
            <a:ext cx="820498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28655" y="31638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4,2%</a:t>
            </a:r>
          </a:p>
        </p:txBody>
      </p:sp>
      <p:sp>
        <p:nvSpPr>
          <p:cNvPr id="44" name="Oval 43"/>
          <p:cNvSpPr/>
          <p:nvPr/>
        </p:nvSpPr>
        <p:spPr>
          <a:xfrm>
            <a:off x="5760720" y="351129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511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Engenho do Meio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3593592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12480" y="3593592"/>
            <a:ext cx="765798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8655" y="35112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3,9%</a:t>
            </a:r>
          </a:p>
        </p:txBody>
      </p:sp>
      <p:sp>
        <p:nvSpPr>
          <p:cNvPr id="50" name="Oval 49"/>
          <p:cNvSpPr/>
          <p:nvPr/>
        </p:nvSpPr>
        <p:spPr>
          <a:xfrm>
            <a:off x="5760720" y="3858768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3858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Curado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3941064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12480" y="3941064"/>
            <a:ext cx="711098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28655" y="38587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3,6%</a:t>
            </a:r>
          </a:p>
        </p:txBody>
      </p:sp>
      <p:sp>
        <p:nvSpPr>
          <p:cNvPr id="56" name="Oval 55"/>
          <p:cNvSpPr/>
          <p:nvPr/>
        </p:nvSpPr>
        <p:spPr>
          <a:xfrm>
            <a:off x="5760720" y="4206240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Boa Viagem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4288536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0" y="4288536"/>
            <a:ext cx="546998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28655" y="4206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2,8%</a:t>
            </a:r>
          </a:p>
        </p:txBody>
      </p:sp>
      <p:sp>
        <p:nvSpPr>
          <p:cNvPr id="62" name="Oval 61"/>
          <p:cNvSpPr/>
          <p:nvPr/>
        </p:nvSpPr>
        <p:spPr>
          <a:xfrm>
            <a:off x="5760720" y="4553712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0" y="4553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Ipsep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4636008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412480" y="4636008"/>
            <a:ext cx="546998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28655" y="45537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2,8%</a:t>
            </a:r>
          </a:p>
        </p:txBody>
      </p:sp>
      <p:sp>
        <p:nvSpPr>
          <p:cNvPr id="68" name="Oval 67"/>
          <p:cNvSpPr/>
          <p:nvPr/>
        </p:nvSpPr>
        <p:spPr>
          <a:xfrm>
            <a:off x="5760720" y="490118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0" y="4901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4901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Afogados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12480" y="4983480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412480" y="4983480"/>
            <a:ext cx="546998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28655" y="49011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2,8%</a:t>
            </a:r>
          </a:p>
        </p:txBody>
      </p:sp>
      <p:sp>
        <p:nvSpPr>
          <p:cNvPr id="74" name="Oval 73"/>
          <p:cNvSpPr/>
          <p:nvPr/>
        </p:nvSpPr>
        <p:spPr>
          <a:xfrm>
            <a:off x="5760720" y="524865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60720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200" y="52486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Pina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12480" y="5330952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412480" y="5330952"/>
            <a:ext cx="492298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28655" y="52486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2,5%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0" y="5705856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B82"/>
                </a:solidFill>
                <a:latin typeface="Calibri"/>
              </a:rPr>
              <a:t>Os 3 primeiros bairros somam 20% das demandas em aberto da cidade.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AGC E LIDERMAC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426 buracos tapados pelas frentes  ·  AGC 361  ·  LIDERMAC 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ag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24" y="1636776"/>
            <a:ext cx="57927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1, RPA 2, RPA 3, RPA 4, RPA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6 de 7 dias com frente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361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52%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8,6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34%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7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B4FD6"/>
              </a:gs>
              <a:gs pos="100000">
                <a:srgbClr val="4B2A9E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84467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liderm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921" y="1636776"/>
            <a:ext cx="10561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84467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5 de 7 dias com frente · 1 dia(s) útil(eis) sem nenhuma frente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186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186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65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1867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1867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21%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34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634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7,2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96347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6347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12%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2944368"/>
            <a:ext cx="82296" cy="1604772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7BEA"/>
                </a:solidFill>
                <a:latin typeface="Calibri"/>
              </a:rPr>
              <a:t>RPA 1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Centro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62986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986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4520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20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12%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(33)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20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7,4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+12%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92769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2769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92769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540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540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40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152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152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152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765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765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65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377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377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377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990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990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90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8594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8594" y="2944368"/>
            <a:ext cx="82296" cy="1604772"/>
          </a:xfrm>
          <a:prstGeom prst="rect">
            <a:avLst/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7194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8C9C"/>
                </a:solidFill>
                <a:latin typeface="Calibri"/>
              </a:rPr>
              <a:t>RPA 2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658660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8660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7194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56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7194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0194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70194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15%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(66)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70194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6,2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+4%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27194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27194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27194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844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844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8844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4969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4969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4969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1094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1094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1094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7219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7219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7219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83344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3344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3344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9469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9469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9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4268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94268" y="2944368"/>
            <a:ext cx="82296" cy="1604772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22868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A35B"/>
                </a:solidFill>
                <a:latin typeface="Calibri"/>
              </a:rPr>
              <a:t>RPA 3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Noroeste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454335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454335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2868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77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2868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465868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65868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97%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(39)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5868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7,7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+18%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3228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228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28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841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841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841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2453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2453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453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7066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66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066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16786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16786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6786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6291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291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291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090365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090365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90365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02920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02920" y="4686300"/>
            <a:ext cx="82296" cy="160477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1520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A900"/>
                </a:solidFill>
                <a:latin typeface="Calibri"/>
              </a:rPr>
              <a:t>RPA 4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Oeste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862986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62986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1520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89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874520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74520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51%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(59)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74520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14,8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+126%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1520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1520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27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1520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192769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92769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92769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6540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540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540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1152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1152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152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5765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5765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765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0377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377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377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4990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990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990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298594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98594" y="4686300"/>
            <a:ext cx="82296" cy="160477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27194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383B"/>
                </a:solidFill>
                <a:latin typeface="Calibri"/>
              </a:rPr>
              <a:t>RPA 5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Sudoeste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58660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58660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27194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102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27194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670194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70194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149%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(41)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70194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8,5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+24%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527194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27194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27194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98844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8844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8844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44969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44969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4969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91094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91094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91094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37219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7219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7219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83344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3344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83344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729469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9469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29469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094268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094268" y="4686300"/>
            <a:ext cx="82296" cy="1604772"/>
          </a:xfrm>
          <a:prstGeom prst="rect">
            <a:avLst/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322868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B4FD6"/>
                </a:solidFill>
                <a:latin typeface="Calibri"/>
              </a:rPr>
              <a:t>RPA 6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Sul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0454335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454335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LIDERMAC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22868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65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22868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465868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465868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21%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(82)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465868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7,2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-12%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28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3228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3228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7841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7841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7841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2453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2453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2453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7066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7066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7066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16786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16786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16786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6291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6291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6291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1090365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1090365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1090365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02920" y="62544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Quadradinhos = buracos tapados por dia (qua → ter)  ·  0 em laranja = dia útil sem frente  ·  S/D fim de semana  ·  F feriado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DIA A 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8,3 buracos por frente — 23% acima da semana anterior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1118584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70068"/>
                <a:gridCol w="936054"/>
                <a:gridCol w="936054"/>
                <a:gridCol w="936054"/>
                <a:gridCol w="936054"/>
                <a:gridCol w="936054"/>
                <a:gridCol w="936054"/>
                <a:gridCol w="936054"/>
                <a:gridCol w="889252"/>
                <a:gridCol w="889252"/>
                <a:gridCol w="795646"/>
                <a:gridCol w="8892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 30/09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qui 01/10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 02/10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sáb 03/10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sábado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 04/10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domingo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seg 05/10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ter 06/10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da semana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sem. anterior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Média por frente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7BEA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12%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7,4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2A4B6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15%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7A35B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97%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7,7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6,5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2A900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51%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14,8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5383B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30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3,0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3,0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149%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B4FD6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21%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7,2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426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33%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8,3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4956048"/>
            <a:ext cx="1118585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94360" y="5001768"/>
          <a:ext cx="11002975" cy="119786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5943600" cy="594360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4747" y="2632100"/>
            <a:ext cx="222199" cy="2221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4986" y="2743200"/>
            <a:ext cx="6172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848959" y="3483864"/>
            <a:ext cx="277749" cy="493776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Operação Tapa-Buraco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D7E7FF"/>
                </a:solidFill>
                <a:latin typeface="Calibri"/>
              </a:rPr>
              <a:t>Semana 40  ·  30/09 a 06/10/2026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31" y="6112764"/>
            <a:ext cx="1798820" cy="548640"/>
          </a:xfrm>
          <a:prstGeom prst="rect">
            <a:avLst/>
          </a:prstGeom>
        </p:spPr>
      </p:pic>
      <p:pic>
        <p:nvPicPr>
          <p:cNvPr id="23" name="Picture 2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91" y="6103620"/>
            <a:ext cx="1027291" cy="566928"/>
          </a:xfrm>
          <a:prstGeom prst="rect">
            <a:avLst/>
          </a:prstGeom>
        </p:spPr>
      </p:pic>
      <p:pic>
        <p:nvPicPr>
          <p:cNvPr id="24" name="Picture 23" descr="logo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2" y="6103620"/>
            <a:ext cx="569242" cy="566928"/>
          </a:xfrm>
          <a:prstGeom prst="rect">
            <a:avLst/>
          </a:prstGeom>
        </p:spPr>
      </p:pic>
      <p:pic>
        <p:nvPicPr>
          <p:cNvPr id="25" name="Picture 24" descr="vwaj_s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847" y="61036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VWAJ</dc:creator>
  <cp:keywords/>
  <dc:description>generated using python-pptx</dc:description>
  <cp:lastModifiedBy>VWAJ</cp:lastModifiedBy>
  <cp:revision>1</cp:revision>
  <dcterms:created xsi:type="dcterms:W3CDTF">2013-01-27T09:14:16Z</dcterms:created>
  <dcterms:modified xsi:type="dcterms:W3CDTF">2013-01-27T09:15:58Z</dcterms:modified>
  <cp:category/>
</cp:coreProperties>
</file>