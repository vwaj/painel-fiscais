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Semana 39 por RPA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Buracos tapados</c:v>
                </c:pt>
              </c:strCache>
            </c:strRef>
          </c:tx>
          <c:spPr>
            <a:solidFill>
              <a:srgbClr val="0F2F86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66</c:v>
                </c:pt>
                <c:pt idx="2">
                  <c:v>39</c:v>
                </c:pt>
                <c:pt idx="3">
                  <c:v>59</c:v>
                </c:pt>
                <c:pt idx="4">
                  <c:v>41</c:v>
                </c:pt>
                <c:pt idx="5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Tapados S38</c:v>
                </c:pt>
              </c:strCache>
            </c:strRef>
          </c:tx>
          <c:spPr>
            <a:solidFill>
              <a:srgbClr val="A9B8CC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</c:v>
                </c:pt>
                <c:pt idx="1">
                  <c:v>44</c:v>
                </c:pt>
                <c:pt idx="2">
                  <c:v>90</c:v>
                </c:pt>
                <c:pt idx="3">
                  <c:v>61</c:v>
                </c:pt>
                <c:pt idx="4">
                  <c:v>73</c:v>
                </c:pt>
                <c:pt idx="5">
                  <c:v>78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S28
08/07</c:v>
                </c:pt>
                <c:pt idx="1">
                  <c:v>S29
15/07</c:v>
                </c:pt>
                <c:pt idx="2">
                  <c:v>S30
22/07</c:v>
                </c:pt>
                <c:pt idx="3">
                  <c:v>S31
29/07</c:v>
                </c:pt>
                <c:pt idx="4">
                  <c:v>S32
05/08</c:v>
                </c:pt>
                <c:pt idx="5">
                  <c:v>S33
12/08</c:v>
                </c:pt>
                <c:pt idx="6">
                  <c:v>S34
19/08</c:v>
                </c:pt>
                <c:pt idx="7">
                  <c:v>S35
26/08</c:v>
                </c:pt>
                <c:pt idx="8">
                  <c:v>S36
02/09</c:v>
                </c:pt>
                <c:pt idx="9">
                  <c:v>S37
09/09</c:v>
                </c:pt>
                <c:pt idx="10">
                  <c:v>S38
16/09</c:v>
                </c:pt>
                <c:pt idx="11">
                  <c:v>S39
23/09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731</c:v>
                </c:pt>
                <c:pt idx="1">
                  <c:v>366</c:v>
                </c:pt>
                <c:pt idx="2">
                  <c:v>469</c:v>
                </c:pt>
                <c:pt idx="3">
                  <c:v>423</c:v>
                </c:pt>
                <c:pt idx="4">
                  <c:v>513</c:v>
                </c:pt>
                <c:pt idx="5">
                  <c:v>368</c:v>
                </c:pt>
                <c:pt idx="6">
                  <c:v>534</c:v>
                </c:pt>
                <c:pt idx="7">
                  <c:v>522</c:v>
                </c:pt>
                <c:pt idx="8">
                  <c:v>338</c:v>
                </c:pt>
                <c:pt idx="9">
                  <c:v>492</c:v>
                </c:pt>
                <c:pt idx="10">
                  <c:v>390</c:v>
                </c:pt>
                <c:pt idx="11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S28
08/07</c:v>
                </c:pt>
                <c:pt idx="1">
                  <c:v>S29
15/07</c:v>
                </c:pt>
                <c:pt idx="2">
                  <c:v>S30
22/07</c:v>
                </c:pt>
                <c:pt idx="3">
                  <c:v>S31
29/07</c:v>
                </c:pt>
                <c:pt idx="4">
                  <c:v>S32
05/08</c:v>
                </c:pt>
                <c:pt idx="5">
                  <c:v>S33
12/08</c:v>
                </c:pt>
                <c:pt idx="6">
                  <c:v>S34
19/08</c:v>
                </c:pt>
                <c:pt idx="7">
                  <c:v>S35
26/08</c:v>
                </c:pt>
                <c:pt idx="8">
                  <c:v>S36
02/09</c:v>
                </c:pt>
                <c:pt idx="9">
                  <c:v>S37
09/09</c:v>
                </c:pt>
                <c:pt idx="10">
                  <c:v>S38
16/09</c:v>
                </c:pt>
                <c:pt idx="11">
                  <c:v>S39
23/09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87</c:v>
                </c:pt>
                <c:pt idx="1">
                  <c:v>194</c:v>
                </c:pt>
                <c:pt idx="2">
                  <c:v>191</c:v>
                </c:pt>
                <c:pt idx="3">
                  <c:v>175</c:v>
                </c:pt>
                <c:pt idx="4">
                  <c:v>140</c:v>
                </c:pt>
                <c:pt idx="5">
                  <c:v>166</c:v>
                </c:pt>
                <c:pt idx="6">
                  <c:v>102</c:v>
                </c:pt>
                <c:pt idx="7">
                  <c:v>98</c:v>
                </c:pt>
                <c:pt idx="8">
                  <c:v>170</c:v>
                </c:pt>
                <c:pt idx="9">
                  <c:v>111</c:v>
                </c:pt>
                <c:pt idx="10">
                  <c:v>162</c:v>
                </c:pt>
                <c:pt idx="11">
                  <c:v>160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  <c:pt idx="7">
                  <c:v>S35</c:v>
                </c:pt>
                <c:pt idx="8">
                  <c:v>S36</c:v>
                </c:pt>
                <c:pt idx="9">
                  <c:v>S37</c:v>
                </c:pt>
                <c:pt idx="10">
                  <c:v>S38</c:v>
                </c:pt>
                <c:pt idx="11">
                  <c:v>S39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2.78</c:v>
                </c:pt>
                <c:pt idx="1">
                  <c:v>70.75</c:v>
                </c:pt>
                <c:pt idx="2">
                  <c:v>82.12</c:v>
                </c:pt>
                <c:pt idx="3">
                  <c:v>85.28</c:v>
                </c:pt>
                <c:pt idx="4">
                  <c:v>23.11</c:v>
                </c:pt>
                <c:pt idx="5">
                  <c:v>56.72</c:v>
                </c:pt>
                <c:pt idx="6">
                  <c:v>15.59</c:v>
                </c:pt>
                <c:pt idx="7">
                  <c:v>32.74</c:v>
                </c:pt>
                <c:pt idx="8">
                  <c:v>37.84</c:v>
                </c:pt>
                <c:pt idx="9">
                  <c:v>18.55</c:v>
                </c:pt>
                <c:pt idx="10">
                  <c:v>12.46</c:v>
                </c:pt>
                <c:pt idx="11">
                  <c:v>18.36</c:v>
                </c:pt>
              </c:numCache>
            </c:numRef>
          </c:val>
        </c:ser>
        <c:dLbls>
          <c:numFmt formatCode="0;;&quot;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39,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19581</c:v>
                </c:pt>
                <c:pt idx="1">
                  <c:v>15433</c:v>
                </c:pt>
                <c:pt idx="2">
                  <c:v>16241</c:v>
                </c:pt>
                <c:pt idx="3">
                  <c:v>16849</c:v>
                </c:pt>
                <c:pt idx="4">
                  <c:v>15427</c:v>
                </c:pt>
                <c:pt idx="5">
                  <c:v>15377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Sheet1!$A$2:$A$40</c:f>
              <c:strCache>
                <c:ptCount val="39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</c:strCache>
            </c: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Sheet1!$A$2:$A$40</c:f>
              <c:strCache>
                <c:ptCount val="39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</c:strCache>
            </c:strRef>
          </c:cat>
          <c:val>
            <c:numRef>
              <c:f>Sheet1!$C$2:$C$40</c:f>
              <c:numCache>
                <c:formatCode>General</c:formatCode>
                <c:ptCount val="39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5"/>
            <c:spPr>
              <a:solidFill>
                <a:srgbClr val="0F2F86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536</c:v>
                </c:pt>
                <c:pt idx="1">
                  <c:v>936</c:v>
                </c:pt>
                <c:pt idx="2">
                  <c:v>440</c:v>
                </c:pt>
                <c:pt idx="3">
                  <c:v>474</c:v>
                </c:pt>
                <c:pt idx="4">
                  <c:v>548</c:v>
                </c:pt>
                <c:pt idx="5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3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</c:v>
                </c:pt>
                <c:pt idx="1">
                  <c:v>113</c:v>
                </c:pt>
                <c:pt idx="2">
                  <c:v>136</c:v>
                </c:pt>
                <c:pt idx="3">
                  <c:v>84</c:v>
                </c:pt>
                <c:pt idx="4">
                  <c:v>96</c:v>
                </c:pt>
                <c:pt idx="5">
                  <c:v>160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na semana 39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29.46</c:v>
                </c:pt>
                <c:pt idx="1">
                  <c:v>1.21</c:v>
                </c:pt>
                <c:pt idx="2">
                  <c:v>18.39</c:v>
                </c:pt>
                <c:pt idx="3">
                  <c:v>12.03</c:v>
                </c:pt>
                <c:pt idx="4">
                  <c:v>21.92</c:v>
                </c:pt>
                <c:pt idx="5">
                  <c:v>18.36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1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717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0.042071197411003236</c:v>
                </c:pt>
                <c:pt idx="1">
                  <c:v>0.15210355987055016</c:v>
                </c:pt>
                <c:pt idx="2">
                  <c:v>0.19093851132686082</c:v>
                </c:pt>
                <c:pt idx="3">
                  <c:v>0.18122977346278318</c:v>
                </c:pt>
                <c:pt idx="4">
                  <c:v>0.23300970873786409</c:v>
                </c:pt>
                <c:pt idx="5">
                  <c:v>0.20064724919093851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S32</c:v>
                </c:pt>
                <c:pt idx="1">
                  <c:v>S33</c:v>
                </c:pt>
                <c:pt idx="2">
                  <c:v>S34</c:v>
                </c:pt>
                <c:pt idx="3">
                  <c:v>S35</c:v>
                </c:pt>
                <c:pt idx="4">
                  <c:v>S36</c:v>
                </c:pt>
                <c:pt idx="5">
                  <c:v>S37</c:v>
                </c:pt>
                <c:pt idx="6">
                  <c:v>S38</c:v>
                </c:pt>
                <c:pt idx="7">
                  <c:v>S39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8.21</c:v>
                </c:pt>
                <c:pt idx="1">
                  <c:v>7.78</c:v>
                </c:pt>
                <c:pt idx="2">
                  <c:v>8.9</c:v>
                </c:pt>
                <c:pt idx="3">
                  <c:v>9.0</c:v>
                </c:pt>
                <c:pt idx="4">
                  <c:v>8.03</c:v>
                </c:pt>
                <c:pt idx="5">
                  <c:v>9.56</c:v>
                </c:pt>
                <c:pt idx="6">
                  <c:v>8.43</c:v>
                </c:pt>
                <c:pt idx="7">
                  <c:v>6.43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S32</c:v>
                </c:pt>
                <c:pt idx="1">
                  <c:v>S33</c:v>
                </c:pt>
                <c:pt idx="2">
                  <c:v>S34</c:v>
                </c:pt>
                <c:pt idx="3">
                  <c:v>S35</c:v>
                </c:pt>
                <c:pt idx="4">
                  <c:v>S36</c:v>
                </c:pt>
                <c:pt idx="5">
                  <c:v>S37</c:v>
                </c:pt>
                <c:pt idx="6">
                  <c:v>S38</c:v>
                </c:pt>
                <c:pt idx="7">
                  <c:v>S39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9.92</c:v>
                </c:pt>
                <c:pt idx="1">
                  <c:v>8.14</c:v>
                </c:pt>
                <c:pt idx="2">
                  <c:v>7.0</c:v>
                </c:pt>
                <c:pt idx="3">
                  <c:v>7.71</c:v>
                </c:pt>
                <c:pt idx="4">
                  <c:v>9.89</c:v>
                </c:pt>
                <c:pt idx="5">
                  <c:v>7.36</c:v>
                </c:pt>
                <c:pt idx="6">
                  <c:v>8.67</c:v>
                </c:pt>
                <c:pt idx="7">
                  <c:v>8.2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39 (23/09 a 29/09/2026).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39: 320 buracos tapados e saldo de 160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por RPA (planilha de frentes de serviço) e saldo a tapar por RPA (Números Emlurb), semana atual 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semana 39 em cada ano: tapados e saldo (Números Emlurb) e a chuva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8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9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23/09 a 29/09/2026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24/10/2026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320 buracos tapados na semana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320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18%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38 (390)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394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19% abaixo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7A35B"/>
                </a:solidFill>
                <a:latin typeface="Calibri"/>
              </a:rPr>
              <a:t>▼ 1%</a:t>
            </a:r>
            <a:r>
              <a:rPr sz="1050" b="0" i="0">
                <a:solidFill>
                  <a:srgbClr val="17A35B"/>
                </a:solidFill>
                <a:latin typeface="Calibri"/>
              </a:rPr>
              <a:t>  vs semana 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798319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18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▲ 11%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2.078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15.377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39 semanas · média de 394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POR RPA · SEMANA 39 × SEMANA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6 (Sul) tapou mais: 82 buracos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5212080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143000"/>
                <a:gridCol w="868680"/>
                <a:gridCol w="8686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S39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S38</a:t>
                      </a:r>
                    </a:p>
                  </a:txBody>
                  <a:tcPr anchor="ctr" marL="54864" marR="54864" marT="18288" marB="18288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 tapados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Centro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25%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50%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57%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Oeste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3%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Sudoeste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44%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5%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390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943600" y="1481328"/>
            <a:ext cx="574517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035040" y="1572768"/>
          <a:ext cx="5562295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394 buracos tapados (semanas 01 a 39)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15.377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15.377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0%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(15.427)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39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SEMANA 39 AO LONGO DOS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320 tapados — 45% abaixo da média desta semana em 2021–2025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761969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7345375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818888"/>
          <a:ext cx="7345375" cy="121615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51215" y="1481328"/>
            <a:ext cx="3337560" cy="2148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05570" y="2132563"/>
            <a:ext cx="69128" cy="691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5535" y="1709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TAPADOS · SEMANA 39/2026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5535" y="19385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320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5535" y="285292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D7FB"/>
                </a:solidFill>
                <a:latin typeface="Calibri"/>
              </a:rPr>
              <a:t>Média da semana em anos anteriores: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587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5535" y="317296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5535" y="31729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B3B3"/>
                </a:solidFill>
                <a:latin typeface="Calibri"/>
              </a:rPr>
              <a:t>▼ 45%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média dos anos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1215" y="3813048"/>
            <a:ext cx="3337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51215" y="3995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5535" y="3977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535" y="422452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68535" y="43799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8535" y="43799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5383B"/>
                </a:solidFill>
                <a:latin typeface="Calibri"/>
              </a:rPr>
              <a:t>▲ 54%</a:t>
            </a:r>
            <a:r>
              <a:rPr sz="900" b="0" i="0">
                <a:solidFill>
                  <a:srgbClr val="E5383B"/>
                </a:solidFill>
                <a:latin typeface="Calibri"/>
              </a:rPr>
              <a:t>  vs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5535" y="47731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média dos anos anteriores: 104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1215" y="5230368"/>
            <a:ext cx="33375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51215" y="5367528"/>
            <a:ext cx="73152" cy="594360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5535" y="534009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MAIS TAPADOS NESTA SEMANA</a:t>
            </a:r>
          </a:p>
          <a:p>
            <a:pPr algn="l">
              <a:spcBef>
                <a:spcPts val="200"/>
              </a:spcBef>
            </a:pPr>
            <a:r>
              <a:rPr sz="2200" b="1" i="0">
                <a:solidFill>
                  <a:srgbClr val="1546C0"/>
                </a:solidFill>
                <a:latin typeface="Calibri"/>
              </a:rPr>
              <a:t>2022</a:t>
            </a:r>
            <a:r>
              <a:rPr sz="1200" b="0" i="0">
                <a:solidFill>
                  <a:srgbClr val="5B6B82"/>
                </a:solidFill>
                <a:latin typeface="Calibri"/>
              </a:rPr>
              <a:t>   936 buracos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5 (Sudoeste) concentra 23%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618488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Dois Unidos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5,5%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2050837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5,2%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Ibura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1794482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4,5%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166630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166630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166630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Curado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153812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3,9%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Ipsep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1409950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3,6%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Vasco da Gama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1409950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3,6%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Barro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1409950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15% das demandas em aberto da cidade.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320 buracos tapados pelas frentes  ·  AGC 238  ·  LIDERMAC 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6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238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6,4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25%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(44)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6,6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50%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(44)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-18%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57%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(90)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6,5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(61)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6,6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22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(73)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-16%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82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(78)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6,8 buracos por frente — 20% abaixo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23/09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24/09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25/09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26/09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27/09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28/09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29/09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25%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50%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57%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9,0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390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39  ·  23/09 a 29/09/2026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