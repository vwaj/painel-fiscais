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6233F"/>
                </a:solidFill>
              </a:rPr>
              <a:t>Em aberto agora, por RPA</a:t>
            </a:r>
          </a:p>
        </c:rich>
      </c:tx>
      <c:layout/>
      <c:overlay val="0"/>
    </c:title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Água · Compesa</c:v>
                </c:pt>
              </c:strCache>
            </c:strRef>
          </c:tx>
          <c:spPr>
            <a:solidFill>
              <a:srgbClr val="0A7BEA"/>
            </a:solidFill>
          </c:spPr>
          <c:cat>
            <c:strRef>
              <c:f>Sheet1!$A$2:$A$7</c:f>
              <c:strCache>
                <c:ptCount val="6"/>
                <c:pt idx="0">
                  <c:v>RPA 1 · Centro</c:v>
                </c:pt>
                <c:pt idx="1">
                  <c:v>RPA 2 · Norte</c:v>
                </c:pt>
                <c:pt idx="2">
                  <c:v>RPA 3 · Noroeste</c:v>
                </c:pt>
                <c:pt idx="3">
                  <c:v>RPA 4 · Oeste</c:v>
                </c:pt>
                <c:pt idx="4">
                  <c:v>RPA 5 · Sudoeste</c:v>
                </c:pt>
                <c:pt idx="5">
                  <c:v>RPA 6 · Sul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48</c:v>
                </c:pt>
                <c:pt idx="1">
                  <c:v>158</c:v>
                </c:pt>
                <c:pt idx="2">
                  <c:v>134</c:v>
                </c:pt>
                <c:pt idx="3">
                  <c:v>20</c:v>
                </c:pt>
                <c:pt idx="4">
                  <c:v>23</c:v>
                </c:pt>
                <c:pt idx="5">
                  <c:v>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Esgoto · BRK</c:v>
                </c:pt>
              </c:strCache>
            </c:strRef>
          </c:tx>
          <c:spPr>
            <a:solidFill>
              <a:srgbClr val="00A3E0"/>
            </a:solidFill>
          </c:spPr>
          <c:cat>
            <c:strRef>
              <c:f>Sheet1!$A$2:$A$7</c:f>
              <c:strCache>
                <c:ptCount val="6"/>
                <c:pt idx="0">
                  <c:v>RPA 1 · Centro</c:v>
                </c:pt>
                <c:pt idx="1">
                  <c:v>RPA 2 · Norte</c:v>
                </c:pt>
                <c:pt idx="2">
                  <c:v>RPA 3 · Noroeste</c:v>
                </c:pt>
                <c:pt idx="3">
                  <c:v>RPA 4 · Oeste</c:v>
                </c:pt>
                <c:pt idx="4">
                  <c:v>RPA 5 · Sudoeste</c:v>
                </c:pt>
                <c:pt idx="5">
                  <c:v>RPA 6 · Sul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28</c:v>
                </c:pt>
                <c:pt idx="1">
                  <c:v>71</c:v>
                </c:pt>
                <c:pt idx="2">
                  <c:v>46</c:v>
                </c:pt>
                <c:pt idx="3">
                  <c:v>24</c:v>
                </c:pt>
                <c:pt idx="4">
                  <c:v>34</c:v>
                </c:pt>
                <c:pt idx="5">
                  <c:v>55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50"/>
          </a:pPr>
        </a:p>
      </c:txPr>
    </c:legend>
    <c:dispBlanksAs val="gap"/>
  </c:chart>
  <c:txPr>
    <a:bodyPr/>
    <a:lstStyle/>
    <a:p>
      <a:pPr>
        <a:defRPr sz="11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Compesa</c:v>
                </c:pt>
              </c:strCache>
            </c:strRef>
          </c:tx>
          <c:spPr>
            <a:ln w="25400">
              <a:solidFill>
                <a:srgbClr val="0A7BEA"/>
              </a:solidFill>
            </a:ln>
          </c:spPr>
          <c:marker>
            <c:symbol val="circle"/>
            <c:size val="6"/>
            <c:spPr>
              <a:solidFill>
                <a:srgbClr val="0A7BE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S41</c:v>
                </c:pt>
                <c:pt idx="1">
                  <c:v>S42</c:v>
                </c:pt>
                <c:pt idx="2">
                  <c:v>S43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737</c:v>
                </c:pt>
                <c:pt idx="1">
                  <c:v>720</c:v>
                </c:pt>
                <c:pt idx="2">
                  <c:v>714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8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Copergás</c:v>
                </c:pt>
              </c:strCache>
            </c:strRef>
          </c:tx>
          <c:spPr>
            <a:ln w="25400">
              <a:solidFill>
                <a:srgbClr val="E07A12"/>
              </a:solidFill>
            </a:ln>
          </c:spPr>
          <c:marker>
            <c:symbol val="circle"/>
            <c:size val="6"/>
            <c:spPr>
              <a:solidFill>
                <a:srgbClr val="E07A12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S41</c:v>
                </c:pt>
                <c:pt idx="1">
                  <c:v>S42</c:v>
                </c:pt>
                <c:pt idx="2">
                  <c:v>S43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</c:v>
                </c:pt>
                <c:pt idx="1">
                  <c:v>29</c:v>
                </c:pt>
                <c:pt idx="2">
                  <c:v>26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8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6233F"/>
                </a:solidFill>
              </a:rPr>
              <a:t>Finalizados por semana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Compesa</c:v>
                </c:pt>
              </c:strCache>
            </c:strRef>
          </c:tx>
          <c:spPr>
            <a:solidFill>
              <a:srgbClr val="0A7BEA"/>
            </a:solidFill>
          </c:spPr>
          <c:dPt>
            <c:idx val="9"/>
            <c:spPr>
              <a:solidFill>
                <a:srgbClr val="0F2F86"/>
              </a:solidFill>
            </c:spPr>
          </c:dPt>
          <c:cat>
            <c:strRef>
              <c:f>Sheet1!$A$2:$A$11</c:f>
              <c:strCache>
                <c:ptCount val="10"/>
                <c:pt idx="0">
                  <c:v>S34
19/08</c:v>
                </c:pt>
                <c:pt idx="1">
                  <c:v>S35
26/08</c:v>
                </c:pt>
                <c:pt idx="2">
                  <c:v>S36
02/09</c:v>
                </c:pt>
                <c:pt idx="3">
                  <c:v>S37
09/09</c:v>
                </c:pt>
                <c:pt idx="4">
                  <c:v>S38
16/09</c:v>
                </c:pt>
                <c:pt idx="5">
                  <c:v>S39
23/09</c:v>
                </c:pt>
                <c:pt idx="6">
                  <c:v>S40
30/09</c:v>
                </c:pt>
                <c:pt idx="7">
                  <c:v>S41
07/10</c:v>
                </c:pt>
                <c:pt idx="8">
                  <c:v>S42
14/10</c:v>
                </c:pt>
                <c:pt idx="9">
                  <c:v>S43
21/10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</c:v>
                </c:pt>
                <c:pt idx="1">
                  <c:v>17</c:v>
                </c:pt>
                <c:pt idx="2">
                  <c:v>10</c:v>
                </c:pt>
                <c:pt idx="3">
                  <c:v>9</c:v>
                </c:pt>
                <c:pt idx="4">
                  <c:v>12</c:v>
                </c:pt>
                <c:pt idx="5">
                  <c:v>59</c:v>
                </c:pt>
                <c:pt idx="6">
                  <c:v>57</c:v>
                </c:pt>
                <c:pt idx="7">
                  <c:v>6</c:v>
                </c:pt>
                <c:pt idx="8">
                  <c:v>42</c:v>
                </c:pt>
                <c:pt idx="9">
                  <c:v>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Copergás</c:v>
                </c:pt>
              </c:strCache>
            </c:strRef>
          </c:tx>
          <c:spPr>
            <a:solidFill>
              <a:srgbClr val="E07A12"/>
            </a:solidFill>
          </c:spPr>
          <c:dPt>
            <c:idx val="9"/>
            <c:spPr>
              <a:solidFill>
                <a:srgbClr val="B4520A"/>
              </a:solidFill>
            </c:spPr>
          </c:dPt>
          <c:cat>
            <c:strRef>
              <c:f>Sheet1!$A$2:$A$11</c:f>
              <c:strCache>
                <c:ptCount val="10"/>
                <c:pt idx="0">
                  <c:v>S34
19/08</c:v>
                </c:pt>
                <c:pt idx="1">
                  <c:v>S35
26/08</c:v>
                </c:pt>
                <c:pt idx="2">
                  <c:v>S36
02/09</c:v>
                </c:pt>
                <c:pt idx="3">
                  <c:v>S37
09/09</c:v>
                </c:pt>
                <c:pt idx="4">
                  <c:v>S38
16/09</c:v>
                </c:pt>
                <c:pt idx="5">
                  <c:v>S39
23/09</c:v>
                </c:pt>
                <c:pt idx="6">
                  <c:v>S40
30/09</c:v>
                </c:pt>
                <c:pt idx="7">
                  <c:v>S41
07/10</c:v>
                </c:pt>
                <c:pt idx="8">
                  <c:v>S42
14/10</c:v>
                </c:pt>
                <c:pt idx="9">
                  <c:v>S43
21/10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  <c:pt idx="5">
                  <c:v>3</c:v>
                </c:pt>
                <c:pt idx="6">
                  <c:v>2</c:v>
                </c:pt>
                <c:pt idx="7">
                  <c:v>0</c:v>
                </c:pt>
                <c:pt idx="8">
                  <c:v>3</c:v>
                </c:pt>
                <c:pt idx="9">
                  <c:v>3</c:v>
                </c:pt>
              </c:numCache>
            </c:numRef>
          </c:val>
        </c:ser>
        <c:dLbls>
          <c:numFmt formatCode="#,##0;;&quot;0&quot;" sourceLinked="0"/>
          <c:txPr>
            <a:bodyPr/>
            <a:lstStyle/>
            <a:p>
              <a:pPr>
                <a:defRPr sz="1100" b="1">
                  <a:solidFill>
                    <a:srgbClr val="16233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50"/>
          </a:pPr>
        </a:p>
      </c:txPr>
    </c:legend>
    <c:dispBlanksAs val="gap"/>
  </c:chart>
  <c:txPr>
    <a:bodyPr/>
    <a:lstStyle/>
    <a:p>
      <a:pPr>
        <a:defRPr sz="105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Compesa</c:v>
                </c:pt>
              </c:strCache>
            </c:strRef>
          </c:tx>
          <c:spPr>
            <a:solidFill>
              <a:srgbClr val="0A7BEA"/>
            </a:solidFill>
          </c:spPr>
          <c:cat>
            <c:strRef>
              <c:f>Sheet1!$A$2:$A$7</c:f>
              <c:strCache>
                <c:ptCount val="6"/>
                <c:pt idx="0">
                  <c:v>RPA 1 · Centro</c:v>
                </c:pt>
                <c:pt idx="1">
                  <c:v>RPA 2 · Norte</c:v>
                </c:pt>
                <c:pt idx="2">
                  <c:v>RPA 3 · Noroeste</c:v>
                </c:pt>
                <c:pt idx="3">
                  <c:v>RPA 4 · Oeste</c:v>
                </c:pt>
                <c:pt idx="4">
                  <c:v>RPA 5 · Sudoeste</c:v>
                </c:pt>
                <c:pt idx="5">
                  <c:v>RPA 6 · Sul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76</c:v>
                </c:pt>
                <c:pt idx="1">
                  <c:v>229</c:v>
                </c:pt>
                <c:pt idx="2">
                  <c:v>180</c:v>
                </c:pt>
                <c:pt idx="3">
                  <c:v>44</c:v>
                </c:pt>
                <c:pt idx="4">
                  <c:v>57</c:v>
                </c:pt>
                <c:pt idx="5">
                  <c:v>128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Copergás</c:v>
                </c:pt>
              </c:strCache>
            </c:strRef>
          </c:tx>
          <c:spPr>
            <a:solidFill>
              <a:srgbClr val="E07A12"/>
            </a:solidFill>
          </c:spPr>
          <c:cat>
            <c:strRef>
              <c:f>Sheet1!$A$2:$A$7</c:f>
              <c:strCache>
                <c:ptCount val="6"/>
                <c:pt idx="0">
                  <c:v>RPA 1 · Centro</c:v>
                </c:pt>
                <c:pt idx="1">
                  <c:v>RPA 2 · Norte</c:v>
                </c:pt>
                <c:pt idx="2">
                  <c:v>RPA 3 · Noroeste</c:v>
                </c:pt>
                <c:pt idx="3">
                  <c:v>RPA 4 · Oeste</c:v>
                </c:pt>
                <c:pt idx="4">
                  <c:v>RPA 5 · Sudoeste</c:v>
                </c:pt>
                <c:pt idx="5">
                  <c:v>RPA 6 · Sul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</c:v>
                </c:pt>
                <c:pt idx="1">
                  <c:v>10</c:v>
                </c:pt>
                <c:pt idx="2">
                  <c:v>4</c:v>
                </c:pt>
                <c:pt idx="3">
                  <c:v>2</c:v>
                </c:pt>
                <c:pt idx="4">
                  <c:v>0</c:v>
                </c:pt>
                <c:pt idx="5">
                  <c:v>5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50"/>
          </a:pPr>
        </a:p>
      </c:txPr>
    </c:legend>
    <c:dispBlanksAs val="gap"/>
  </c:chart>
  <c:txPr>
    <a:bodyPr/>
    <a:lstStyle/>
    <a:p>
      <a:pPr>
        <a:defRPr sz="11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6233F"/>
                </a:solidFill>
              </a:rPr>
              <a:t>Há quanto tempo estão em aberto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Compesa</c:v>
                </c:pt>
              </c:strCache>
            </c:strRef>
          </c:tx>
          <c:spPr>
            <a:solidFill>
              <a:srgbClr val="0A7BEA"/>
            </a:solidFill>
          </c:spPr>
          <c:cat>
            <c:strRef>
              <c:f>Sheet1!$A$2:$A$6</c:f>
              <c:strCache>
                <c:ptCount val="5"/>
                <c:pt idx="0">
                  <c:v>até 30 d</c:v>
                </c:pt>
                <c:pt idx="1">
                  <c:v>31–90 d</c:v>
                </c:pt>
                <c:pt idx="2">
                  <c:v>91–180 d</c:v>
                </c:pt>
                <c:pt idx="3">
                  <c:v>181–365 d</c:v>
                </c:pt>
                <c:pt idx="4">
                  <c:v>+1 ano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109</c:v>
                </c:pt>
                <c:pt idx="1">
                  <c:v>139</c:v>
                </c:pt>
                <c:pt idx="2">
                  <c:v>123</c:v>
                </c:pt>
                <c:pt idx="3">
                  <c:v>189</c:v>
                </c:pt>
                <c:pt idx="4">
                  <c:v>154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Copergás</c:v>
                </c:pt>
              </c:strCache>
            </c:strRef>
          </c:tx>
          <c:spPr>
            <a:solidFill>
              <a:srgbClr val="E07A12"/>
            </a:solidFill>
          </c:spPr>
          <c:cat>
            <c:strRef>
              <c:f>Sheet1!$A$2:$A$6</c:f>
              <c:strCache>
                <c:ptCount val="5"/>
                <c:pt idx="0">
                  <c:v>até 30 d</c:v>
                </c:pt>
                <c:pt idx="1">
                  <c:v>31–90 d</c:v>
                </c:pt>
                <c:pt idx="2">
                  <c:v>91–180 d</c:v>
                </c:pt>
                <c:pt idx="3">
                  <c:v>181–365 d</c:v>
                </c:pt>
                <c:pt idx="4">
                  <c:v>+1 ano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12</c:v>
                </c:pt>
                <c:pt idx="4">
                  <c:v>4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100" b="1">
                  <a:solidFill>
                    <a:srgbClr val="16233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50"/>
          </a:pPr>
        </a:p>
      </c:txPr>
    </c:legend>
    <c:dispBlanksAs val="gap"/>
  </c:chart>
  <c:txPr>
    <a:bodyPr/>
    <a:lstStyle/>
    <a:p>
      <a:pPr>
        <a:defRPr sz="11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6233F"/>
                </a:solidFill>
              </a:rPr>
              <a:t>Dias desde a última fiscalização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Compesa</c:v>
                </c:pt>
              </c:strCache>
            </c:strRef>
          </c:tx>
          <c:spPr>
            <a:solidFill>
              <a:srgbClr val="0A7BEA"/>
            </a:solidFill>
          </c:spPr>
          <c:cat>
            <c:strRef>
              <c:f>Sheet1!$A$2:$A$5</c:f>
              <c:strCache>
                <c:ptCount val="4"/>
                <c:pt idx="0">
                  <c:v>até 15 d</c:v>
                </c:pt>
                <c:pt idx="1">
                  <c:v>16–30 d</c:v>
                </c:pt>
                <c:pt idx="2">
                  <c:v>31–60 d</c:v>
                </c:pt>
                <c:pt idx="3">
                  <c:v>+60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237</c:v>
                </c:pt>
                <c:pt idx="1">
                  <c:v>136</c:v>
                </c:pt>
                <c:pt idx="2">
                  <c:v>89</c:v>
                </c:pt>
                <c:pt idx="3">
                  <c:v>252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Copergás</c:v>
                </c:pt>
              </c:strCache>
            </c:strRef>
          </c:tx>
          <c:spPr>
            <a:solidFill>
              <a:srgbClr val="E07A12"/>
            </a:solidFill>
          </c:spPr>
          <c:cat>
            <c:strRef>
              <c:f>Sheet1!$A$2:$A$5</c:f>
              <c:strCache>
                <c:ptCount val="4"/>
                <c:pt idx="0">
                  <c:v>até 15 d</c:v>
                </c:pt>
                <c:pt idx="1">
                  <c:v>16–30 d</c:v>
                </c:pt>
                <c:pt idx="2">
                  <c:v>31–60 d</c:v>
                </c:pt>
                <c:pt idx="3">
                  <c:v>+60 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5</c:v>
                </c:pt>
                <c:pt idx="2">
                  <c:v>2</c:v>
                </c:pt>
                <c:pt idx="3">
                  <c:v>13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100" b="1">
                  <a:solidFill>
                    <a:srgbClr val="16233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50"/>
          </a:pPr>
        </a:p>
      </c:txPr>
    </c:legend>
    <c:dispBlanksAs val="gap"/>
  </c:chart>
  <c:txPr>
    <a:bodyPr/>
    <a:lstStyle/>
    <a:p>
      <a:pPr>
        <a:defRPr sz="11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Compesa = Água + Esgoto. O esgoto é operado pela BRK Ambiental; nos outros slides os dois aparecem somados como Compesa.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Permanece em aberto = abatimentos que seguem abertos no fim da semana Emlurb. Finalizados = data da última fiscalização do serviço finalizado no SIGA.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chart" Target="../charts/chart1.xml"/><Relationship Id="rId8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2.xml"/><Relationship Id="rId6" Type="http://schemas.openxmlformats.org/officeDocument/2006/relationships/chart" Target="../charts/chart3.xml"/><Relationship Id="rId7" Type="http://schemas.openxmlformats.org/officeDocument/2006/relationships/chart" Target="../charts/chart4.xml"/><Relationship Id="rId8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7B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89520" y="-1463040"/>
            <a:ext cx="6583680" cy="6583680"/>
          </a:xfrm>
          <a:prstGeom prst="ellipse">
            <a:avLst/>
          </a:prstGeom>
          <a:solidFill>
            <a:srgbClr val="2F8F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21040" y="-731520"/>
            <a:ext cx="5120640" cy="5120640"/>
          </a:xfrm>
          <a:prstGeom prst="ellipse">
            <a:avLst/>
          </a:prstGeom>
          <a:solidFill>
            <a:srgbClr val="1E6F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ie 11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10597" y="2998317"/>
            <a:ext cx="312724" cy="3127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23526" y="3154680"/>
            <a:ext cx="86868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ock Arc 14"/>
          <p:cNvSpPr/>
          <p:nvPr/>
        </p:nvSpPr>
        <p:spPr>
          <a:xfrm>
            <a:off x="9619488" y="4197096"/>
            <a:ext cx="390906" cy="694944"/>
          </a:xfrm>
          <a:prstGeom prst="blockArc">
            <a:avLst>
              <a:gd name="adj1" fmla="val 0"/>
              <a:gd name="adj2" fmla="val 10800000"/>
              <a:gd name="adj3" fmla="val 2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2398426" cy="7315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C20E"/>
                </a:solidFill>
                <a:latin typeface="Calibri"/>
              </a:rPr>
              <a:t>ABATIMENTOS CONCESSIONÁRIAS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194560"/>
            <a:ext cx="7315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Semana 43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290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D7E7FF"/>
                </a:solidFill>
                <a:latin typeface="Calibri"/>
              </a:rPr>
              <a:t>21/10 a 27/10/2026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2336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BFD7FB"/>
                </a:solidFill>
                <a:latin typeface="Calibri"/>
              </a:rPr>
              <a:t>Compesa  ·  Copergás  ·  Em aberto, finalizados e fiscalização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5833872"/>
            <a:ext cx="3047924" cy="82296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47923" y="5833872"/>
            <a:ext cx="3047924" cy="82296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5847" y="5833872"/>
            <a:ext cx="3047924" cy="82296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3771" y="5833872"/>
            <a:ext cx="3047924" cy="82296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916168"/>
            <a:ext cx="12191695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108192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Relatório semanal · números do SIGA · 29/10/2026</a:t>
            </a:r>
          </a:p>
        </p:txBody>
      </p:sp>
      <p:pic>
        <p:nvPicPr>
          <p:cNvPr id="27" name="Picture 26" descr="logo_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533" y="6099048"/>
            <a:ext cx="569242" cy="566928"/>
          </a:xfrm>
          <a:prstGeom prst="rect">
            <a:avLst/>
          </a:prstGeom>
        </p:spPr>
      </p:pic>
      <p:pic>
        <p:nvPicPr>
          <p:cNvPr id="28" name="Picture 27" descr="logo_emlur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2202" y="6099048"/>
            <a:ext cx="1027291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A SEMANA EM NÚMEROS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740 abatimentos de concessionárias permanecem em aberto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Abatimentos Concessionárias  ·  Semana Emlurb 43/2026  ·  21/10 a 27/10/2026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2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5455767" cy="288036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682496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COMPESA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58487" y="1664208"/>
            <a:ext cx="132588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compes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6190" y="1728216"/>
            <a:ext cx="590474" cy="3291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2960" y="22128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C20E"/>
                </a:solidFill>
                <a:latin typeface="Calibri"/>
              </a:rPr>
              <a:t>PERMANECE EM ABERTO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441448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714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40156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401568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7CF0B0"/>
                </a:solidFill>
                <a:latin typeface="Calibri"/>
              </a:rPr>
              <a:t>▼ 1%</a:t>
            </a:r>
            <a:r>
              <a:rPr sz="950" b="0" i="0">
                <a:solidFill>
                  <a:srgbClr val="D7E7FF"/>
                </a:solidFill>
                <a:latin typeface="Calibri"/>
              </a:rPr>
              <a:t>  vs sem. anterior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221284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C20E"/>
                </a:solidFill>
                <a:latin typeface="Calibri"/>
              </a:rPr>
              <a:t>FINALIZADOS NA SEMANA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441448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32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0440" y="340156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3401568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B3B3"/>
                </a:solidFill>
                <a:latin typeface="Calibri"/>
              </a:rPr>
              <a:t>▼ 24%</a:t>
            </a:r>
            <a:r>
              <a:rPr sz="950" b="0" i="0">
                <a:solidFill>
                  <a:srgbClr val="D7E7FF"/>
                </a:solidFill>
                <a:latin typeface="Calibri"/>
              </a:rPr>
              <a:t>  vs sem. anterior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858768"/>
            <a:ext cx="4907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6EFFF"/>
                </a:solidFill>
                <a:latin typeface="Calibri"/>
              </a:rPr>
              <a:t>Semana anterior: 720 em aberto · 42 finalizados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407408"/>
            <a:ext cx="545576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6B82"/>
                </a:solidFill>
                <a:latin typeface="Calibri"/>
              </a:rPr>
              <a:t>Situação na última coleta (29/10/2026)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681728"/>
            <a:ext cx="1696669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4681728"/>
            <a:ext cx="82296" cy="132588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818888"/>
            <a:ext cx="13309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HÁ +90 DIAS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093208"/>
            <a:ext cx="133090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466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623560"/>
            <a:ext cx="13309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82"/>
                </a:solidFill>
                <a:latin typeface="Calibri"/>
              </a:rPr>
              <a:t>em aberto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82469" y="4681728"/>
            <a:ext cx="1696669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82469" y="4681728"/>
            <a:ext cx="82296" cy="1325880"/>
          </a:xfrm>
          <a:prstGeom prst="rect">
            <a:avLst/>
          </a:prstGeom>
          <a:solidFill>
            <a:srgbClr val="7A1F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6789" y="4818888"/>
            <a:ext cx="13309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HÁ +1 ANO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6789" y="5093208"/>
            <a:ext cx="133090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154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6789" y="5623560"/>
            <a:ext cx="13309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82"/>
                </a:solidFill>
                <a:latin typeface="Calibri"/>
              </a:rPr>
              <a:t>em aberto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62018" y="4681728"/>
            <a:ext cx="1696669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2018" y="4681728"/>
            <a:ext cx="82296" cy="13258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36338" y="4818888"/>
            <a:ext cx="13309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SEM FISCALIZAR +30 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36338" y="5093208"/>
            <a:ext cx="133090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341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36338" y="5623560"/>
            <a:ext cx="13309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82"/>
                </a:solidFill>
                <a:latin typeface="Calibri"/>
              </a:rPr>
              <a:t>cobrar visita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33007" y="1481328"/>
            <a:ext cx="5455767" cy="288036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E07A12"/>
              </a:gs>
              <a:gs pos="100000">
                <a:srgbClr val="B4520A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53047" y="1682496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COPERGÁS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88575" y="1664208"/>
            <a:ext cx="132588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8" name="Picture 47" descr="coperga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3743" y="1728216"/>
            <a:ext cx="915543" cy="32918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553047" y="22128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C20E"/>
                </a:solidFill>
                <a:latin typeface="Calibri"/>
              </a:rPr>
              <a:t>PERMANECE EM ABERTO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53047" y="2441448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26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53047" y="340156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53047" y="3401568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7CF0B0"/>
                </a:solidFill>
                <a:latin typeface="Calibri"/>
              </a:rPr>
              <a:t>▼ 10%</a:t>
            </a:r>
            <a:r>
              <a:rPr sz="950" b="0" i="0">
                <a:solidFill>
                  <a:srgbClr val="D7E7FF"/>
                </a:solidFill>
                <a:latin typeface="Calibri"/>
              </a:rPr>
              <a:t>  vs sem. anterior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50527" y="221284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C20E"/>
                </a:solidFill>
                <a:latin typeface="Calibri"/>
              </a:rPr>
              <a:t>FINALIZADOS NA SEMANA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50527" y="2441448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50527" y="340156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50527" y="3401568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D7E7FF"/>
                </a:solidFill>
                <a:latin typeface="Calibri"/>
              </a:rPr>
              <a:t>● 0%</a:t>
            </a:r>
            <a:r>
              <a:rPr sz="950" b="0" i="0">
                <a:solidFill>
                  <a:srgbClr val="D7E7FF"/>
                </a:solidFill>
                <a:latin typeface="Calibri"/>
              </a:rPr>
              <a:t>  vs sem. anterior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53047" y="3858768"/>
            <a:ext cx="4907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6EFFF"/>
                </a:solidFill>
                <a:latin typeface="Calibri"/>
              </a:rPr>
              <a:t>Semana anterior: 29 em aberto · 3 finalizados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33007" y="4407408"/>
            <a:ext cx="545576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6B82"/>
                </a:solidFill>
                <a:latin typeface="Calibri"/>
              </a:rPr>
              <a:t>Situação na última coleta (29/10/2026)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33007" y="4681728"/>
            <a:ext cx="1696669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233007" y="4681728"/>
            <a:ext cx="82296" cy="132588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07327" y="4818888"/>
            <a:ext cx="13309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HÁ +90 DIAS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07327" y="5093208"/>
            <a:ext cx="133090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21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07327" y="5623560"/>
            <a:ext cx="13309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82"/>
                </a:solidFill>
                <a:latin typeface="Calibri"/>
              </a:rPr>
              <a:t>em aberto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112556" y="4681728"/>
            <a:ext cx="1696669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112556" y="4681728"/>
            <a:ext cx="82296" cy="1325880"/>
          </a:xfrm>
          <a:prstGeom prst="rect">
            <a:avLst/>
          </a:prstGeom>
          <a:solidFill>
            <a:srgbClr val="7A1F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86876" y="4818888"/>
            <a:ext cx="13309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HÁ +1 ANO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86876" y="5093208"/>
            <a:ext cx="133090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86876" y="5623560"/>
            <a:ext cx="13309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82"/>
                </a:solidFill>
                <a:latin typeface="Calibri"/>
              </a:rPr>
              <a:t>em aberto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992105" y="4681728"/>
            <a:ext cx="1696669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992105" y="4681728"/>
            <a:ext cx="82296" cy="13258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266425" y="4818888"/>
            <a:ext cx="13309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SEM FISCALIZAR +30 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266425" y="5093208"/>
            <a:ext cx="133090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15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66425" y="5623560"/>
            <a:ext cx="13309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82"/>
                </a:solidFill>
                <a:latin typeface="Calibri"/>
              </a:rPr>
              <a:t>cobrar visita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COMPESA POR SERVIÇO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Água 456  ·  Esgoto 258 em aberto agora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Abatimentos Concessionárias  ·  Semana Emlurb 43/2026  ·  21/10 a 27/10/2026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3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5120640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1481328"/>
            <a:ext cx="91440" cy="221284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023360" y="1664208"/>
            <a:ext cx="137160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compes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2918" y="1728216"/>
            <a:ext cx="672484" cy="37490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2960" y="168249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A7BEA"/>
                </a:solidFill>
                <a:latin typeface="Calibri"/>
              </a:rPr>
              <a:t>ÁGUA · COMPESA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1984248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16233F"/>
                </a:solidFill>
                <a:latin typeface="Calibri"/>
              </a:rPr>
              <a:t>456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7614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82"/>
                </a:solidFill>
                <a:latin typeface="Calibri"/>
              </a:rPr>
              <a:t>em aberto agora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172968"/>
            <a:ext cx="1554480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3172968"/>
            <a:ext cx="992777" cy="128016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23160" y="308152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64% da Compesa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23042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FINALIZADOS NA SEMANA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2532888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A7BEA"/>
                </a:solidFill>
                <a:latin typeface="Calibri"/>
              </a:rPr>
              <a:t>22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 ant. 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308152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478 finalizados em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877056"/>
            <a:ext cx="5120640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877056"/>
            <a:ext cx="91440" cy="221284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023360" y="4059936"/>
            <a:ext cx="137160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b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8398" y="4123944"/>
            <a:ext cx="761524" cy="37490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22960" y="407822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0A3E0"/>
                </a:solidFill>
                <a:latin typeface="Calibri"/>
              </a:rPr>
              <a:t>ESGOTO · BRK AMBIENTAL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379976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16233F"/>
                </a:solidFill>
                <a:latin typeface="Calibri"/>
              </a:rPr>
              <a:t>258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15721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82"/>
                </a:solidFill>
                <a:latin typeface="Calibri"/>
              </a:rPr>
              <a:t>em aberto agora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5568696"/>
            <a:ext cx="1554480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22960" y="5568696"/>
            <a:ext cx="561702" cy="128016"/>
          </a:xfrm>
          <a:prstGeom prst="roundRect">
            <a:avLst>
              <a:gd name="adj" fmla="val 50000"/>
            </a:avLst>
          </a:prstGeom>
          <a:solidFill>
            <a:srgbClr val="00A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23160" y="547725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36% da Compesa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0440" y="470001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FINALIZADOS NA SEMANA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0440" y="4928616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0A3E0"/>
                </a:solidFill>
                <a:latin typeface="Calibri"/>
              </a:rPr>
              <a:t>10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 ant. 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547725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245 finalizados em 2026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52160" y="1481328"/>
            <a:ext cx="5836615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43" name="Chart 42"/>
          <p:cNvGraphicFramePr>
            <a:graphicFrameLocks noGrp="1"/>
          </p:cNvGraphicFramePr>
          <p:nvPr/>
        </p:nvGraphicFramePr>
        <p:xfrm>
          <a:off x="5943600" y="1572768"/>
          <a:ext cx="5653735" cy="443484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EVOLUÇÃO · ÚLTIMAS 10 SEMANAS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35 abatimentos finalizados na semana 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Abatimentos Concessionárias  ·  Semana Emlurb 43/2026  ·  21/10 a 27/10/2026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4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146304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E4F"/>
                </a:solidFill>
                <a:latin typeface="Calibri"/>
              </a:rPr>
              <a:t>PERMANECE EM ABERTO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709928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o que segue aberto no fim de cada semana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029968"/>
            <a:ext cx="393192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029968"/>
            <a:ext cx="91440" cy="129844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215798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7BEA"/>
                </a:solidFill>
                <a:latin typeface="Calibri"/>
              </a:rPr>
              <a:t>COMPESA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2414016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6233F"/>
                </a:solidFill>
                <a:latin typeface="Calibri"/>
              </a:rPr>
              <a:t>714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8" y="297180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DFF5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2971800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7A35B"/>
                </a:solidFill>
                <a:latin typeface="Calibri"/>
              </a:rPr>
              <a:t>▼ 1%</a:t>
            </a:r>
            <a:r>
              <a:rPr sz="950" b="0" i="0">
                <a:solidFill>
                  <a:srgbClr val="17A35B"/>
                </a:solidFill>
                <a:latin typeface="Calibri"/>
              </a:rPr>
              <a:t>  vs S42 (720)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2606040" y="2139696"/>
          <a:ext cx="1737360" cy="1115568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2606040" y="3054096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5B6B82"/>
                </a:solidFill>
                <a:latin typeface="Calibri"/>
              </a:rPr>
              <a:t>S41 → S43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447288"/>
            <a:ext cx="393192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3447288"/>
            <a:ext cx="91440" cy="1298448"/>
          </a:xfrm>
          <a:prstGeom prst="rect">
            <a:avLst/>
          </a:prstGeom>
          <a:solidFill>
            <a:srgbClr val="E07A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357530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07A12"/>
                </a:solidFill>
                <a:latin typeface="Calibri"/>
              </a:rPr>
              <a:t>COPERGÁS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" y="3831336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6233F"/>
                </a:solidFill>
                <a:latin typeface="Calibri"/>
              </a:rPr>
              <a:t>26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528" y="438912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DFF5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" y="4389120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7A35B"/>
                </a:solidFill>
                <a:latin typeface="Calibri"/>
              </a:rPr>
              <a:t>▼ 10%</a:t>
            </a:r>
            <a:r>
              <a:rPr sz="950" b="0" i="0">
                <a:solidFill>
                  <a:srgbClr val="17A35B"/>
                </a:solidFill>
                <a:latin typeface="Calibri"/>
              </a:rPr>
              <a:t>  vs S42 (29)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2606040" y="3557016"/>
          <a:ext cx="1737360" cy="1115568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606040" y="4471416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5B6B82"/>
                </a:solidFill>
                <a:latin typeface="Calibri"/>
              </a:rPr>
              <a:t>S41 → S43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864608"/>
            <a:ext cx="3931920" cy="12984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B1E4F"/>
              </a:gs>
              <a:gs pos="100000">
                <a:srgbClr val="1F3D6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" y="499262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TOTAL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" y="5248656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740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5528" y="580644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8" y="5806440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7CF0B0"/>
                </a:solidFill>
                <a:latin typeface="Calibri"/>
              </a:rPr>
              <a:t>▼ 1%</a:t>
            </a:r>
            <a:r>
              <a:rPr sz="950" b="0" i="0">
                <a:solidFill>
                  <a:srgbClr val="D7E7FF"/>
                </a:solidFill>
                <a:latin typeface="Calibri"/>
              </a:rPr>
              <a:t>  vs S42 (749)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63440" y="1481328"/>
            <a:ext cx="7025335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40" name="Chart 39"/>
          <p:cNvGraphicFramePr>
            <a:graphicFrameLocks noGrp="1"/>
          </p:cNvGraphicFramePr>
          <p:nvPr/>
        </p:nvGraphicFramePr>
        <p:xfrm>
          <a:off x="4754880" y="1572768"/>
          <a:ext cx="6842455" cy="41148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4937760" y="5705856"/>
            <a:ext cx="64766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6B82"/>
                </a:solidFill>
                <a:latin typeface="Calibri"/>
              </a:rPr>
              <a:t>Média das últimas semanas: </a:t>
            </a:r>
            <a:r>
              <a:rPr sz="1150" b="1" i="0">
                <a:solidFill>
                  <a:srgbClr val="0B1E4F"/>
                </a:solidFill>
                <a:latin typeface="Calibri"/>
              </a:rPr>
              <a:t>27 finalizados por semana</a:t>
            </a:r>
            <a:r>
              <a:rPr sz="1150" b="0" i="0">
                <a:solidFill>
                  <a:srgbClr val="5B6B82"/>
                </a:solidFill>
                <a:latin typeface="Calibri"/>
              </a:rPr>
              <a:t>   ·   semana 43: 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ONDE ESTÃO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RPA 2 (Norte) concentra 239 abatimentos em aberto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Abatimentos Concessionárias  ·  Semana Emlurb 43/2026  ·  21/10 a 27/10/2026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5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576072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94360" y="1572768"/>
          <a:ext cx="5577840" cy="44348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6492240" y="1481328"/>
            <a:ext cx="5196535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664208"/>
            <a:ext cx="46478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6233F"/>
                </a:solidFill>
                <a:latin typeface="Calibri"/>
              </a:rPr>
              <a:t>Bairros com mais abatimentos em aberto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13969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Agua Fria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213969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RPA2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18320" y="2212848"/>
            <a:ext cx="1173175" cy="137160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82935" y="213969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1546C0"/>
                </a:solidFill>
                <a:latin typeface="Calibri"/>
              </a:rPr>
              <a:t>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52374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Boa Viagem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252374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RPA6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20" y="2596896"/>
            <a:ext cx="915076" cy="137160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333396" y="2596896"/>
            <a:ext cx="93854" cy="137160"/>
          </a:xfrm>
          <a:prstGeom prst="roundRect">
            <a:avLst>
              <a:gd name="adj" fmla="val 50000"/>
            </a:avLst>
          </a:prstGeom>
          <a:solidFill>
            <a:srgbClr val="E07A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82935" y="252374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1546C0"/>
                </a:solidFill>
                <a:latin typeface="Calibri"/>
              </a:rPr>
              <a:t>43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290779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Campo Grande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29077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RPA2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18320" y="2980944"/>
            <a:ext cx="938540" cy="137160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356860" y="2980944"/>
            <a:ext cx="46927" cy="137160"/>
          </a:xfrm>
          <a:prstGeom prst="roundRect">
            <a:avLst>
              <a:gd name="adj" fmla="val 50000"/>
            </a:avLst>
          </a:prstGeom>
          <a:solidFill>
            <a:srgbClr val="E07A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82935" y="29077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1546C0"/>
                </a:solidFill>
                <a:latin typeface="Calibri"/>
              </a:rPr>
              <a:t>42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32918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Casa Amarela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32918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RPA3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18320" y="3364992"/>
            <a:ext cx="727368" cy="137160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145688" y="3364992"/>
            <a:ext cx="45720" cy="137160"/>
          </a:xfrm>
          <a:prstGeom prst="roundRect">
            <a:avLst>
              <a:gd name="adj" fmla="val 50000"/>
            </a:avLst>
          </a:prstGeom>
          <a:solidFill>
            <a:srgbClr val="E07A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82935" y="32918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1546C0"/>
                </a:solidFill>
                <a:latin typeface="Calibri"/>
              </a:rPr>
              <a:t>32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367588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Imbiribeira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36758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RPA6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418320" y="3749040"/>
            <a:ext cx="610051" cy="137160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82935" y="36758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1546C0"/>
                </a:solidFill>
                <a:latin typeface="Calibri"/>
              </a:rPr>
              <a:t>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405993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Alto Jose Bonifacio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40599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RPA3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18320" y="4133088"/>
            <a:ext cx="586587" cy="137160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682935" y="405993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1546C0"/>
                </a:solidFill>
                <a:latin typeface="Calibri"/>
              </a:rPr>
              <a:t>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444398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Santo Amaro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23960" y="444398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RPA1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18320" y="4517136"/>
            <a:ext cx="516197" cy="137160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934517" y="4517136"/>
            <a:ext cx="46927" cy="137160"/>
          </a:xfrm>
          <a:prstGeom prst="roundRect">
            <a:avLst>
              <a:gd name="adj" fmla="val 50000"/>
            </a:avLst>
          </a:prstGeom>
          <a:solidFill>
            <a:srgbClr val="E07A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682935" y="444398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1546C0"/>
                </a:solidFill>
                <a:latin typeface="Calibri"/>
              </a:rPr>
              <a:t>24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482803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Dois Unidos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23960" y="48280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RPA2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18320" y="4901184"/>
            <a:ext cx="539660" cy="137160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682935" y="482803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1546C0"/>
                </a:solidFill>
                <a:latin typeface="Calibri"/>
              </a:rPr>
              <a:t>23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0" y="52120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Boa Vista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23960" y="52120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RPA1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418320" y="5285232"/>
            <a:ext cx="469270" cy="137160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887590" y="5285232"/>
            <a:ext cx="45720" cy="137160"/>
          </a:xfrm>
          <a:prstGeom prst="roundRect">
            <a:avLst>
              <a:gd name="adj" fmla="val 50000"/>
            </a:avLst>
          </a:prstGeom>
          <a:solidFill>
            <a:srgbClr val="E07A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682935" y="5212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1546C0"/>
                </a:solidFill>
                <a:latin typeface="Calibri"/>
              </a:rPr>
              <a:t>21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559612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Tamarineira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23960" y="55961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RPA3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418320" y="5669280"/>
            <a:ext cx="469270" cy="137160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682935" y="55961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1546C0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COBRANÇA DAS CONCESSIONÁRIAS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487 abatimentos em aberto há mais de 90 dias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Abatimentos Concessionárias  ·  Semana Emlurb 43/2026  ·  21/10 a 27/10/2026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6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576072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94360" y="1572768"/>
          <a:ext cx="5577840" cy="44348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6492240" y="1481328"/>
            <a:ext cx="5196535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645920"/>
            <a:ext cx="46478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E4F"/>
                </a:solidFill>
                <a:latin typeface="Calibri"/>
              </a:rPr>
              <a:t>Abertos há mais tempo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1938528"/>
            <a:ext cx="46478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ranking pelos dias desde a abertura no SIGA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2286000"/>
            <a:ext cx="4922215" cy="438912"/>
          </a:xfrm>
          <a:prstGeom prst="roundRect">
            <a:avLst>
              <a:gd name="adj" fmla="val 18000"/>
            </a:avLst>
          </a:prstGeom>
          <a:solidFill>
            <a:srgbClr val="F4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29400" y="2359152"/>
            <a:ext cx="54864" cy="2926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8272" y="2286000"/>
            <a:ext cx="320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5B6B82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313432"/>
            <a:ext cx="26819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B1E4F"/>
                </a:solidFill>
                <a:latin typeface="Calibri"/>
              </a:rPr>
              <a:t>ID 788</a:t>
            </a:r>
            <a:r>
              <a:rPr sz="950" b="1" i="0">
                <a:solidFill>
                  <a:srgbClr val="0A7BEA"/>
                </a:solidFill>
                <a:latin typeface="Calibri"/>
              </a:rPr>
              <a:t>   Água · Compesa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523744"/>
            <a:ext cx="26819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6233F"/>
                </a:solidFill>
                <a:latin typeface="Calibri"/>
              </a:rPr>
              <a:t>Rua Dr Ascânio Peixoto</a:t>
            </a:r>
            <a:r>
              <a:rPr sz="1000" b="0" i="0">
                <a:solidFill>
                  <a:srgbClr val="5B6B82"/>
                </a:solidFill>
                <a:latin typeface="Calibri"/>
              </a:rPr>
              <a:t>  ·  Recife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97135" y="235000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97135" y="2350008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948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 dias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29400" y="2834640"/>
            <a:ext cx="54864" cy="2926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8272" y="2761488"/>
            <a:ext cx="320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5B6B82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2788920"/>
            <a:ext cx="26819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B1E4F"/>
                </a:solidFill>
                <a:latin typeface="Calibri"/>
              </a:rPr>
              <a:t>ID 809</a:t>
            </a:r>
            <a:r>
              <a:rPr sz="950" b="1" i="0">
                <a:solidFill>
                  <a:srgbClr val="0A7BEA"/>
                </a:solidFill>
                <a:latin typeface="Calibri"/>
              </a:rPr>
              <a:t>   Esgoto · BRK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2999232"/>
            <a:ext cx="26819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6233F"/>
                </a:solidFill>
                <a:latin typeface="Calibri"/>
              </a:rPr>
              <a:t>Rua da Esperança</a:t>
            </a:r>
            <a:r>
              <a:rPr sz="1000" b="0" i="0">
                <a:solidFill>
                  <a:srgbClr val="5B6B82"/>
                </a:solidFill>
                <a:latin typeface="Calibri"/>
              </a:rPr>
              <a:t>  ·  Barro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97135" y="2825496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97135" y="2825496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948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 dias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29400" y="3236976"/>
            <a:ext cx="4922215" cy="438912"/>
          </a:xfrm>
          <a:prstGeom prst="roundRect">
            <a:avLst>
              <a:gd name="adj" fmla="val 18000"/>
            </a:avLst>
          </a:prstGeom>
          <a:solidFill>
            <a:srgbClr val="F4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629400" y="3310128"/>
            <a:ext cx="54864" cy="2926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48272" y="3236976"/>
            <a:ext cx="320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5B6B82"/>
                </a:solidFill>
                <a:latin typeface="Calibr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3264408"/>
            <a:ext cx="26819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B1E4F"/>
                </a:solidFill>
                <a:latin typeface="Calibri"/>
              </a:rPr>
              <a:t>ID 901</a:t>
            </a:r>
            <a:r>
              <a:rPr sz="950" b="1" i="0">
                <a:solidFill>
                  <a:srgbClr val="0A7BEA"/>
                </a:solidFill>
                <a:latin typeface="Calibri"/>
              </a:rPr>
              <a:t>   Esgoto · BRK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3474720"/>
            <a:ext cx="26819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6233F"/>
                </a:solidFill>
                <a:latin typeface="Calibri"/>
              </a:rPr>
              <a:t>Rua Bruno Veloso</a:t>
            </a:r>
            <a:r>
              <a:rPr sz="1000" b="0" i="0">
                <a:solidFill>
                  <a:srgbClr val="5B6B82"/>
                </a:solidFill>
                <a:latin typeface="Calibri"/>
              </a:rPr>
              <a:t>  ·  Boa Viagem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97135" y="3300984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97135" y="3300984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947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 dias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29400" y="3785616"/>
            <a:ext cx="54864" cy="292608"/>
          </a:xfrm>
          <a:prstGeom prst="rect">
            <a:avLst/>
          </a:prstGeom>
          <a:solidFill>
            <a:srgbClr val="E07A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48272" y="3712464"/>
            <a:ext cx="320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5B6B82"/>
                </a:solidFill>
                <a:latin typeface="Calibr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3739896"/>
            <a:ext cx="26819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B1E4F"/>
                </a:solidFill>
                <a:latin typeface="Calibri"/>
              </a:rPr>
              <a:t>ID 873</a:t>
            </a:r>
            <a:r>
              <a:rPr sz="950" b="1" i="0">
                <a:solidFill>
                  <a:srgbClr val="E07A12"/>
                </a:solidFill>
                <a:latin typeface="Calibri"/>
              </a:rPr>
              <a:t>   Copergás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3950208"/>
            <a:ext cx="26819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6233F"/>
                </a:solidFill>
                <a:latin typeface="Calibri"/>
              </a:rPr>
              <a:t>Rua Desembargador João Paes</a:t>
            </a:r>
            <a:r>
              <a:rPr sz="1000" b="0" i="0">
                <a:solidFill>
                  <a:srgbClr val="5B6B82"/>
                </a:solidFill>
                <a:latin typeface="Calibri"/>
              </a:rPr>
              <a:t>  ·  Boa Viagem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97135" y="3776472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97135" y="377647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947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 dias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29400" y="4187952"/>
            <a:ext cx="4922215" cy="438912"/>
          </a:xfrm>
          <a:prstGeom prst="roundRect">
            <a:avLst>
              <a:gd name="adj" fmla="val 18000"/>
            </a:avLst>
          </a:prstGeom>
          <a:solidFill>
            <a:srgbClr val="F4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29400" y="4261104"/>
            <a:ext cx="54864" cy="2926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48272" y="4187952"/>
            <a:ext cx="320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5B6B82"/>
                </a:solidFill>
                <a:latin typeface="Calibri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0" y="4215384"/>
            <a:ext cx="26819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B1E4F"/>
                </a:solidFill>
                <a:latin typeface="Calibri"/>
              </a:rPr>
              <a:t>ID 1090</a:t>
            </a:r>
            <a:r>
              <a:rPr sz="950" b="1" i="0">
                <a:solidFill>
                  <a:srgbClr val="0A7BEA"/>
                </a:solidFill>
                <a:latin typeface="Calibri"/>
              </a:rPr>
              <a:t>   Água · Compesa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0" y="4425696"/>
            <a:ext cx="26819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6233F"/>
                </a:solidFill>
                <a:latin typeface="Calibri"/>
              </a:rPr>
              <a:t>Rua Estado de Israel</a:t>
            </a:r>
            <a:r>
              <a:rPr sz="1000" b="0" i="0">
                <a:solidFill>
                  <a:srgbClr val="5B6B82"/>
                </a:solidFill>
                <a:latin typeface="Calibri"/>
              </a:rPr>
              <a:t>  ·  Ilha do Leite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997135" y="425196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97135" y="4251960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946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 dias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29400" y="4736592"/>
            <a:ext cx="54864" cy="2926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48272" y="4663440"/>
            <a:ext cx="320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5B6B82"/>
                </a:solidFill>
                <a:latin typeface="Calibri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0" y="4690872"/>
            <a:ext cx="26819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B1E4F"/>
                </a:solidFill>
                <a:latin typeface="Calibri"/>
              </a:rPr>
              <a:t>ID 1364</a:t>
            </a:r>
            <a:r>
              <a:rPr sz="950" b="1" i="0">
                <a:solidFill>
                  <a:srgbClr val="0A7BEA"/>
                </a:solidFill>
                <a:latin typeface="Calibri"/>
              </a:rPr>
              <a:t>   Água · Compesa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32320" y="4901184"/>
            <a:ext cx="26819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6233F"/>
                </a:solidFill>
                <a:latin typeface="Calibri"/>
              </a:rPr>
              <a:t>Rua Tupiniquins</a:t>
            </a:r>
            <a:r>
              <a:rPr sz="1000" b="0" i="0">
                <a:solidFill>
                  <a:srgbClr val="5B6B82"/>
                </a:solidFill>
                <a:latin typeface="Calibri"/>
              </a:rPr>
              <a:t>  ·  Santo Amaro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997135" y="472744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97135" y="4727448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940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 dias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629400" y="5138928"/>
            <a:ext cx="4922215" cy="438912"/>
          </a:xfrm>
          <a:prstGeom prst="roundRect">
            <a:avLst>
              <a:gd name="adj" fmla="val 18000"/>
            </a:avLst>
          </a:prstGeom>
          <a:solidFill>
            <a:srgbClr val="F4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629400" y="5212080"/>
            <a:ext cx="54864" cy="2926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48272" y="5138928"/>
            <a:ext cx="320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5B6B82"/>
                </a:solidFill>
                <a:latin typeface="Calibri"/>
              </a:rPr>
              <a:t>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32320" y="5166360"/>
            <a:ext cx="26819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B1E4F"/>
                </a:solidFill>
                <a:latin typeface="Calibri"/>
              </a:rPr>
              <a:t>ID 2149</a:t>
            </a:r>
            <a:r>
              <a:rPr sz="950" b="1" i="0">
                <a:solidFill>
                  <a:srgbClr val="0A7BEA"/>
                </a:solidFill>
                <a:latin typeface="Calibri"/>
              </a:rPr>
              <a:t>   Água · Compesa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32320" y="5376672"/>
            <a:ext cx="26819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6233F"/>
                </a:solidFill>
                <a:latin typeface="Calibri"/>
              </a:rPr>
              <a:t>Rua Treze de Maio</a:t>
            </a:r>
            <a:r>
              <a:rPr sz="1000" b="0" i="0">
                <a:solidFill>
                  <a:srgbClr val="5B6B82"/>
                </a:solidFill>
                <a:latin typeface="Calibri"/>
              </a:rPr>
              <a:t>  ·  Santo Amaro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997135" y="5202936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997135" y="5202936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927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 dias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629400" y="5687568"/>
            <a:ext cx="54864" cy="2926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48272" y="5614416"/>
            <a:ext cx="320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5B6B82"/>
                </a:solidFill>
                <a:latin typeface="Calibri"/>
              </a:rPr>
              <a:t>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32320" y="5641848"/>
            <a:ext cx="26819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B1E4F"/>
                </a:solidFill>
                <a:latin typeface="Calibri"/>
              </a:rPr>
              <a:t>ID 2152</a:t>
            </a:r>
            <a:r>
              <a:rPr sz="950" b="1" i="0">
                <a:solidFill>
                  <a:srgbClr val="0A7BEA"/>
                </a:solidFill>
                <a:latin typeface="Calibri"/>
              </a:rPr>
              <a:t>   Água · Compesa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32320" y="5852160"/>
            <a:ext cx="26819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6233F"/>
                </a:solidFill>
                <a:latin typeface="Calibri"/>
              </a:rPr>
              <a:t>Rua Pedro Afonso</a:t>
            </a:r>
            <a:r>
              <a:rPr sz="1000" b="0" i="0">
                <a:solidFill>
                  <a:srgbClr val="5B6B82"/>
                </a:solidFill>
                <a:latin typeface="Calibri"/>
              </a:rPr>
              <a:t>  ·  Santo Amaro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997135" y="5678424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997135" y="5678424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927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 dias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66560" y="6108192"/>
            <a:ext cx="46478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B6B82"/>
                </a:solidFill>
                <a:latin typeface="Calibri"/>
              </a:rPr>
              <a:t>158 abatimentos estão abertos há mais de 1 ano.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COBRANÇA DOS FISCAIS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356 abatimentos sem fiscalização há mais de 30 dias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Abatimentos Concessionárias  ·  Semana Emlurb 43/2026  ·  21/10 a 27/10/2026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7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493776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94360" y="1572768"/>
          <a:ext cx="4754880" cy="44348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669280" y="1481328"/>
          <a:ext cx="6019493" cy="38404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74296"/>
                <a:gridCol w="797284"/>
                <a:gridCol w="996605"/>
                <a:gridCol w="717555"/>
                <a:gridCol w="837148"/>
                <a:gridCol w="996605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RPA</a:t>
                      </a:r>
                    </a:p>
                  </a:txBody>
                  <a:tcPr anchor="ctr" marL="73152" marR="73152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Em aberto</a:t>
                      </a:r>
                    </a:p>
                  </a:txBody>
                  <a:tcPr anchor="ctr" marL="73152" marR="73152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Sem fiscalizar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+30 dias</a:t>
                      </a:r>
                    </a:p>
                  </a:txBody>
                  <a:tcPr anchor="ctr" marL="73152" marR="73152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anchor="ctr" marL="73152" marR="73152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Nunca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fiscalizados</a:t>
                      </a:r>
                    </a:p>
                  </a:txBody>
                  <a:tcPr anchor="ctr" marL="73152" marR="73152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Maior tempo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sem visita</a:t>
                      </a:r>
                    </a:p>
                  </a:txBody>
                  <a:tcPr anchor="ctr" marL="73152" marR="73152">
                    <a:solidFill>
                      <a:srgbClr val="0B1E4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6233F"/>
                          </a:solidFill>
                          <a:latin typeface="Calibri"/>
                        </a:rPr>
                        <a:t>RPA 1 · Centro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33F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E5383B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5383B"/>
                          </a:solidFill>
                          <a:latin typeface="Calibri"/>
                        </a:rPr>
                        <a:t>26%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33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33F"/>
                          </a:solidFill>
                          <a:latin typeface="Calibri"/>
                        </a:rPr>
                        <a:t>286 dias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6233F"/>
                          </a:solidFill>
                          <a:latin typeface="Calibri"/>
                        </a:rPr>
                        <a:t>RPA 2 · Norte</a:t>
                      </a:r>
                    </a:p>
                  </a:txBody>
                  <a:tcPr anchor="ctr" marL="73152" marR="7315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33F"/>
                          </a:solidFill>
                          <a:latin typeface="Calibri"/>
                        </a:rPr>
                        <a:t>239</a:t>
                      </a:r>
                    </a:p>
                  </a:txBody>
                  <a:tcPr anchor="ctr" marL="73152" marR="7315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E5383B"/>
                          </a:solidFill>
                          <a:latin typeface="Calibri"/>
                        </a:rPr>
                        <a:t>179</a:t>
                      </a:r>
                    </a:p>
                  </a:txBody>
                  <a:tcPr anchor="ctr" marL="73152" marR="7315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5383B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 anchor="ctr" marL="73152" marR="7315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33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33F"/>
                          </a:solidFill>
                          <a:latin typeface="Calibri"/>
                        </a:rPr>
                        <a:t>294 dias</a:t>
                      </a:r>
                    </a:p>
                  </a:txBody>
                  <a:tcPr anchor="ctr" marL="73152" marR="73152">
                    <a:solidFill>
                      <a:srgbClr val="F3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6233F"/>
                          </a:solidFill>
                          <a:latin typeface="Calibri"/>
                        </a:rPr>
                        <a:t>RPA 3 · Noroeste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33F"/>
                          </a:solidFill>
                          <a:latin typeface="Calibri"/>
                        </a:rPr>
                        <a:t>184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E5383B"/>
                          </a:solidFill>
                          <a:latin typeface="Calibri"/>
                        </a:rPr>
                        <a:t>121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5383B"/>
                          </a:solidFill>
                          <a:latin typeface="Calibri"/>
                        </a:rPr>
                        <a:t>66%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33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33F"/>
                          </a:solidFill>
                          <a:latin typeface="Calibri"/>
                        </a:rPr>
                        <a:t>296 dias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6233F"/>
                          </a:solidFill>
                          <a:latin typeface="Calibri"/>
                        </a:rPr>
                        <a:t>RPA 4 · Oeste</a:t>
                      </a:r>
                    </a:p>
                  </a:txBody>
                  <a:tcPr anchor="ctr" marL="73152" marR="7315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33F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anchor="ctr" marL="73152" marR="7315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E5383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5383B"/>
                          </a:solidFill>
                          <a:latin typeface="Calibri"/>
                        </a:rPr>
                        <a:t>7%</a:t>
                      </a:r>
                    </a:p>
                  </a:txBody>
                  <a:tcPr anchor="ctr" marL="73152" marR="7315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33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33F"/>
                          </a:solidFill>
                          <a:latin typeface="Calibri"/>
                        </a:rPr>
                        <a:t>276 dias</a:t>
                      </a:r>
                    </a:p>
                  </a:txBody>
                  <a:tcPr anchor="ctr" marL="73152" marR="73152">
                    <a:solidFill>
                      <a:srgbClr val="F3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6233F"/>
                          </a:solidFill>
                          <a:latin typeface="Calibri"/>
                        </a:rPr>
                        <a:t>RPA 5 · Sudoeste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33F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E5383B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5383B"/>
                          </a:solidFill>
                          <a:latin typeface="Calibri"/>
                        </a:rPr>
                        <a:t>51%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33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33F"/>
                          </a:solidFill>
                          <a:latin typeface="Calibri"/>
                        </a:rPr>
                        <a:t>259 dias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6233F"/>
                          </a:solidFill>
                          <a:latin typeface="Calibri"/>
                        </a:rPr>
                        <a:t>RPA 6 · Sul</a:t>
                      </a:r>
                    </a:p>
                  </a:txBody>
                  <a:tcPr anchor="ctr" marL="73152" marR="7315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33F"/>
                          </a:solidFill>
                          <a:latin typeface="Calibri"/>
                        </a:rPr>
                        <a:t>133</a:t>
                      </a:r>
                    </a:p>
                  </a:txBody>
                  <a:tcPr anchor="ctr" marL="73152" marR="7315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E5383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5383B"/>
                          </a:solidFill>
                          <a:latin typeface="Calibri"/>
                        </a:rPr>
                        <a:t>2%</a:t>
                      </a:r>
                    </a:p>
                  </a:txBody>
                  <a:tcPr anchor="ctr" marL="73152" marR="7315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33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33F"/>
                          </a:solidFill>
                          <a:latin typeface="Calibri"/>
                        </a:rPr>
                        <a:t>199 dias</a:t>
                      </a:r>
                    </a:p>
                  </a:txBody>
                  <a:tcPr anchor="ctr" marL="73152" marR="73152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669280" y="5458968"/>
            <a:ext cx="6019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5B6B82"/>
                </a:solidFill>
                <a:latin typeface="Calibri"/>
              </a:rPr>
              <a:t>A lista por fiscal, com os IDs a visitar, está no painel (Monitoramento → Abatimentos Concessionárias), que também gera a demanda de fiscalização.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7B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2926080"/>
            <a:ext cx="5943600" cy="5943600"/>
          </a:xfrm>
          <a:prstGeom prst="ellipse">
            <a:avLst/>
          </a:prstGeom>
          <a:solidFill>
            <a:srgbClr val="2F8F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84747" y="2632100"/>
            <a:ext cx="222199" cy="22219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64986" y="2743200"/>
            <a:ext cx="61722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ock Arc 13"/>
          <p:cNvSpPr/>
          <p:nvPr/>
        </p:nvSpPr>
        <p:spPr>
          <a:xfrm>
            <a:off x="5848959" y="3483864"/>
            <a:ext cx="277749" cy="493776"/>
          </a:xfrm>
          <a:prstGeom prst="blockArc">
            <a:avLst>
              <a:gd name="adj1" fmla="val 0"/>
              <a:gd name="adj2" fmla="val 10800000"/>
              <a:gd name="adj3" fmla="val 2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416052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Abatimentos Concessionárias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D7E7FF"/>
                </a:solidFill>
                <a:latin typeface="Calibri"/>
              </a:rPr>
              <a:t>Semana 43  ·  21/10 a 27/10/2026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5833872"/>
            <a:ext cx="3047924" cy="82296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47923" y="5833872"/>
            <a:ext cx="3047924" cy="82296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5847" y="5833872"/>
            <a:ext cx="3047924" cy="82296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3771" y="5833872"/>
            <a:ext cx="3047924" cy="82296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916168"/>
            <a:ext cx="12191695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531" y="6112764"/>
            <a:ext cx="1798820" cy="548640"/>
          </a:xfrm>
          <a:prstGeom prst="rect">
            <a:avLst/>
          </a:prstGeom>
        </p:spPr>
      </p:pic>
      <p:pic>
        <p:nvPicPr>
          <p:cNvPr id="23" name="Picture 22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991" y="6103620"/>
            <a:ext cx="1027291" cy="566928"/>
          </a:xfrm>
          <a:prstGeom prst="rect">
            <a:avLst/>
          </a:prstGeom>
        </p:spPr>
      </p:pic>
      <p:pic>
        <p:nvPicPr>
          <p:cNvPr id="24" name="Picture 23" descr="logo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922" y="6103620"/>
            <a:ext cx="569242" cy="566928"/>
          </a:xfrm>
          <a:prstGeom prst="rect">
            <a:avLst/>
          </a:prstGeom>
        </p:spPr>
      </p:pic>
      <p:pic>
        <p:nvPicPr>
          <p:cNvPr id="25" name="Picture 24" descr="vwaj_sel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1847" y="610362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VWAJ</dc:creator>
  <cp:keywords/>
  <dc:description>generated using python-pptx</dc:description>
  <cp:lastModifiedBy>VWAJ</cp:lastModifiedBy>
  <cp:revision>1</cp:revision>
  <dcterms:created xsi:type="dcterms:W3CDTF">2013-01-27T09:14:16Z</dcterms:created>
  <dcterms:modified xsi:type="dcterms:W3CDTF">2013-01-27T09:15:58Z</dcterms:modified>
  <cp:category/>
</cp:coreProperties>
</file>